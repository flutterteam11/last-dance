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28FF6-B536-40BE-9F73-6158520E6D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CE3F96-7751-4E95-BBCD-95AD536CF6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142AF97-D933-4794-8B0C-B6CBF76621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011F2D-60A5-4EEA-86C0-DD350595E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D7A92CC-F5FD-47D9-8C9B-119157F7B6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5A5A994-201A-46B7-9C22-A92A87B31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9430595-F97A-4577-8B56-64CE161339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F1E64D1-2AB9-456A-A24C-87B6608424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3527558-23A8-4BAE-973B-37A7CB2E64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1E7BEFB-5879-41E9-B2AD-8BC2BEBA74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3320A71-B10B-4906-9F33-15972220D9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C78CF1-3D1B-49D5-9EF8-C07FE15A1D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639017-E6ED-40D9-93F8-29F80AC349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175BFC-A1E4-4749-A2B9-F992842670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58806A-280D-4A03-AA84-125C54055A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EA0E1E-D7AA-47BD-8069-C383C321B4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F2C288-612F-4BB4-9D97-04F8F67189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E96811-F8FA-4BB5-AF28-7DB04424B6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DAAF0A-A234-4D57-824C-B33EB88365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2847AF-801F-4CB8-9290-DB2AA41DFA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51380A-A5BE-43B0-A305-91FDA02181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04BC98-7E17-4559-81EC-35C05EDFCF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phoenix_3.png"/>
          <p:cNvPicPr/>
          <p:nvPr/>
        </p:nvPicPr>
        <p:blipFill>
          <a:blip r:embed="rId1"/>
          <a:stretch/>
        </p:blipFill>
        <p:spPr>
          <a:xfrm>
            <a:off x="7955280" y="685800"/>
            <a:ext cx="3108600" cy="310860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777240" y="1097280"/>
            <a:ext cx="694908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800" spc="-1" strike="noStrike">
                <a:solidFill>
                  <a:srgbClr val="f4faff"/>
                </a:solidFill>
                <a:latin typeface="Aptos"/>
              </a:rPr>
              <a:t>PHOENIX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901880"/>
            <a:ext cx="6583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2d3ee"/>
                </a:solidFill>
                <a:latin typeface="Aptos"/>
              </a:rPr>
              <a:t>Drone Search &amp; Rescue System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41320" y="2651760"/>
            <a:ext cx="60346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9cacc1"/>
                </a:solidFill>
                <a:latin typeface="Aptos"/>
              </a:rPr>
              <a:t>AI-assisted ground control for live drone missions.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891720" y="40370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841320" y="39776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951120" y="4069080"/>
            <a:ext cx="192888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060560" y="4190760"/>
            <a:ext cx="1709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Live Video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1060560" y="4495320"/>
            <a:ext cx="1709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Drone camera stream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3296520" y="40370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3246120" y="39776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3355920" y="4069080"/>
            <a:ext cx="192888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3465720" y="4190760"/>
            <a:ext cx="1709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AI Detection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3465720" y="4495320"/>
            <a:ext cx="1709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Human + thermal alerts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5701320" y="40370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ounded Rectangle 16"/>
          <p:cNvSpPr/>
          <p:nvPr/>
        </p:nvSpPr>
        <p:spPr>
          <a:xfrm>
            <a:off x="5650920" y="3977640"/>
            <a:ext cx="2148480" cy="9597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7"/>
          <p:cNvSpPr/>
          <p:nvPr/>
        </p:nvSpPr>
        <p:spPr>
          <a:xfrm>
            <a:off x="5760720" y="4069080"/>
            <a:ext cx="192888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5870520" y="4190760"/>
            <a:ext cx="1709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GPS Map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5870520" y="4586760"/>
            <a:ext cx="1709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Real-time tracking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Problem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Search &amp; rescue teams need faster field awareness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873360" y="18882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822960" y="18288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932760" y="1920240"/>
            <a:ext cx="293472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042560" y="204192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Dangerous Areas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1042560" y="2803320"/>
            <a:ext cx="27154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Rescuers cannot quickly enter collapsed, flooded, or unstable zones.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4576680" y="18882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ounded Rectangle 10"/>
          <p:cNvSpPr/>
          <p:nvPr/>
        </p:nvSpPr>
        <p:spPr>
          <a:xfrm>
            <a:off x="4526280" y="18288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4636080" y="1920240"/>
            <a:ext cx="293472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4745880" y="204192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Limited Visibility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4745880" y="2894760"/>
            <a:ext cx="2715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Ground teams miss victims hidden by distance, smoke, or terrain.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ounded Rectangle 14"/>
          <p:cNvSpPr/>
          <p:nvPr/>
        </p:nvSpPr>
        <p:spPr>
          <a:xfrm>
            <a:off x="8280000" y="18882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ounded Rectangle 15"/>
          <p:cNvSpPr/>
          <p:nvPr/>
        </p:nvSpPr>
        <p:spPr>
          <a:xfrm>
            <a:off x="8229600" y="1828800"/>
            <a:ext cx="3154320" cy="2057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6"/>
          <p:cNvSpPr/>
          <p:nvPr/>
        </p:nvSpPr>
        <p:spPr>
          <a:xfrm>
            <a:off x="8339400" y="1920240"/>
            <a:ext cx="293472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8449200" y="204192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Slow Decisions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8449200" y="2894760"/>
            <a:ext cx="2715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Manual searching delays mission coordination and victim detection.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1280160" y="4983480"/>
            <a:ext cx="9692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4faff"/>
                </a:solidFill>
                <a:latin typeface="Aptos"/>
              </a:rPr>
              <a:t>Goal: turn drone data into instant, actionable rescue information.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Solution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A mobile ground control station for rescue missions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781920" y="2025360"/>
            <a:ext cx="223992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731520" y="1965960"/>
            <a:ext cx="223992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841320" y="2048400"/>
            <a:ext cx="202032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877680" y="2130120"/>
            <a:ext cx="19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Raspberry Pi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914400" y="2498400"/>
            <a:ext cx="187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            </a:t>
            </a: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GPS + Camera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Telemetry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ounded Rectangle 9"/>
          <p:cNvSpPr/>
          <p:nvPr/>
        </p:nvSpPr>
        <p:spPr>
          <a:xfrm>
            <a:off x="3662280" y="2025360"/>
            <a:ext cx="214848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3611880" y="1965960"/>
            <a:ext cx="214848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3721680" y="2048400"/>
            <a:ext cx="19288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3758040" y="2130120"/>
            <a:ext cx="1855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Firebase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794760" y="2498400"/>
            <a:ext cx="1782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        </a:t>
            </a: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Auth + Firestore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Live streams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6405480" y="2025360"/>
            <a:ext cx="242280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ounded Rectangle 15"/>
          <p:cNvSpPr/>
          <p:nvPr/>
        </p:nvSpPr>
        <p:spPr>
          <a:xfrm>
            <a:off x="6355080" y="1965960"/>
            <a:ext cx="242280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16"/>
          <p:cNvSpPr/>
          <p:nvPr/>
        </p:nvSpPr>
        <p:spPr>
          <a:xfrm>
            <a:off x="6464880" y="2048400"/>
            <a:ext cx="220320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6501240" y="2130120"/>
            <a:ext cx="21301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FastAPI Server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6537960" y="2498400"/>
            <a:ext cx="2057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              </a:t>
            </a: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TCP receiver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AI pipeline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ounded Rectangle 19"/>
          <p:cNvSpPr/>
          <p:nvPr/>
        </p:nvSpPr>
        <p:spPr>
          <a:xfrm>
            <a:off x="9423000" y="2025360"/>
            <a:ext cx="210276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ounded Rectangle 20"/>
          <p:cNvSpPr/>
          <p:nvPr/>
        </p:nvSpPr>
        <p:spPr>
          <a:xfrm>
            <a:off x="9372600" y="1965960"/>
            <a:ext cx="210276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21"/>
          <p:cNvSpPr/>
          <p:nvPr/>
        </p:nvSpPr>
        <p:spPr>
          <a:xfrm>
            <a:off x="9482400" y="2048400"/>
            <a:ext cx="1883160" cy="406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9518760" y="2130120"/>
            <a:ext cx="181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Flutter App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23"/>
          <p:cNvSpPr/>
          <p:nvPr/>
        </p:nvSpPr>
        <p:spPr>
          <a:xfrm>
            <a:off x="9555480" y="2498400"/>
            <a:ext cx="1737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          </a:t>
            </a: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Video + Map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Controls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0" name="Connector 24"/>
          <p:cNvCxnSpPr/>
          <p:nvPr/>
        </p:nvCxnSpPr>
        <p:spPr>
          <a:xfrm>
            <a:off x="2971800" y="2377440"/>
            <a:ext cx="64044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131" name="Oval 25"/>
          <p:cNvSpPr/>
          <p:nvPr/>
        </p:nvSpPr>
        <p:spPr>
          <a:xfrm>
            <a:off x="3561480" y="232704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32" name="Connector 26"/>
          <p:cNvCxnSpPr/>
          <p:nvPr/>
        </p:nvCxnSpPr>
        <p:spPr>
          <a:xfrm>
            <a:off x="2971800" y="2715480"/>
            <a:ext cx="33836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133" name="Oval 27"/>
          <p:cNvSpPr/>
          <p:nvPr/>
        </p:nvSpPr>
        <p:spPr>
          <a:xfrm>
            <a:off x="6304680" y="266544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34" name="Connector 28"/>
          <p:cNvCxnSpPr/>
          <p:nvPr/>
        </p:nvCxnSpPr>
        <p:spPr>
          <a:xfrm>
            <a:off x="8778240" y="2468880"/>
            <a:ext cx="59472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135" name="Oval 29"/>
          <p:cNvSpPr/>
          <p:nvPr/>
        </p:nvSpPr>
        <p:spPr>
          <a:xfrm>
            <a:off x="9322200" y="24184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36" name="Connector 30"/>
          <p:cNvCxnSpPr/>
          <p:nvPr/>
        </p:nvCxnSpPr>
        <p:spPr>
          <a:xfrm flipH="1">
            <a:off x="6355080" y="2926080"/>
            <a:ext cx="301788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137" name="Oval 31"/>
          <p:cNvSpPr/>
          <p:nvPr/>
        </p:nvSpPr>
        <p:spPr>
          <a:xfrm>
            <a:off x="6304680" y="287568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Oval 32"/>
          <p:cNvSpPr/>
          <p:nvPr/>
        </p:nvSpPr>
        <p:spPr>
          <a:xfrm>
            <a:off x="1097280" y="42336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3"/>
          <p:cNvSpPr/>
          <p:nvPr/>
        </p:nvSpPr>
        <p:spPr>
          <a:xfrm>
            <a:off x="1298520" y="41605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One app for video, map, telemetry, reports, and control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Oval 34"/>
          <p:cNvSpPr/>
          <p:nvPr/>
        </p:nvSpPr>
        <p:spPr>
          <a:xfrm>
            <a:off x="1097280" y="46360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35"/>
          <p:cNvSpPr/>
          <p:nvPr/>
        </p:nvSpPr>
        <p:spPr>
          <a:xfrm>
            <a:off x="1298520" y="456300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Laptop server handles streaming and AI processing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Oval 36"/>
          <p:cNvSpPr/>
          <p:nvPr/>
        </p:nvSpPr>
        <p:spPr>
          <a:xfrm>
            <a:off x="1097280" y="50382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37"/>
          <p:cNvSpPr/>
          <p:nvPr/>
        </p:nvSpPr>
        <p:spPr>
          <a:xfrm>
            <a:off x="1298520" y="49651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Firebase keeps GPS/status updates live and reliable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3/25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App Entry Point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Splash screen and startup decision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ounded Rectangle 4"/>
          <p:cNvSpPr/>
          <p:nvPr/>
        </p:nvSpPr>
        <p:spPr>
          <a:xfrm>
            <a:off x="868680" y="1417320"/>
            <a:ext cx="2422800" cy="45716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ounded Rectangle 5"/>
          <p:cNvSpPr/>
          <p:nvPr/>
        </p:nvSpPr>
        <p:spPr>
          <a:xfrm>
            <a:off x="987480" y="1618560"/>
            <a:ext cx="2185200" cy="416916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0" name="Picture 6" descr="phoenix_3.png"/>
          <p:cNvPicPr/>
          <p:nvPr/>
        </p:nvPicPr>
        <p:blipFill>
          <a:blip r:embed="rId1"/>
          <a:stretch/>
        </p:blipFill>
        <p:spPr>
          <a:xfrm>
            <a:off x="1435680" y="233172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51" name="TextBox 7"/>
          <p:cNvSpPr/>
          <p:nvPr/>
        </p:nvSpPr>
        <p:spPr>
          <a:xfrm>
            <a:off x="1124640" y="3657600"/>
            <a:ext cx="1910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PHOENIX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1124640" y="4050720"/>
            <a:ext cx="191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cacc1"/>
                </a:solidFill>
                <a:latin typeface="Aptos"/>
              </a:rPr>
              <a:t>loading app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Rounded Rectangle 9"/>
          <p:cNvSpPr/>
          <p:nvPr/>
        </p:nvSpPr>
        <p:spPr>
          <a:xfrm>
            <a:off x="3936600" y="17967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10"/>
          <p:cNvSpPr/>
          <p:nvPr/>
        </p:nvSpPr>
        <p:spPr>
          <a:xfrm>
            <a:off x="3886200" y="17373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1"/>
          <p:cNvSpPr/>
          <p:nvPr/>
        </p:nvSpPr>
        <p:spPr>
          <a:xfrm>
            <a:off x="3996000" y="1819800"/>
            <a:ext cx="183744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4032360" y="190152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Initialize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4069080" y="2216880"/>
            <a:ext cx="169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Firebase +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14"/>
          <p:cNvSpPr/>
          <p:nvPr/>
        </p:nvSpPr>
        <p:spPr>
          <a:xfrm>
            <a:off x="6451200" y="17967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ounded Rectangle 15"/>
          <p:cNvSpPr/>
          <p:nvPr/>
        </p:nvSpPr>
        <p:spPr>
          <a:xfrm>
            <a:off x="6400800" y="17373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16"/>
          <p:cNvSpPr/>
          <p:nvPr/>
        </p:nvSpPr>
        <p:spPr>
          <a:xfrm>
            <a:off x="6510600" y="1819800"/>
            <a:ext cx="183744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7"/>
          <p:cNvSpPr/>
          <p:nvPr/>
        </p:nvSpPr>
        <p:spPr>
          <a:xfrm>
            <a:off x="6546960" y="190152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Check Session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8"/>
          <p:cNvSpPr/>
          <p:nvPr/>
        </p:nvSpPr>
        <p:spPr>
          <a:xfrm>
            <a:off x="6583680" y="213300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Firebase user + local flag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ounded Rectangle 19"/>
          <p:cNvSpPr/>
          <p:nvPr/>
        </p:nvSpPr>
        <p:spPr>
          <a:xfrm>
            <a:off x="8965800" y="17967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ounded Rectangle 20"/>
          <p:cNvSpPr/>
          <p:nvPr/>
        </p:nvSpPr>
        <p:spPr>
          <a:xfrm>
            <a:off x="8915400" y="173736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21"/>
          <p:cNvSpPr/>
          <p:nvPr/>
        </p:nvSpPr>
        <p:spPr>
          <a:xfrm>
            <a:off x="9025200" y="1819800"/>
            <a:ext cx="183744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2"/>
          <p:cNvSpPr/>
          <p:nvPr/>
        </p:nvSpPr>
        <p:spPr>
          <a:xfrm>
            <a:off x="9061560" y="190152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Route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23"/>
          <p:cNvSpPr/>
          <p:nvPr/>
        </p:nvSpPr>
        <p:spPr>
          <a:xfrm>
            <a:off x="9098280" y="213300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onboarding/auth/home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8" name="Connector 24"/>
          <p:cNvCxnSpPr/>
          <p:nvPr/>
        </p:nvCxnSpPr>
        <p:spPr>
          <a:xfrm>
            <a:off x="5943600" y="2121120"/>
            <a:ext cx="45756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169" name="Oval 25"/>
          <p:cNvSpPr/>
          <p:nvPr/>
        </p:nvSpPr>
        <p:spPr>
          <a:xfrm>
            <a:off x="6350400" y="207108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70" name="Connector 26"/>
          <p:cNvCxnSpPr/>
          <p:nvPr/>
        </p:nvCxnSpPr>
        <p:spPr>
          <a:xfrm>
            <a:off x="8458200" y="2121120"/>
            <a:ext cx="457560" cy="360"/>
          </a:xfrm>
          <a:prstGeom prst="straightConnector1">
            <a:avLst/>
          </a:prstGeom>
          <a:ln w="33020">
            <a:solidFill>
              <a:srgbClr val="22c55e"/>
            </a:solidFill>
            <a:round/>
          </a:ln>
        </p:spPr>
      </p:cxnSp>
      <p:sp>
        <p:nvSpPr>
          <p:cNvPr id="171" name="Oval 27"/>
          <p:cNvSpPr/>
          <p:nvPr/>
        </p:nvSpPr>
        <p:spPr>
          <a:xfrm>
            <a:off x="8865000" y="2071080"/>
            <a:ext cx="100080" cy="10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Oval 28"/>
          <p:cNvSpPr/>
          <p:nvPr/>
        </p:nvSpPr>
        <p:spPr>
          <a:xfrm>
            <a:off x="3977640" y="405072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9"/>
          <p:cNvSpPr/>
          <p:nvPr/>
        </p:nvSpPr>
        <p:spPr>
          <a:xfrm>
            <a:off x="4178880" y="397764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First screen controls the user journey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Oval 30"/>
          <p:cNvSpPr/>
          <p:nvPr/>
        </p:nvSpPr>
        <p:spPr>
          <a:xfrm>
            <a:off x="3977640" y="44532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31"/>
          <p:cNvSpPr/>
          <p:nvPr/>
        </p:nvSpPr>
        <p:spPr>
          <a:xfrm>
            <a:off x="4178880" y="43801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Decides whether to continue to onboarding, authentication, or home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32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4/25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Onboarding Flow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Introduce the rescue system before login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ounded Rectangle 4"/>
          <p:cNvSpPr/>
          <p:nvPr/>
        </p:nvSpPr>
        <p:spPr>
          <a:xfrm>
            <a:off x="868680" y="1417320"/>
            <a:ext cx="2422800" cy="45716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ounded Rectangle 5"/>
          <p:cNvSpPr/>
          <p:nvPr/>
        </p:nvSpPr>
        <p:spPr>
          <a:xfrm>
            <a:off x="987480" y="1618560"/>
            <a:ext cx="2185200" cy="416916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ounded Rectangle 6"/>
          <p:cNvSpPr/>
          <p:nvPr/>
        </p:nvSpPr>
        <p:spPr>
          <a:xfrm>
            <a:off x="1175040" y="1979640"/>
            <a:ext cx="1910880" cy="9597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ounded Rectangle 7"/>
          <p:cNvSpPr/>
          <p:nvPr/>
        </p:nvSpPr>
        <p:spPr>
          <a:xfrm>
            <a:off x="1124640" y="1920240"/>
            <a:ext cx="1910880" cy="9597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8"/>
          <p:cNvSpPr/>
          <p:nvPr/>
        </p:nvSpPr>
        <p:spPr>
          <a:xfrm>
            <a:off x="1234440" y="2011680"/>
            <a:ext cx="169128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9"/>
          <p:cNvSpPr/>
          <p:nvPr/>
        </p:nvSpPr>
        <p:spPr>
          <a:xfrm>
            <a:off x="1344240" y="2133360"/>
            <a:ext cx="1471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INTRO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1344240" y="2437920"/>
            <a:ext cx="14716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rescue mission value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1"/>
          <p:cNvSpPr/>
          <p:nvPr/>
        </p:nvSpPr>
        <p:spPr>
          <a:xfrm>
            <a:off x="1175040" y="3214080"/>
            <a:ext cx="1910880" cy="9597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ounded Rectangle 12"/>
          <p:cNvSpPr/>
          <p:nvPr/>
        </p:nvSpPr>
        <p:spPr>
          <a:xfrm>
            <a:off x="1124640" y="3154680"/>
            <a:ext cx="1910880" cy="9597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13"/>
          <p:cNvSpPr/>
          <p:nvPr/>
        </p:nvSpPr>
        <p:spPr>
          <a:xfrm>
            <a:off x="1234440" y="3246120"/>
            <a:ext cx="169128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1344240" y="3367800"/>
            <a:ext cx="1471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FEATURES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1344240" y="3763800"/>
            <a:ext cx="1471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video | map | AI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16"/>
          <p:cNvSpPr/>
          <p:nvPr/>
        </p:nvSpPr>
        <p:spPr>
          <a:xfrm>
            <a:off x="1175040" y="4448520"/>
            <a:ext cx="1910880" cy="5940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ounded Rectangle 17"/>
          <p:cNvSpPr/>
          <p:nvPr/>
        </p:nvSpPr>
        <p:spPr>
          <a:xfrm>
            <a:off x="1124640" y="4389120"/>
            <a:ext cx="1910880" cy="5940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18"/>
          <p:cNvSpPr/>
          <p:nvPr/>
        </p:nvSpPr>
        <p:spPr>
          <a:xfrm>
            <a:off x="1234440" y="4480560"/>
            <a:ext cx="169128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9"/>
          <p:cNvSpPr/>
          <p:nvPr/>
        </p:nvSpPr>
        <p:spPr>
          <a:xfrm>
            <a:off x="1344240" y="4480200"/>
            <a:ext cx="14716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GET STARTED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1344240" y="4815360"/>
            <a:ext cx="1471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continue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ounded Rectangle 21"/>
          <p:cNvSpPr/>
          <p:nvPr/>
        </p:nvSpPr>
        <p:spPr>
          <a:xfrm>
            <a:off x="3936600" y="165960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ounded Rectangle 22"/>
          <p:cNvSpPr/>
          <p:nvPr/>
        </p:nvSpPr>
        <p:spPr>
          <a:xfrm>
            <a:off x="3886200" y="160020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23"/>
          <p:cNvSpPr/>
          <p:nvPr/>
        </p:nvSpPr>
        <p:spPr>
          <a:xfrm>
            <a:off x="3996000" y="1691640"/>
            <a:ext cx="261468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24"/>
          <p:cNvSpPr/>
          <p:nvPr/>
        </p:nvSpPr>
        <p:spPr>
          <a:xfrm>
            <a:off x="4105800" y="1813320"/>
            <a:ext cx="239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Purpose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25"/>
          <p:cNvSpPr/>
          <p:nvPr/>
        </p:nvSpPr>
        <p:spPr>
          <a:xfrm>
            <a:off x="4105800" y="2186280"/>
            <a:ext cx="239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explain search &amp; rescue value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26"/>
          <p:cNvSpPr/>
          <p:nvPr/>
        </p:nvSpPr>
        <p:spPr>
          <a:xfrm>
            <a:off x="7502760" y="165960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ounded Rectangle 27"/>
          <p:cNvSpPr/>
          <p:nvPr/>
        </p:nvSpPr>
        <p:spPr>
          <a:xfrm>
            <a:off x="7452360" y="160020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ectangle 28"/>
          <p:cNvSpPr/>
          <p:nvPr/>
        </p:nvSpPr>
        <p:spPr>
          <a:xfrm>
            <a:off x="7562160" y="1691640"/>
            <a:ext cx="261468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9"/>
          <p:cNvSpPr/>
          <p:nvPr/>
        </p:nvSpPr>
        <p:spPr>
          <a:xfrm>
            <a:off x="7671960" y="1813320"/>
            <a:ext cx="239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Capabilities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30"/>
          <p:cNvSpPr/>
          <p:nvPr/>
        </p:nvSpPr>
        <p:spPr>
          <a:xfrm>
            <a:off x="7671960" y="2186280"/>
            <a:ext cx="239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video, map, AI, control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ounded Rectangle 31"/>
          <p:cNvSpPr/>
          <p:nvPr/>
        </p:nvSpPr>
        <p:spPr>
          <a:xfrm>
            <a:off x="3936600" y="312264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Rounded Rectangle 32"/>
          <p:cNvSpPr/>
          <p:nvPr/>
        </p:nvSpPr>
        <p:spPr>
          <a:xfrm>
            <a:off x="3886200" y="306324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Rectangle 33"/>
          <p:cNvSpPr/>
          <p:nvPr/>
        </p:nvSpPr>
        <p:spPr>
          <a:xfrm>
            <a:off x="3996000" y="3154680"/>
            <a:ext cx="2614680" cy="5004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34"/>
          <p:cNvSpPr/>
          <p:nvPr/>
        </p:nvSpPr>
        <p:spPr>
          <a:xfrm>
            <a:off x="4105800" y="3276360"/>
            <a:ext cx="239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Page Indicator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35"/>
          <p:cNvSpPr/>
          <p:nvPr/>
        </p:nvSpPr>
        <p:spPr>
          <a:xfrm>
            <a:off x="4105800" y="3649320"/>
            <a:ext cx="239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multi-page intro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ounded Rectangle 36"/>
          <p:cNvSpPr/>
          <p:nvPr/>
        </p:nvSpPr>
        <p:spPr>
          <a:xfrm>
            <a:off x="7502760" y="312264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ounded Rectangle 37"/>
          <p:cNvSpPr/>
          <p:nvPr/>
        </p:nvSpPr>
        <p:spPr>
          <a:xfrm>
            <a:off x="7452360" y="306324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Rectangle 38"/>
          <p:cNvSpPr/>
          <p:nvPr/>
        </p:nvSpPr>
        <p:spPr>
          <a:xfrm>
            <a:off x="7562160" y="3154680"/>
            <a:ext cx="261468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39"/>
          <p:cNvSpPr/>
          <p:nvPr/>
        </p:nvSpPr>
        <p:spPr>
          <a:xfrm>
            <a:off x="7671960" y="3276360"/>
            <a:ext cx="239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Next Step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40"/>
          <p:cNvSpPr/>
          <p:nvPr/>
        </p:nvSpPr>
        <p:spPr>
          <a:xfrm>
            <a:off x="7671960" y="3649320"/>
            <a:ext cx="239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send user to sign 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41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5/25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Authentication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Secure access before mission control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ounded Rectangle 4"/>
          <p:cNvSpPr/>
          <p:nvPr/>
        </p:nvSpPr>
        <p:spPr>
          <a:xfrm>
            <a:off x="868680" y="1417320"/>
            <a:ext cx="2422800" cy="45716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ounded Rectangle 5"/>
          <p:cNvSpPr/>
          <p:nvPr/>
        </p:nvSpPr>
        <p:spPr>
          <a:xfrm>
            <a:off x="987480" y="1618560"/>
            <a:ext cx="2185200" cy="416916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Rounded Rectangle 6"/>
          <p:cNvSpPr/>
          <p:nvPr/>
        </p:nvSpPr>
        <p:spPr>
          <a:xfrm>
            <a:off x="1175040" y="197964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ounded Rectangle 7"/>
          <p:cNvSpPr/>
          <p:nvPr/>
        </p:nvSpPr>
        <p:spPr>
          <a:xfrm>
            <a:off x="1124640" y="192024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8"/>
          <p:cNvSpPr/>
          <p:nvPr/>
        </p:nvSpPr>
        <p:spPr>
          <a:xfrm>
            <a:off x="1234440" y="2011680"/>
            <a:ext cx="169128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9"/>
          <p:cNvSpPr/>
          <p:nvPr/>
        </p:nvSpPr>
        <p:spPr>
          <a:xfrm>
            <a:off x="1344240" y="2133360"/>
            <a:ext cx="1471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SIGN 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344240" y="2437920"/>
            <a:ext cx="1471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email + password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ounded Rectangle 11"/>
          <p:cNvSpPr/>
          <p:nvPr/>
        </p:nvSpPr>
        <p:spPr>
          <a:xfrm>
            <a:off x="1175040" y="298548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1124640" y="292608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1234440" y="3017520"/>
            <a:ext cx="169128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1344240" y="3139200"/>
            <a:ext cx="1471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GOOGLE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1344240" y="3443760"/>
            <a:ext cx="1471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social login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1175040" y="399132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ounded Rectangle 17"/>
          <p:cNvSpPr/>
          <p:nvPr/>
        </p:nvSpPr>
        <p:spPr>
          <a:xfrm>
            <a:off x="1124640" y="3931920"/>
            <a:ext cx="1910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ectangle 18"/>
          <p:cNvSpPr/>
          <p:nvPr/>
        </p:nvSpPr>
        <p:spPr>
          <a:xfrm>
            <a:off x="1234440" y="4023360"/>
            <a:ext cx="1691280" cy="5004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344240" y="4145040"/>
            <a:ext cx="1471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RESET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20"/>
          <p:cNvSpPr/>
          <p:nvPr/>
        </p:nvSpPr>
        <p:spPr>
          <a:xfrm>
            <a:off x="1344240" y="4449600"/>
            <a:ext cx="1471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forgot password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ounded Rectangle 21"/>
          <p:cNvSpPr/>
          <p:nvPr/>
        </p:nvSpPr>
        <p:spPr>
          <a:xfrm>
            <a:off x="3936600" y="17967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ounded Rectangle 22"/>
          <p:cNvSpPr/>
          <p:nvPr/>
        </p:nvSpPr>
        <p:spPr>
          <a:xfrm>
            <a:off x="3886200" y="17373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23"/>
          <p:cNvSpPr/>
          <p:nvPr/>
        </p:nvSpPr>
        <p:spPr>
          <a:xfrm>
            <a:off x="3996000" y="1819800"/>
            <a:ext cx="197460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4"/>
          <p:cNvSpPr/>
          <p:nvPr/>
        </p:nvSpPr>
        <p:spPr>
          <a:xfrm>
            <a:off x="4032360" y="1901520"/>
            <a:ext cx="19015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Sign Up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5"/>
          <p:cNvSpPr/>
          <p:nvPr/>
        </p:nvSpPr>
        <p:spPr>
          <a:xfrm>
            <a:off x="4069080" y="2239560"/>
            <a:ext cx="1828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email verification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ounded Rectangle 26"/>
          <p:cNvSpPr/>
          <p:nvPr/>
        </p:nvSpPr>
        <p:spPr>
          <a:xfrm>
            <a:off x="6679800" y="17967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ounded Rectangle 27"/>
          <p:cNvSpPr/>
          <p:nvPr/>
        </p:nvSpPr>
        <p:spPr>
          <a:xfrm>
            <a:off x="6629400" y="17373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Rectangle 28"/>
          <p:cNvSpPr/>
          <p:nvPr/>
        </p:nvSpPr>
        <p:spPr>
          <a:xfrm>
            <a:off x="6739200" y="1819800"/>
            <a:ext cx="197460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29"/>
          <p:cNvSpPr/>
          <p:nvPr/>
        </p:nvSpPr>
        <p:spPr>
          <a:xfrm>
            <a:off x="6775560" y="1901520"/>
            <a:ext cx="19015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Sign 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30"/>
          <p:cNvSpPr/>
          <p:nvPr/>
        </p:nvSpPr>
        <p:spPr>
          <a:xfrm>
            <a:off x="6812280" y="2239560"/>
            <a:ext cx="1828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Firebase Auth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Rounded Rectangle 31"/>
          <p:cNvSpPr/>
          <p:nvPr/>
        </p:nvSpPr>
        <p:spPr>
          <a:xfrm>
            <a:off x="9423000" y="17967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ounded Rectangle 32"/>
          <p:cNvSpPr/>
          <p:nvPr/>
        </p:nvSpPr>
        <p:spPr>
          <a:xfrm>
            <a:off x="9372600" y="173736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Rectangle 33"/>
          <p:cNvSpPr/>
          <p:nvPr/>
        </p:nvSpPr>
        <p:spPr>
          <a:xfrm>
            <a:off x="9482400" y="1819800"/>
            <a:ext cx="197460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34"/>
          <p:cNvSpPr/>
          <p:nvPr/>
        </p:nvSpPr>
        <p:spPr>
          <a:xfrm>
            <a:off x="9518760" y="1901520"/>
            <a:ext cx="19015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Recovery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35"/>
          <p:cNvSpPr/>
          <p:nvPr/>
        </p:nvSpPr>
        <p:spPr>
          <a:xfrm>
            <a:off x="9555480" y="2239560"/>
            <a:ext cx="1828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reset password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Rounded Rectangle 36"/>
          <p:cNvSpPr/>
          <p:nvPr/>
        </p:nvSpPr>
        <p:spPr>
          <a:xfrm>
            <a:off x="3936600" y="3854160"/>
            <a:ext cx="301716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ounded Rectangle 37"/>
          <p:cNvSpPr/>
          <p:nvPr/>
        </p:nvSpPr>
        <p:spPr>
          <a:xfrm>
            <a:off x="3886200" y="3794760"/>
            <a:ext cx="301716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Rectangle 38"/>
          <p:cNvSpPr/>
          <p:nvPr/>
        </p:nvSpPr>
        <p:spPr>
          <a:xfrm>
            <a:off x="3996000" y="3886200"/>
            <a:ext cx="279756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39"/>
          <p:cNvSpPr/>
          <p:nvPr/>
        </p:nvSpPr>
        <p:spPr>
          <a:xfrm>
            <a:off x="4105800" y="4007880"/>
            <a:ext cx="2578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User Document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40"/>
          <p:cNvSpPr/>
          <p:nvPr/>
        </p:nvSpPr>
        <p:spPr>
          <a:xfrm>
            <a:off x="4105800" y="4358160"/>
            <a:ext cx="2578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created in Firestore after auth success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Rounded Rectangle 41"/>
          <p:cNvSpPr/>
          <p:nvPr/>
        </p:nvSpPr>
        <p:spPr>
          <a:xfrm>
            <a:off x="7685640" y="3854160"/>
            <a:ext cx="301716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Rounded Rectangle 42"/>
          <p:cNvSpPr/>
          <p:nvPr/>
        </p:nvSpPr>
        <p:spPr>
          <a:xfrm>
            <a:off x="7635240" y="3794760"/>
            <a:ext cx="301716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Rectangle 43"/>
          <p:cNvSpPr/>
          <p:nvPr/>
        </p:nvSpPr>
        <p:spPr>
          <a:xfrm>
            <a:off x="7745040" y="3886200"/>
            <a:ext cx="2797560" cy="500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44"/>
          <p:cNvSpPr/>
          <p:nvPr/>
        </p:nvSpPr>
        <p:spPr>
          <a:xfrm>
            <a:off x="7854840" y="4007880"/>
            <a:ext cx="2578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Local Session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Box 45"/>
          <p:cNvSpPr/>
          <p:nvPr/>
        </p:nvSpPr>
        <p:spPr>
          <a:xfrm>
            <a:off x="7854840" y="4449240"/>
            <a:ext cx="2578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shared preferences login state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46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6/25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Mobile App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Flutter ground control interface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ounded Rectangle 4"/>
          <p:cNvSpPr/>
          <p:nvPr/>
        </p:nvSpPr>
        <p:spPr>
          <a:xfrm>
            <a:off x="914400" y="1417320"/>
            <a:ext cx="2331360" cy="452592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Rounded Rectangle 5"/>
          <p:cNvSpPr/>
          <p:nvPr/>
        </p:nvSpPr>
        <p:spPr>
          <a:xfrm>
            <a:off x="1033200" y="1618560"/>
            <a:ext cx="2093760" cy="412344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ounded Rectangle 6"/>
          <p:cNvSpPr/>
          <p:nvPr/>
        </p:nvSpPr>
        <p:spPr>
          <a:xfrm>
            <a:off x="1220760" y="1933920"/>
            <a:ext cx="1819440" cy="10785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Rounded Rectangle 7"/>
          <p:cNvSpPr/>
          <p:nvPr/>
        </p:nvSpPr>
        <p:spPr>
          <a:xfrm>
            <a:off x="1170360" y="1874520"/>
            <a:ext cx="1819440" cy="10785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Rectangle 8"/>
          <p:cNvSpPr/>
          <p:nvPr/>
        </p:nvSpPr>
        <p:spPr>
          <a:xfrm>
            <a:off x="1280160" y="1965960"/>
            <a:ext cx="159984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9"/>
          <p:cNvSpPr/>
          <p:nvPr/>
        </p:nvSpPr>
        <p:spPr>
          <a:xfrm>
            <a:off x="1389960" y="2087640"/>
            <a:ext cx="1380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LIVE FEED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10"/>
          <p:cNvSpPr/>
          <p:nvPr/>
        </p:nvSpPr>
        <p:spPr>
          <a:xfrm>
            <a:off x="1389960" y="2542680"/>
            <a:ext cx="1380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AI Overlay active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Rounded Rectangle 11"/>
          <p:cNvSpPr/>
          <p:nvPr/>
        </p:nvSpPr>
        <p:spPr>
          <a:xfrm>
            <a:off x="1220760" y="3214080"/>
            <a:ext cx="181944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ounded Rectangle 12"/>
          <p:cNvSpPr/>
          <p:nvPr/>
        </p:nvSpPr>
        <p:spPr>
          <a:xfrm>
            <a:off x="1170360" y="3154680"/>
            <a:ext cx="181944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13"/>
          <p:cNvSpPr/>
          <p:nvPr/>
        </p:nvSpPr>
        <p:spPr>
          <a:xfrm>
            <a:off x="1280160" y="3246120"/>
            <a:ext cx="159984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4"/>
          <p:cNvSpPr/>
          <p:nvPr/>
        </p:nvSpPr>
        <p:spPr>
          <a:xfrm>
            <a:off x="1389960" y="3367800"/>
            <a:ext cx="1380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STATUS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15"/>
          <p:cNvSpPr/>
          <p:nvPr/>
        </p:nvSpPr>
        <p:spPr>
          <a:xfrm>
            <a:off x="1389960" y="3580920"/>
            <a:ext cx="1380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Battery 82% | Alt 34m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ounded Rectangle 16"/>
          <p:cNvSpPr/>
          <p:nvPr/>
        </p:nvSpPr>
        <p:spPr>
          <a:xfrm>
            <a:off x="1220760" y="4174200"/>
            <a:ext cx="181944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ounded Rectangle 17"/>
          <p:cNvSpPr/>
          <p:nvPr/>
        </p:nvSpPr>
        <p:spPr>
          <a:xfrm>
            <a:off x="1170360" y="4114800"/>
            <a:ext cx="181944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18"/>
          <p:cNvSpPr/>
          <p:nvPr/>
        </p:nvSpPr>
        <p:spPr>
          <a:xfrm>
            <a:off x="1280160" y="4206240"/>
            <a:ext cx="159984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9"/>
          <p:cNvSpPr/>
          <p:nvPr/>
        </p:nvSpPr>
        <p:spPr>
          <a:xfrm>
            <a:off x="1389960" y="4327920"/>
            <a:ext cx="1380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REPORTS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20"/>
          <p:cNvSpPr/>
          <p:nvPr/>
        </p:nvSpPr>
        <p:spPr>
          <a:xfrm>
            <a:off x="1389960" y="4541040"/>
            <a:ext cx="1380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2 humans detected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ounded Rectangle 21"/>
          <p:cNvSpPr/>
          <p:nvPr/>
        </p:nvSpPr>
        <p:spPr>
          <a:xfrm>
            <a:off x="4892040" y="1417320"/>
            <a:ext cx="2331360" cy="452592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Rounded Rectangle 22"/>
          <p:cNvSpPr/>
          <p:nvPr/>
        </p:nvSpPr>
        <p:spPr>
          <a:xfrm>
            <a:off x="5010840" y="1618560"/>
            <a:ext cx="2093760" cy="412344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ounded Rectangle 23"/>
          <p:cNvSpPr/>
          <p:nvPr/>
        </p:nvSpPr>
        <p:spPr>
          <a:xfrm>
            <a:off x="5148000" y="1874520"/>
            <a:ext cx="1819440" cy="3611520"/>
          </a:xfrm>
          <a:prstGeom prst="roundRect">
            <a:avLst>
              <a:gd name="adj" fmla="val 16667"/>
            </a:avLst>
          </a:prstGeom>
          <a:solidFill>
            <a:srgbClr val="122d35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87" name="Connector 24"/>
          <p:cNvCxnSpPr/>
          <p:nvPr/>
        </p:nvCxnSpPr>
        <p:spPr>
          <a:xfrm flipV="1">
            <a:off x="5422320" y="2103120"/>
            <a:ext cx="1271160" cy="18324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88" name="Connector 25"/>
          <p:cNvCxnSpPr/>
          <p:nvPr/>
        </p:nvCxnSpPr>
        <p:spPr>
          <a:xfrm flipV="1">
            <a:off x="5422320" y="2423160"/>
            <a:ext cx="1271160" cy="32040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89" name="Connector 26"/>
          <p:cNvCxnSpPr/>
          <p:nvPr/>
        </p:nvCxnSpPr>
        <p:spPr>
          <a:xfrm flipV="1">
            <a:off x="5422320" y="2743200"/>
            <a:ext cx="1271160" cy="4575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90" name="Connector 27"/>
          <p:cNvCxnSpPr/>
          <p:nvPr/>
        </p:nvCxnSpPr>
        <p:spPr>
          <a:xfrm flipV="1">
            <a:off x="5422320" y="3062880"/>
            <a:ext cx="1271160" cy="59508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91" name="Connector 28"/>
          <p:cNvCxnSpPr/>
          <p:nvPr/>
        </p:nvCxnSpPr>
        <p:spPr>
          <a:xfrm flipV="1">
            <a:off x="5422320" y="3382920"/>
            <a:ext cx="1271160" cy="73224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92" name="Connector 29"/>
          <p:cNvCxnSpPr/>
          <p:nvPr/>
        </p:nvCxnSpPr>
        <p:spPr>
          <a:xfrm flipH="1" flipV="1" rot="5400000">
            <a:off x="4708440" y="3227760"/>
            <a:ext cx="2652480" cy="951120"/>
          </a:xfrm>
          <a:prstGeom prst="curvedConnector3">
            <a:avLst>
              <a:gd name="adj1" fmla="val 24989"/>
            </a:avLst>
          </a:prstGeom>
          <a:ln w="38100">
            <a:solidFill>
              <a:srgbClr val="fb923c"/>
            </a:solidFill>
            <a:round/>
          </a:ln>
        </p:spPr>
      </p:cxnSp>
      <p:sp>
        <p:nvSpPr>
          <p:cNvPr id="293" name="Isosceles Triangle 30"/>
          <p:cNvSpPr/>
          <p:nvPr/>
        </p:nvSpPr>
        <p:spPr>
          <a:xfrm>
            <a:off x="6309360" y="2258640"/>
            <a:ext cx="255600" cy="255600"/>
          </a:xfrm>
          <a:prstGeom prst="triangle">
            <a:avLst>
              <a:gd name="adj" fmla="val 50000"/>
            </a:avLst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Oval 31"/>
          <p:cNvSpPr/>
          <p:nvPr/>
        </p:nvSpPr>
        <p:spPr>
          <a:xfrm>
            <a:off x="5650920" y="4709160"/>
            <a:ext cx="200880" cy="200880"/>
          </a:xfrm>
          <a:prstGeom prst="ellipse">
            <a:avLst/>
          </a:prstGeom>
          <a:solidFill>
            <a:srgbClr val="3b82f6"/>
          </a:solidFill>
          <a:ln>
            <a:solidFill>
              <a:srgbClr val="f4fa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Rounded Rectangle 32"/>
          <p:cNvSpPr/>
          <p:nvPr/>
        </p:nvSpPr>
        <p:spPr>
          <a:xfrm>
            <a:off x="8869680" y="1417320"/>
            <a:ext cx="2331360" cy="452592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ounded Rectangle 33"/>
          <p:cNvSpPr/>
          <p:nvPr/>
        </p:nvSpPr>
        <p:spPr>
          <a:xfrm>
            <a:off x="8988480" y="1618560"/>
            <a:ext cx="2093760" cy="412344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ounded Rectangle 34"/>
          <p:cNvSpPr/>
          <p:nvPr/>
        </p:nvSpPr>
        <p:spPr>
          <a:xfrm>
            <a:off x="9125640" y="1874520"/>
            <a:ext cx="1819440" cy="3611520"/>
          </a:xfrm>
          <a:prstGeom prst="roundRect">
            <a:avLst>
              <a:gd name="adj" fmla="val 16667"/>
            </a:avLst>
          </a:prstGeom>
          <a:solidFill>
            <a:srgbClr val="0a1924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98" name="Connector 35"/>
          <p:cNvCxnSpPr/>
          <p:nvPr/>
        </p:nvCxnSpPr>
        <p:spPr>
          <a:xfrm>
            <a:off x="9217080" y="2331720"/>
            <a:ext cx="16369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299" name="Connector 36"/>
          <p:cNvCxnSpPr/>
          <p:nvPr/>
        </p:nvCxnSpPr>
        <p:spPr>
          <a:xfrm>
            <a:off x="9217080" y="2743200"/>
            <a:ext cx="16369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300" name="Connector 37"/>
          <p:cNvCxnSpPr/>
          <p:nvPr/>
        </p:nvCxnSpPr>
        <p:spPr>
          <a:xfrm>
            <a:off x="9217080" y="3154320"/>
            <a:ext cx="16369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301" name="Connector 38"/>
          <p:cNvCxnSpPr/>
          <p:nvPr/>
        </p:nvCxnSpPr>
        <p:spPr>
          <a:xfrm>
            <a:off x="9217080" y="3566160"/>
            <a:ext cx="16369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302" name="Rectangle 39"/>
          <p:cNvSpPr/>
          <p:nvPr/>
        </p:nvSpPr>
        <p:spPr>
          <a:xfrm>
            <a:off x="10144800" y="2849760"/>
            <a:ext cx="399960" cy="1733400"/>
          </a:xfrm>
          <a:prstGeom prst="rect">
            <a:avLst/>
          </a:prstGeom>
          <a:noFill/>
          <a:ln w="2794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40"/>
          <p:cNvSpPr/>
          <p:nvPr/>
        </p:nvSpPr>
        <p:spPr>
          <a:xfrm>
            <a:off x="10126440" y="2560680"/>
            <a:ext cx="509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5252"/>
                </a:solidFill>
                <a:latin typeface="Aptos"/>
              </a:rPr>
              <a:t>human 92%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41"/>
          <p:cNvSpPr/>
          <p:nvPr/>
        </p:nvSpPr>
        <p:spPr>
          <a:xfrm>
            <a:off x="1078920" y="6080760"/>
            <a:ext cx="2011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acc1"/>
                </a:solidFill>
                <a:latin typeface="Aptos"/>
              </a:rPr>
              <a:t>Dashboard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42"/>
          <p:cNvSpPr/>
          <p:nvPr/>
        </p:nvSpPr>
        <p:spPr>
          <a:xfrm>
            <a:off x="5056560" y="6080760"/>
            <a:ext cx="2011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acc1"/>
                </a:solidFill>
                <a:latin typeface="Aptos"/>
              </a:rPr>
              <a:t>Live 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43"/>
          <p:cNvSpPr/>
          <p:nvPr/>
        </p:nvSpPr>
        <p:spPr>
          <a:xfrm>
            <a:off x="9034200" y="6080760"/>
            <a:ext cx="2011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acc1"/>
                </a:solidFill>
                <a:latin typeface="Aptos"/>
              </a:rPr>
              <a:t>Full Video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44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7/25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App Architecture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Feature-first clean 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ounded Rectangle 4"/>
          <p:cNvSpPr/>
          <p:nvPr/>
        </p:nvSpPr>
        <p:spPr>
          <a:xfrm>
            <a:off x="919080" y="18882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ounded Rectangle 5"/>
          <p:cNvSpPr/>
          <p:nvPr/>
        </p:nvSpPr>
        <p:spPr>
          <a:xfrm>
            <a:off x="868680" y="18288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6"/>
          <p:cNvSpPr/>
          <p:nvPr/>
        </p:nvSpPr>
        <p:spPr>
          <a:xfrm>
            <a:off x="978480" y="1911240"/>
            <a:ext cx="183744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7"/>
          <p:cNvSpPr/>
          <p:nvPr/>
        </p:nvSpPr>
        <p:spPr>
          <a:xfrm>
            <a:off x="1014840" y="199296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Core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8"/>
          <p:cNvSpPr/>
          <p:nvPr/>
        </p:nvSpPr>
        <p:spPr>
          <a:xfrm>
            <a:off x="1051560" y="229284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DI | Router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Theme | WS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Rounded Rectangle 9"/>
          <p:cNvSpPr/>
          <p:nvPr/>
        </p:nvSpPr>
        <p:spPr>
          <a:xfrm>
            <a:off x="3616560" y="18882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Rounded Rectangle 10"/>
          <p:cNvSpPr/>
          <p:nvPr/>
        </p:nvSpPr>
        <p:spPr>
          <a:xfrm>
            <a:off x="3566160" y="18288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Rectangle 11"/>
          <p:cNvSpPr/>
          <p:nvPr/>
        </p:nvSpPr>
        <p:spPr>
          <a:xfrm>
            <a:off x="3675960" y="1911240"/>
            <a:ext cx="183744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2"/>
          <p:cNvSpPr/>
          <p:nvPr/>
        </p:nvSpPr>
        <p:spPr>
          <a:xfrm>
            <a:off x="3712320" y="199296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Auth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13"/>
          <p:cNvSpPr/>
          <p:nvPr/>
        </p:nvSpPr>
        <p:spPr>
          <a:xfrm>
            <a:off x="3749040" y="229284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Firebase Auth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Google sign-in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14"/>
          <p:cNvSpPr/>
          <p:nvPr/>
        </p:nvSpPr>
        <p:spPr>
          <a:xfrm>
            <a:off x="6314040" y="18882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ounded Rectangle 15"/>
          <p:cNvSpPr/>
          <p:nvPr/>
        </p:nvSpPr>
        <p:spPr>
          <a:xfrm>
            <a:off x="6263640" y="18288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Rectangle 16"/>
          <p:cNvSpPr/>
          <p:nvPr/>
        </p:nvSpPr>
        <p:spPr>
          <a:xfrm>
            <a:off x="6373440" y="1911240"/>
            <a:ext cx="183744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17"/>
          <p:cNvSpPr/>
          <p:nvPr/>
        </p:nvSpPr>
        <p:spPr>
          <a:xfrm>
            <a:off x="6409800" y="199296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Drone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Box 18"/>
          <p:cNvSpPr/>
          <p:nvPr/>
        </p:nvSpPr>
        <p:spPr>
          <a:xfrm>
            <a:off x="6446520" y="229284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Map | Video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Telemetry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Rounded Rectangle 19"/>
          <p:cNvSpPr/>
          <p:nvPr/>
        </p:nvSpPr>
        <p:spPr>
          <a:xfrm>
            <a:off x="9011520" y="18882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Rounded Rectangle 20"/>
          <p:cNvSpPr/>
          <p:nvPr/>
        </p:nvSpPr>
        <p:spPr>
          <a:xfrm>
            <a:off x="8961120" y="18288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Rectangle 21"/>
          <p:cNvSpPr/>
          <p:nvPr/>
        </p:nvSpPr>
        <p:spPr>
          <a:xfrm>
            <a:off x="9070920" y="1911240"/>
            <a:ext cx="183744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22"/>
          <p:cNvSpPr/>
          <p:nvPr/>
        </p:nvSpPr>
        <p:spPr>
          <a:xfrm>
            <a:off x="9107280" y="199296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Onboarding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23"/>
          <p:cNvSpPr/>
          <p:nvPr/>
        </p:nvSpPr>
        <p:spPr>
          <a:xfrm>
            <a:off x="9144000" y="2292840"/>
            <a:ext cx="169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Splash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Intro flow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Rounded Rectangle 24"/>
          <p:cNvSpPr/>
          <p:nvPr/>
        </p:nvSpPr>
        <p:spPr>
          <a:xfrm>
            <a:off x="2062080" y="39456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Rounded Rectangle 25"/>
          <p:cNvSpPr/>
          <p:nvPr/>
        </p:nvSpPr>
        <p:spPr>
          <a:xfrm>
            <a:off x="2011680" y="38862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Rectangle 26"/>
          <p:cNvSpPr/>
          <p:nvPr/>
        </p:nvSpPr>
        <p:spPr>
          <a:xfrm>
            <a:off x="2121480" y="3977640"/>
            <a:ext cx="215748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27"/>
          <p:cNvSpPr/>
          <p:nvPr/>
        </p:nvSpPr>
        <p:spPr>
          <a:xfrm>
            <a:off x="2231280" y="4099320"/>
            <a:ext cx="1938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Domain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28"/>
          <p:cNvSpPr/>
          <p:nvPr/>
        </p:nvSpPr>
        <p:spPr>
          <a:xfrm>
            <a:off x="2231280" y="4426560"/>
            <a:ext cx="193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Models + repository contracts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ounded Rectangle 29"/>
          <p:cNvSpPr/>
          <p:nvPr/>
        </p:nvSpPr>
        <p:spPr>
          <a:xfrm>
            <a:off x="4942440" y="39456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Rounded Rectangle 30"/>
          <p:cNvSpPr/>
          <p:nvPr/>
        </p:nvSpPr>
        <p:spPr>
          <a:xfrm>
            <a:off x="4892040" y="38862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Rectangle 31"/>
          <p:cNvSpPr/>
          <p:nvPr/>
        </p:nvSpPr>
        <p:spPr>
          <a:xfrm>
            <a:off x="5001840" y="3977640"/>
            <a:ext cx="215748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32"/>
          <p:cNvSpPr/>
          <p:nvPr/>
        </p:nvSpPr>
        <p:spPr>
          <a:xfrm>
            <a:off x="5111640" y="4099320"/>
            <a:ext cx="1938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Data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Box 33"/>
          <p:cNvSpPr/>
          <p:nvPr/>
        </p:nvSpPr>
        <p:spPr>
          <a:xfrm>
            <a:off x="5111640" y="4426560"/>
            <a:ext cx="193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Firebase + WebSocket implementations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34"/>
          <p:cNvSpPr/>
          <p:nvPr/>
        </p:nvSpPr>
        <p:spPr>
          <a:xfrm>
            <a:off x="7822800" y="39456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Rounded Rectangle 35"/>
          <p:cNvSpPr/>
          <p:nvPr/>
        </p:nvSpPr>
        <p:spPr>
          <a:xfrm>
            <a:off x="7772400" y="38862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36"/>
          <p:cNvSpPr/>
          <p:nvPr/>
        </p:nvSpPr>
        <p:spPr>
          <a:xfrm>
            <a:off x="7882200" y="3977640"/>
            <a:ext cx="215748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37"/>
          <p:cNvSpPr/>
          <p:nvPr/>
        </p:nvSpPr>
        <p:spPr>
          <a:xfrm>
            <a:off x="7992000" y="4099320"/>
            <a:ext cx="1938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Presentation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Box 38"/>
          <p:cNvSpPr/>
          <p:nvPr/>
        </p:nvSpPr>
        <p:spPr>
          <a:xfrm>
            <a:off x="7992000" y="4426560"/>
            <a:ext cx="193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Screens + Cubits + widgets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Box 39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8/25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System Block Diagram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Main components and communication paths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Rounded Rectangle 4"/>
          <p:cNvSpPr/>
          <p:nvPr/>
        </p:nvSpPr>
        <p:spPr>
          <a:xfrm>
            <a:off x="781920" y="1751040"/>
            <a:ext cx="223992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ounded Rectangle 5"/>
          <p:cNvSpPr/>
          <p:nvPr/>
        </p:nvSpPr>
        <p:spPr>
          <a:xfrm>
            <a:off x="731520" y="1691640"/>
            <a:ext cx="223992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Rectangle 6"/>
          <p:cNvSpPr/>
          <p:nvPr/>
        </p:nvSpPr>
        <p:spPr>
          <a:xfrm>
            <a:off x="841320" y="1774080"/>
            <a:ext cx="202032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7"/>
          <p:cNvSpPr/>
          <p:nvPr/>
        </p:nvSpPr>
        <p:spPr>
          <a:xfrm>
            <a:off x="877680" y="1855800"/>
            <a:ext cx="19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Raspberry Pi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Box 8"/>
          <p:cNvSpPr/>
          <p:nvPr/>
        </p:nvSpPr>
        <p:spPr>
          <a:xfrm>
            <a:off x="914400" y="2224080"/>
            <a:ext cx="187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GPS + Camera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Telemetry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Rounded Rectangle 9"/>
          <p:cNvSpPr/>
          <p:nvPr/>
        </p:nvSpPr>
        <p:spPr>
          <a:xfrm>
            <a:off x="3662280" y="1751040"/>
            <a:ext cx="214848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Rounded Rectangle 10"/>
          <p:cNvSpPr/>
          <p:nvPr/>
        </p:nvSpPr>
        <p:spPr>
          <a:xfrm>
            <a:off x="3611880" y="1691640"/>
            <a:ext cx="214848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Rectangle 11"/>
          <p:cNvSpPr/>
          <p:nvPr/>
        </p:nvSpPr>
        <p:spPr>
          <a:xfrm>
            <a:off x="3721680" y="1774080"/>
            <a:ext cx="19288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12"/>
          <p:cNvSpPr/>
          <p:nvPr/>
        </p:nvSpPr>
        <p:spPr>
          <a:xfrm>
            <a:off x="3758040" y="1855800"/>
            <a:ext cx="1855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Firebase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Box 13"/>
          <p:cNvSpPr/>
          <p:nvPr/>
        </p:nvSpPr>
        <p:spPr>
          <a:xfrm>
            <a:off x="3794760" y="2224080"/>
            <a:ext cx="1782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Auth + Firestore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Live streams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Rounded Rectangle 14"/>
          <p:cNvSpPr/>
          <p:nvPr/>
        </p:nvSpPr>
        <p:spPr>
          <a:xfrm>
            <a:off x="6405480" y="1751040"/>
            <a:ext cx="242280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ounded Rectangle 15"/>
          <p:cNvSpPr/>
          <p:nvPr/>
        </p:nvSpPr>
        <p:spPr>
          <a:xfrm>
            <a:off x="6355080" y="1691640"/>
            <a:ext cx="242280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Rectangle 16"/>
          <p:cNvSpPr/>
          <p:nvPr/>
        </p:nvSpPr>
        <p:spPr>
          <a:xfrm>
            <a:off x="6464880" y="1774080"/>
            <a:ext cx="220320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TextBox 17"/>
          <p:cNvSpPr/>
          <p:nvPr/>
        </p:nvSpPr>
        <p:spPr>
          <a:xfrm>
            <a:off x="6501240" y="1855800"/>
            <a:ext cx="21301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FastAPI Server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Box 18"/>
          <p:cNvSpPr/>
          <p:nvPr/>
        </p:nvSpPr>
        <p:spPr>
          <a:xfrm>
            <a:off x="6537960" y="2224080"/>
            <a:ext cx="2057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TCP receiver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AI pipeline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ounded Rectangle 19"/>
          <p:cNvSpPr/>
          <p:nvPr/>
        </p:nvSpPr>
        <p:spPr>
          <a:xfrm>
            <a:off x="9423000" y="1751040"/>
            <a:ext cx="210276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ounded Rectangle 20"/>
          <p:cNvSpPr/>
          <p:nvPr/>
        </p:nvSpPr>
        <p:spPr>
          <a:xfrm>
            <a:off x="9372600" y="1691640"/>
            <a:ext cx="210276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Rectangle 21"/>
          <p:cNvSpPr/>
          <p:nvPr/>
        </p:nvSpPr>
        <p:spPr>
          <a:xfrm>
            <a:off x="9482400" y="1774080"/>
            <a:ext cx="1883160" cy="406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TextBox 22"/>
          <p:cNvSpPr/>
          <p:nvPr/>
        </p:nvSpPr>
        <p:spPr>
          <a:xfrm>
            <a:off x="9518760" y="1855800"/>
            <a:ext cx="181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Flutter App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Box 23"/>
          <p:cNvSpPr/>
          <p:nvPr/>
        </p:nvSpPr>
        <p:spPr>
          <a:xfrm>
            <a:off x="9555480" y="2224080"/>
            <a:ext cx="1737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Video + Map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Controls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70" name="Connector 24"/>
          <p:cNvCxnSpPr/>
          <p:nvPr/>
        </p:nvCxnSpPr>
        <p:spPr>
          <a:xfrm>
            <a:off x="2971800" y="2103120"/>
            <a:ext cx="64044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371" name="Oval 25"/>
          <p:cNvSpPr/>
          <p:nvPr/>
        </p:nvSpPr>
        <p:spPr>
          <a:xfrm>
            <a:off x="3561480" y="205272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72" name="Connector 26"/>
          <p:cNvCxnSpPr/>
          <p:nvPr/>
        </p:nvCxnSpPr>
        <p:spPr>
          <a:xfrm>
            <a:off x="2971800" y="2441160"/>
            <a:ext cx="33836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373" name="Oval 27"/>
          <p:cNvSpPr/>
          <p:nvPr/>
        </p:nvSpPr>
        <p:spPr>
          <a:xfrm>
            <a:off x="6304680" y="239112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74" name="Connector 28"/>
          <p:cNvCxnSpPr/>
          <p:nvPr/>
        </p:nvCxnSpPr>
        <p:spPr>
          <a:xfrm>
            <a:off x="8778240" y="2194560"/>
            <a:ext cx="59472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375" name="Oval 29"/>
          <p:cNvSpPr/>
          <p:nvPr/>
        </p:nvSpPr>
        <p:spPr>
          <a:xfrm>
            <a:off x="9322200" y="214416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76" name="Connector 30"/>
          <p:cNvCxnSpPr/>
          <p:nvPr/>
        </p:nvCxnSpPr>
        <p:spPr>
          <a:xfrm flipH="1">
            <a:off x="6355080" y="2651760"/>
            <a:ext cx="301788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377" name="Oval 31"/>
          <p:cNvSpPr/>
          <p:nvPr/>
        </p:nvSpPr>
        <p:spPr>
          <a:xfrm>
            <a:off x="6304680" y="260136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ounded Rectangle 32"/>
          <p:cNvSpPr/>
          <p:nvPr/>
        </p:nvSpPr>
        <p:spPr>
          <a:xfrm>
            <a:off x="1078920" y="3310200"/>
            <a:ext cx="150840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33"/>
          <p:cNvSpPr/>
          <p:nvPr/>
        </p:nvSpPr>
        <p:spPr>
          <a:xfrm>
            <a:off x="1134000" y="3299040"/>
            <a:ext cx="1398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b923c"/>
                </a:solidFill>
                <a:latin typeface="Aptos"/>
              </a:rPr>
              <a:t>GPS / Status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Rounded Rectangle 34"/>
          <p:cNvSpPr/>
          <p:nvPr/>
        </p:nvSpPr>
        <p:spPr>
          <a:xfrm>
            <a:off x="3749040" y="3310200"/>
            <a:ext cx="169128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35"/>
          <p:cNvSpPr/>
          <p:nvPr/>
        </p:nvSpPr>
        <p:spPr>
          <a:xfrm>
            <a:off x="3803760" y="3299040"/>
            <a:ext cx="1581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b923c"/>
                </a:solidFill>
                <a:latin typeface="Aptos"/>
              </a:rPr>
              <a:t>Firestore stream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Rounded Rectangle 36"/>
          <p:cNvSpPr/>
          <p:nvPr/>
        </p:nvSpPr>
        <p:spPr>
          <a:xfrm>
            <a:off x="4864680" y="3602880"/>
            <a:ext cx="123408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37"/>
          <p:cNvSpPr/>
          <p:nvPr/>
        </p:nvSpPr>
        <p:spPr>
          <a:xfrm>
            <a:off x="4919400" y="3591360"/>
            <a:ext cx="1124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Aptos"/>
              </a:rPr>
              <a:t>TCP video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Rounded Rectangle 38"/>
          <p:cNvSpPr/>
          <p:nvPr/>
        </p:nvSpPr>
        <p:spPr>
          <a:xfrm>
            <a:off x="8183880" y="3310200"/>
            <a:ext cx="132552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39"/>
          <p:cNvSpPr/>
          <p:nvPr/>
        </p:nvSpPr>
        <p:spPr>
          <a:xfrm>
            <a:off x="8238600" y="3299040"/>
            <a:ext cx="1215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Aptos"/>
              </a:rPr>
              <a:t>WebSocket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Rounded Rectangle 40"/>
          <p:cNvSpPr/>
          <p:nvPr/>
        </p:nvSpPr>
        <p:spPr>
          <a:xfrm>
            <a:off x="7790760" y="3602880"/>
            <a:ext cx="123408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41"/>
          <p:cNvSpPr/>
          <p:nvPr/>
        </p:nvSpPr>
        <p:spPr>
          <a:xfrm>
            <a:off x="7845480" y="3591360"/>
            <a:ext cx="1124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855f7"/>
                </a:solidFill>
                <a:latin typeface="Aptos"/>
              </a:rPr>
              <a:t>Commands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42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9/25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Data Flow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Separate paths for speed and reliability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Rounded Rectangle 4"/>
          <p:cNvSpPr/>
          <p:nvPr/>
        </p:nvSpPr>
        <p:spPr>
          <a:xfrm>
            <a:off x="781920" y="188820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Rounded Rectangle 5"/>
          <p:cNvSpPr/>
          <p:nvPr/>
        </p:nvSpPr>
        <p:spPr>
          <a:xfrm>
            <a:off x="731520" y="182880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ectangle 6"/>
          <p:cNvSpPr/>
          <p:nvPr/>
        </p:nvSpPr>
        <p:spPr>
          <a:xfrm>
            <a:off x="841320" y="1911240"/>
            <a:ext cx="160884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7"/>
          <p:cNvSpPr/>
          <p:nvPr/>
        </p:nvSpPr>
        <p:spPr>
          <a:xfrm>
            <a:off x="877680" y="199296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GPS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8"/>
          <p:cNvSpPr/>
          <p:nvPr/>
        </p:nvSpPr>
        <p:spPr>
          <a:xfrm>
            <a:off x="914400" y="228528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lat/lng/status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ounded Rectangle 9"/>
          <p:cNvSpPr/>
          <p:nvPr/>
        </p:nvSpPr>
        <p:spPr>
          <a:xfrm>
            <a:off x="3113640" y="1888200"/>
            <a:ext cx="191988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Rounded Rectangle 10"/>
          <p:cNvSpPr/>
          <p:nvPr/>
        </p:nvSpPr>
        <p:spPr>
          <a:xfrm>
            <a:off x="3063240" y="1828800"/>
            <a:ext cx="191988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Rectangle 11"/>
          <p:cNvSpPr/>
          <p:nvPr/>
        </p:nvSpPr>
        <p:spPr>
          <a:xfrm>
            <a:off x="3173040" y="1911240"/>
            <a:ext cx="17002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TextBox 12"/>
          <p:cNvSpPr/>
          <p:nvPr/>
        </p:nvSpPr>
        <p:spPr>
          <a:xfrm>
            <a:off x="3209400" y="19929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Firebase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13"/>
          <p:cNvSpPr/>
          <p:nvPr/>
        </p:nvSpPr>
        <p:spPr>
          <a:xfrm>
            <a:off x="3246120" y="228528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snapshots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Rounded Rectangle 14"/>
          <p:cNvSpPr/>
          <p:nvPr/>
        </p:nvSpPr>
        <p:spPr>
          <a:xfrm>
            <a:off x="5536800" y="18882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Rounded Rectangle 15"/>
          <p:cNvSpPr/>
          <p:nvPr/>
        </p:nvSpPr>
        <p:spPr>
          <a:xfrm>
            <a:off x="5486400" y="18288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Rectangle 16"/>
          <p:cNvSpPr/>
          <p:nvPr/>
        </p:nvSpPr>
        <p:spPr>
          <a:xfrm>
            <a:off x="5596200" y="1911240"/>
            <a:ext cx="179172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TextBox 17"/>
          <p:cNvSpPr/>
          <p:nvPr/>
        </p:nvSpPr>
        <p:spPr>
          <a:xfrm>
            <a:off x="5632560" y="1992960"/>
            <a:ext cx="17186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Flutter Map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Box 18"/>
          <p:cNvSpPr/>
          <p:nvPr/>
        </p:nvSpPr>
        <p:spPr>
          <a:xfrm>
            <a:off x="5669280" y="228528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marker + path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07" name="Connector 19"/>
          <p:cNvCxnSpPr/>
          <p:nvPr/>
        </p:nvCxnSpPr>
        <p:spPr>
          <a:xfrm>
            <a:off x="2560320" y="2194560"/>
            <a:ext cx="50328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408" name="Oval 20"/>
          <p:cNvSpPr/>
          <p:nvPr/>
        </p:nvSpPr>
        <p:spPr>
          <a:xfrm>
            <a:off x="3012840" y="214416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09" name="Connector 21"/>
          <p:cNvCxnSpPr/>
          <p:nvPr/>
        </p:nvCxnSpPr>
        <p:spPr>
          <a:xfrm>
            <a:off x="4983480" y="2194560"/>
            <a:ext cx="50328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410" name="Oval 22"/>
          <p:cNvSpPr/>
          <p:nvPr/>
        </p:nvSpPr>
        <p:spPr>
          <a:xfrm>
            <a:off x="5436000" y="214416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Rounded Rectangle 23"/>
          <p:cNvSpPr/>
          <p:nvPr/>
        </p:nvSpPr>
        <p:spPr>
          <a:xfrm>
            <a:off x="781920" y="339696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Rounded Rectangle 24"/>
          <p:cNvSpPr/>
          <p:nvPr/>
        </p:nvSpPr>
        <p:spPr>
          <a:xfrm>
            <a:off x="731520" y="333756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Rectangle 25"/>
          <p:cNvSpPr/>
          <p:nvPr/>
        </p:nvSpPr>
        <p:spPr>
          <a:xfrm>
            <a:off x="841320" y="3420000"/>
            <a:ext cx="160884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TextBox 26"/>
          <p:cNvSpPr/>
          <p:nvPr/>
        </p:nvSpPr>
        <p:spPr>
          <a:xfrm>
            <a:off x="877680" y="350172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Camera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27"/>
          <p:cNvSpPr/>
          <p:nvPr/>
        </p:nvSpPr>
        <p:spPr>
          <a:xfrm>
            <a:off x="914400" y="379404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JPEG frames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28"/>
          <p:cNvSpPr/>
          <p:nvPr/>
        </p:nvSpPr>
        <p:spPr>
          <a:xfrm>
            <a:off x="3113640" y="3396960"/>
            <a:ext cx="191988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Rounded Rectangle 29"/>
          <p:cNvSpPr/>
          <p:nvPr/>
        </p:nvSpPr>
        <p:spPr>
          <a:xfrm>
            <a:off x="3063240" y="3337560"/>
            <a:ext cx="191988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Rectangle 30"/>
          <p:cNvSpPr/>
          <p:nvPr/>
        </p:nvSpPr>
        <p:spPr>
          <a:xfrm>
            <a:off x="3173040" y="3420000"/>
            <a:ext cx="170028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31"/>
          <p:cNvSpPr/>
          <p:nvPr/>
        </p:nvSpPr>
        <p:spPr>
          <a:xfrm>
            <a:off x="3209400" y="350172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FastAPI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Box 32"/>
          <p:cNvSpPr/>
          <p:nvPr/>
        </p:nvSpPr>
        <p:spPr>
          <a:xfrm>
            <a:off x="3246120" y="379404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AI process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Rounded Rectangle 33"/>
          <p:cNvSpPr/>
          <p:nvPr/>
        </p:nvSpPr>
        <p:spPr>
          <a:xfrm>
            <a:off x="5536800" y="339696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Rounded Rectangle 34"/>
          <p:cNvSpPr/>
          <p:nvPr/>
        </p:nvSpPr>
        <p:spPr>
          <a:xfrm>
            <a:off x="5486400" y="333756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Rectangle 35"/>
          <p:cNvSpPr/>
          <p:nvPr/>
        </p:nvSpPr>
        <p:spPr>
          <a:xfrm>
            <a:off x="5596200" y="3420000"/>
            <a:ext cx="179172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36"/>
          <p:cNvSpPr/>
          <p:nvPr/>
        </p:nvSpPr>
        <p:spPr>
          <a:xfrm>
            <a:off x="5632560" y="3501720"/>
            <a:ext cx="17186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Flutter Video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Box 37"/>
          <p:cNvSpPr/>
          <p:nvPr/>
        </p:nvSpPr>
        <p:spPr>
          <a:xfrm>
            <a:off x="5669280" y="379404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live feed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26" name="Connector 38"/>
          <p:cNvCxnSpPr/>
          <p:nvPr/>
        </p:nvCxnSpPr>
        <p:spPr>
          <a:xfrm>
            <a:off x="2560320" y="3703320"/>
            <a:ext cx="50328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427" name="Oval 39"/>
          <p:cNvSpPr/>
          <p:nvPr/>
        </p:nvSpPr>
        <p:spPr>
          <a:xfrm>
            <a:off x="3012840" y="365292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28" name="Connector 40"/>
          <p:cNvCxnSpPr/>
          <p:nvPr/>
        </p:nvCxnSpPr>
        <p:spPr>
          <a:xfrm>
            <a:off x="4983480" y="3703320"/>
            <a:ext cx="50328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429" name="Oval 41"/>
          <p:cNvSpPr/>
          <p:nvPr/>
        </p:nvSpPr>
        <p:spPr>
          <a:xfrm>
            <a:off x="5436000" y="365292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Rounded Rectangle 42"/>
          <p:cNvSpPr/>
          <p:nvPr/>
        </p:nvSpPr>
        <p:spPr>
          <a:xfrm>
            <a:off x="9194400" y="2619720"/>
            <a:ext cx="21027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ounded Rectangle 43"/>
          <p:cNvSpPr/>
          <p:nvPr/>
        </p:nvSpPr>
        <p:spPr>
          <a:xfrm>
            <a:off x="9144000" y="2560320"/>
            <a:ext cx="21027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Rectangle 44"/>
          <p:cNvSpPr/>
          <p:nvPr/>
        </p:nvSpPr>
        <p:spPr>
          <a:xfrm>
            <a:off x="9253800" y="2642760"/>
            <a:ext cx="188316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45"/>
          <p:cNvSpPr/>
          <p:nvPr/>
        </p:nvSpPr>
        <p:spPr>
          <a:xfrm>
            <a:off x="9290160" y="2724480"/>
            <a:ext cx="181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Commands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Box 46"/>
          <p:cNvSpPr/>
          <p:nvPr/>
        </p:nvSpPr>
        <p:spPr>
          <a:xfrm>
            <a:off x="9326880" y="3085560"/>
            <a:ext cx="1737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joystick -&gt; server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5" name="Connector 47"/>
          <p:cNvCxnSpPr/>
          <p:nvPr/>
        </p:nvCxnSpPr>
        <p:spPr>
          <a:xfrm flipH="1">
            <a:off x="7497720" y="2971800"/>
            <a:ext cx="1646640" cy="6861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436" name="Oval 48"/>
          <p:cNvSpPr/>
          <p:nvPr/>
        </p:nvSpPr>
        <p:spPr>
          <a:xfrm>
            <a:off x="7447680" y="360720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TextBox 49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10/25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Live Map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GPS tracking with path history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ounded Rectangle 4"/>
          <p:cNvSpPr/>
          <p:nvPr/>
        </p:nvSpPr>
        <p:spPr>
          <a:xfrm>
            <a:off x="868680" y="1508760"/>
            <a:ext cx="6400440" cy="4343040"/>
          </a:xfrm>
          <a:prstGeom prst="roundRect">
            <a:avLst>
              <a:gd name="adj" fmla="val 16667"/>
            </a:avLst>
          </a:prstGeom>
          <a:solidFill>
            <a:srgbClr val="122d35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42" name="Connector 5"/>
          <p:cNvCxnSpPr/>
          <p:nvPr/>
        </p:nvCxnSpPr>
        <p:spPr>
          <a:xfrm flipV="1">
            <a:off x="1143000" y="1737360"/>
            <a:ext cx="5852520" cy="18324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443" name="Connector 6"/>
          <p:cNvCxnSpPr/>
          <p:nvPr/>
        </p:nvCxnSpPr>
        <p:spPr>
          <a:xfrm flipV="1">
            <a:off x="1143000" y="2057400"/>
            <a:ext cx="5852520" cy="32040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444" name="Connector 7"/>
          <p:cNvCxnSpPr/>
          <p:nvPr/>
        </p:nvCxnSpPr>
        <p:spPr>
          <a:xfrm flipV="1">
            <a:off x="1143000" y="2377080"/>
            <a:ext cx="5852520" cy="45792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445" name="Connector 8"/>
          <p:cNvCxnSpPr/>
          <p:nvPr/>
        </p:nvCxnSpPr>
        <p:spPr>
          <a:xfrm flipV="1">
            <a:off x="1143000" y="2697120"/>
            <a:ext cx="5852520" cy="59508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446" name="Connector 9"/>
          <p:cNvCxnSpPr/>
          <p:nvPr/>
        </p:nvCxnSpPr>
        <p:spPr>
          <a:xfrm flipV="1">
            <a:off x="1143000" y="3017520"/>
            <a:ext cx="5852520" cy="73152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447" name="Connector 10"/>
          <p:cNvCxnSpPr/>
          <p:nvPr/>
        </p:nvCxnSpPr>
        <p:spPr>
          <a:xfrm flipV="1">
            <a:off x="1280160" y="2011680"/>
            <a:ext cx="5532480" cy="3383640"/>
          </a:xfrm>
          <a:prstGeom prst="curvedConnector3">
            <a:avLst>
              <a:gd name="adj1" fmla="val 25008"/>
            </a:avLst>
          </a:prstGeom>
          <a:ln w="38100">
            <a:solidFill>
              <a:srgbClr val="fb923c"/>
            </a:solidFill>
            <a:round/>
          </a:ln>
        </p:spPr>
      </p:cxnSp>
      <p:sp>
        <p:nvSpPr>
          <p:cNvPr id="448" name="Isosceles Triangle 11"/>
          <p:cNvSpPr/>
          <p:nvPr/>
        </p:nvSpPr>
        <p:spPr>
          <a:xfrm>
            <a:off x="6611040" y="1892880"/>
            <a:ext cx="255600" cy="255600"/>
          </a:xfrm>
          <a:prstGeom prst="triangle">
            <a:avLst>
              <a:gd name="adj" fmla="val 50000"/>
            </a:avLst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Oval 12"/>
          <p:cNvSpPr/>
          <p:nvPr/>
        </p:nvSpPr>
        <p:spPr>
          <a:xfrm>
            <a:off x="1371600" y="5074920"/>
            <a:ext cx="200880" cy="200880"/>
          </a:xfrm>
          <a:prstGeom prst="ellipse">
            <a:avLst/>
          </a:prstGeom>
          <a:solidFill>
            <a:srgbClr val="3b82f6"/>
          </a:solidFill>
          <a:ln>
            <a:solidFill>
              <a:srgbClr val="f4fa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Oval 13"/>
          <p:cNvSpPr/>
          <p:nvPr/>
        </p:nvSpPr>
        <p:spPr>
          <a:xfrm>
            <a:off x="7818120" y="19476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14"/>
          <p:cNvSpPr/>
          <p:nvPr/>
        </p:nvSpPr>
        <p:spPr>
          <a:xfrm>
            <a:off x="8019360" y="18745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Firestore location stream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Oval 15"/>
          <p:cNvSpPr/>
          <p:nvPr/>
        </p:nvSpPr>
        <p:spPr>
          <a:xfrm>
            <a:off x="7818120" y="23500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16"/>
          <p:cNvSpPr/>
          <p:nvPr/>
        </p:nvSpPr>
        <p:spPr>
          <a:xfrm>
            <a:off x="8019360" y="227700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OpenStreetMap tiles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Oval 17"/>
          <p:cNvSpPr/>
          <p:nvPr/>
        </p:nvSpPr>
        <p:spPr>
          <a:xfrm>
            <a:off x="7818120" y="27522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18"/>
          <p:cNvSpPr/>
          <p:nvPr/>
        </p:nvSpPr>
        <p:spPr>
          <a:xfrm>
            <a:off x="8019360" y="26791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Path history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Oval 19"/>
          <p:cNvSpPr/>
          <p:nvPr/>
        </p:nvSpPr>
        <p:spPr>
          <a:xfrm>
            <a:off x="7818120" y="31546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TextBox 20"/>
          <p:cNvSpPr/>
          <p:nvPr/>
        </p:nvSpPr>
        <p:spPr>
          <a:xfrm>
            <a:off x="8019360" y="308160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Disconnect handling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Oval 21"/>
          <p:cNvSpPr/>
          <p:nvPr/>
        </p:nvSpPr>
        <p:spPr>
          <a:xfrm>
            <a:off x="7818120" y="355716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22"/>
          <p:cNvSpPr/>
          <p:nvPr/>
        </p:nvSpPr>
        <p:spPr>
          <a:xfrm>
            <a:off x="8019360" y="34837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Last known position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23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11/25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Map Data Source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How GPS reaches the user interface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Rounded Rectangle 4"/>
          <p:cNvSpPr/>
          <p:nvPr/>
        </p:nvSpPr>
        <p:spPr>
          <a:xfrm>
            <a:off x="827640" y="18882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Rounded Rectangle 5"/>
          <p:cNvSpPr/>
          <p:nvPr/>
        </p:nvSpPr>
        <p:spPr>
          <a:xfrm>
            <a:off x="777240" y="18288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Rectangle 6"/>
          <p:cNvSpPr/>
          <p:nvPr/>
        </p:nvSpPr>
        <p:spPr>
          <a:xfrm>
            <a:off x="887040" y="1911240"/>
            <a:ext cx="170028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7"/>
          <p:cNvSpPr/>
          <p:nvPr/>
        </p:nvSpPr>
        <p:spPr>
          <a:xfrm>
            <a:off x="923400" y="19929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Raspberry Pi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Box 8"/>
          <p:cNvSpPr/>
          <p:nvPr/>
        </p:nvSpPr>
        <p:spPr>
          <a:xfrm>
            <a:off x="960120" y="233100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reads GPS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Rounded Rectangle 9"/>
          <p:cNvSpPr/>
          <p:nvPr/>
        </p:nvSpPr>
        <p:spPr>
          <a:xfrm>
            <a:off x="3387960" y="18882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Rounded Rectangle 10"/>
          <p:cNvSpPr/>
          <p:nvPr/>
        </p:nvSpPr>
        <p:spPr>
          <a:xfrm>
            <a:off x="3337560" y="18288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Rectangle 11"/>
          <p:cNvSpPr/>
          <p:nvPr/>
        </p:nvSpPr>
        <p:spPr>
          <a:xfrm>
            <a:off x="3447360" y="1911240"/>
            <a:ext cx="17002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TextBox 12"/>
          <p:cNvSpPr/>
          <p:nvPr/>
        </p:nvSpPr>
        <p:spPr>
          <a:xfrm>
            <a:off x="3483720" y="19929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Firestore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3"/>
          <p:cNvSpPr/>
          <p:nvPr/>
        </p:nvSpPr>
        <p:spPr>
          <a:xfrm>
            <a:off x="3520440" y="233100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drone/location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14"/>
          <p:cNvSpPr/>
          <p:nvPr/>
        </p:nvSpPr>
        <p:spPr>
          <a:xfrm>
            <a:off x="5948280" y="18882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Rounded Rectangle 15"/>
          <p:cNvSpPr/>
          <p:nvPr/>
        </p:nvSpPr>
        <p:spPr>
          <a:xfrm>
            <a:off x="5897880" y="18288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6" name="Rectangle 16"/>
          <p:cNvSpPr/>
          <p:nvPr/>
        </p:nvSpPr>
        <p:spPr>
          <a:xfrm>
            <a:off x="6007680" y="1911240"/>
            <a:ext cx="170028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17"/>
          <p:cNvSpPr/>
          <p:nvPr/>
        </p:nvSpPr>
        <p:spPr>
          <a:xfrm>
            <a:off x="6044040" y="19929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Repository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Box 18"/>
          <p:cNvSpPr/>
          <p:nvPr/>
        </p:nvSpPr>
        <p:spPr>
          <a:xfrm>
            <a:off x="6080760" y="233100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watch stream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Rounded Rectangle 19"/>
          <p:cNvSpPr/>
          <p:nvPr/>
        </p:nvSpPr>
        <p:spPr>
          <a:xfrm>
            <a:off x="8508600" y="18882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Rounded Rectangle 20"/>
          <p:cNvSpPr/>
          <p:nvPr/>
        </p:nvSpPr>
        <p:spPr>
          <a:xfrm>
            <a:off x="8458200" y="1828800"/>
            <a:ext cx="19198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Rectangle 21"/>
          <p:cNvSpPr/>
          <p:nvPr/>
        </p:nvSpPr>
        <p:spPr>
          <a:xfrm>
            <a:off x="8568000" y="1911240"/>
            <a:ext cx="170028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22"/>
          <p:cNvSpPr/>
          <p:nvPr/>
        </p:nvSpPr>
        <p:spPr>
          <a:xfrm>
            <a:off x="8604360" y="19929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Cubit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Box 23"/>
          <p:cNvSpPr/>
          <p:nvPr/>
        </p:nvSpPr>
        <p:spPr>
          <a:xfrm>
            <a:off x="8641080" y="233100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emit state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4" name="Connector 24"/>
          <p:cNvCxnSpPr/>
          <p:nvPr/>
        </p:nvCxnSpPr>
        <p:spPr>
          <a:xfrm>
            <a:off x="2697480" y="2240280"/>
            <a:ext cx="64044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485" name="Oval 25"/>
          <p:cNvSpPr/>
          <p:nvPr/>
        </p:nvSpPr>
        <p:spPr>
          <a:xfrm>
            <a:off x="3287160" y="218988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86" name="Connector 26"/>
          <p:cNvCxnSpPr/>
          <p:nvPr/>
        </p:nvCxnSpPr>
        <p:spPr>
          <a:xfrm>
            <a:off x="5257800" y="2240280"/>
            <a:ext cx="6404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487" name="Oval 27"/>
          <p:cNvSpPr/>
          <p:nvPr/>
        </p:nvSpPr>
        <p:spPr>
          <a:xfrm>
            <a:off x="5847480" y="21898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88" name="Connector 28"/>
          <p:cNvCxnSpPr/>
          <p:nvPr/>
        </p:nvCxnSpPr>
        <p:spPr>
          <a:xfrm>
            <a:off x="7818120" y="2240280"/>
            <a:ext cx="64044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489" name="Oval 29"/>
          <p:cNvSpPr/>
          <p:nvPr/>
        </p:nvSpPr>
        <p:spPr>
          <a:xfrm>
            <a:off x="8407800" y="218988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ounded Rectangle 30"/>
          <p:cNvSpPr/>
          <p:nvPr/>
        </p:nvSpPr>
        <p:spPr>
          <a:xfrm>
            <a:off x="1010520" y="39456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Rounded Rectangle 31"/>
          <p:cNvSpPr/>
          <p:nvPr/>
        </p:nvSpPr>
        <p:spPr>
          <a:xfrm>
            <a:off x="960120" y="38862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32"/>
          <p:cNvSpPr/>
          <p:nvPr/>
        </p:nvSpPr>
        <p:spPr>
          <a:xfrm>
            <a:off x="1069920" y="3977640"/>
            <a:ext cx="252324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33"/>
          <p:cNvSpPr/>
          <p:nvPr/>
        </p:nvSpPr>
        <p:spPr>
          <a:xfrm>
            <a:off x="1179720" y="4099320"/>
            <a:ext cx="2304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Document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Box 34"/>
          <p:cNvSpPr/>
          <p:nvPr/>
        </p:nvSpPr>
        <p:spPr>
          <a:xfrm>
            <a:off x="1179720" y="4540680"/>
            <a:ext cx="230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lat | lng | timestamp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Rounded Rectangle 35"/>
          <p:cNvSpPr/>
          <p:nvPr/>
        </p:nvSpPr>
        <p:spPr>
          <a:xfrm>
            <a:off x="4759560" y="39456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ounded Rectangle 36"/>
          <p:cNvSpPr/>
          <p:nvPr/>
        </p:nvSpPr>
        <p:spPr>
          <a:xfrm>
            <a:off x="4709160" y="38862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ectangle 37"/>
          <p:cNvSpPr/>
          <p:nvPr/>
        </p:nvSpPr>
        <p:spPr>
          <a:xfrm>
            <a:off x="4818960" y="3977640"/>
            <a:ext cx="252324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TextBox 38"/>
          <p:cNvSpPr/>
          <p:nvPr/>
        </p:nvSpPr>
        <p:spPr>
          <a:xfrm>
            <a:off x="4928760" y="4099320"/>
            <a:ext cx="2304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Model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Box 39"/>
          <p:cNvSpPr/>
          <p:nvPr/>
        </p:nvSpPr>
        <p:spPr>
          <a:xfrm>
            <a:off x="4928760" y="4540680"/>
            <a:ext cx="230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DroneLocation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Rounded Rectangle 40"/>
          <p:cNvSpPr/>
          <p:nvPr/>
        </p:nvSpPr>
        <p:spPr>
          <a:xfrm>
            <a:off x="8508600" y="39456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Rounded Rectangle 41"/>
          <p:cNvSpPr/>
          <p:nvPr/>
        </p:nvSpPr>
        <p:spPr>
          <a:xfrm>
            <a:off x="8458200" y="3886200"/>
            <a:ext cx="2742840" cy="10512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Rectangle 42"/>
          <p:cNvSpPr/>
          <p:nvPr/>
        </p:nvSpPr>
        <p:spPr>
          <a:xfrm>
            <a:off x="8568000" y="3977640"/>
            <a:ext cx="252324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TextBox 43"/>
          <p:cNvSpPr/>
          <p:nvPr/>
        </p:nvSpPr>
        <p:spPr>
          <a:xfrm>
            <a:off x="8677800" y="4099320"/>
            <a:ext cx="2304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UI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Box 44"/>
          <p:cNvSpPr/>
          <p:nvPr/>
        </p:nvSpPr>
        <p:spPr>
          <a:xfrm>
            <a:off x="8677800" y="4540680"/>
            <a:ext cx="230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marker + route update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45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12/25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Map Rendering Layers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What appears on the 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Rounded Rectangle 4"/>
          <p:cNvSpPr/>
          <p:nvPr/>
        </p:nvSpPr>
        <p:spPr>
          <a:xfrm>
            <a:off x="777240" y="1508760"/>
            <a:ext cx="6034680" cy="4434480"/>
          </a:xfrm>
          <a:prstGeom prst="roundRect">
            <a:avLst>
              <a:gd name="adj" fmla="val 16667"/>
            </a:avLst>
          </a:prstGeom>
          <a:solidFill>
            <a:srgbClr val="122d35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10" name="Connector 5"/>
          <p:cNvCxnSpPr/>
          <p:nvPr/>
        </p:nvCxnSpPr>
        <p:spPr>
          <a:xfrm flipV="1">
            <a:off x="1051560" y="1737360"/>
            <a:ext cx="5486400" cy="18324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11" name="Connector 6"/>
          <p:cNvCxnSpPr/>
          <p:nvPr/>
        </p:nvCxnSpPr>
        <p:spPr>
          <a:xfrm flipV="1">
            <a:off x="1051560" y="2057400"/>
            <a:ext cx="5486400" cy="32040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12" name="Connector 7"/>
          <p:cNvCxnSpPr/>
          <p:nvPr/>
        </p:nvCxnSpPr>
        <p:spPr>
          <a:xfrm flipV="1">
            <a:off x="1051560" y="2377080"/>
            <a:ext cx="5486400" cy="45792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13" name="Connector 8"/>
          <p:cNvCxnSpPr/>
          <p:nvPr/>
        </p:nvCxnSpPr>
        <p:spPr>
          <a:xfrm flipV="1">
            <a:off x="1051560" y="2697120"/>
            <a:ext cx="5486400" cy="59508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14" name="Connector 9"/>
          <p:cNvCxnSpPr/>
          <p:nvPr/>
        </p:nvCxnSpPr>
        <p:spPr>
          <a:xfrm flipV="1">
            <a:off x="1051560" y="3017520"/>
            <a:ext cx="5486400" cy="73152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15" name="Connector 10"/>
          <p:cNvCxnSpPr/>
          <p:nvPr/>
        </p:nvCxnSpPr>
        <p:spPr>
          <a:xfrm flipV="1">
            <a:off x="1188720" y="2011680"/>
            <a:ext cx="5166360" cy="3475080"/>
          </a:xfrm>
          <a:prstGeom prst="curvedConnector3">
            <a:avLst>
              <a:gd name="adj1" fmla="val 25003"/>
            </a:avLst>
          </a:prstGeom>
          <a:ln w="38100">
            <a:solidFill>
              <a:srgbClr val="fb923c"/>
            </a:solidFill>
            <a:round/>
          </a:ln>
        </p:spPr>
      </p:cxnSp>
      <p:sp>
        <p:nvSpPr>
          <p:cNvPr id="516" name="Isosceles Triangle 11"/>
          <p:cNvSpPr/>
          <p:nvPr/>
        </p:nvSpPr>
        <p:spPr>
          <a:xfrm>
            <a:off x="6153840" y="1892880"/>
            <a:ext cx="255600" cy="255600"/>
          </a:xfrm>
          <a:prstGeom prst="triangle">
            <a:avLst>
              <a:gd name="adj" fmla="val 50000"/>
            </a:avLst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7" name="Oval 12"/>
          <p:cNvSpPr/>
          <p:nvPr/>
        </p:nvSpPr>
        <p:spPr>
          <a:xfrm>
            <a:off x="1280160" y="5166360"/>
            <a:ext cx="200880" cy="200880"/>
          </a:xfrm>
          <a:prstGeom prst="ellipse">
            <a:avLst/>
          </a:prstGeom>
          <a:solidFill>
            <a:srgbClr val="3b82f6"/>
          </a:solidFill>
          <a:ln>
            <a:solidFill>
              <a:srgbClr val="f4fa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Rounded Rectangle 13"/>
          <p:cNvSpPr/>
          <p:nvPr/>
        </p:nvSpPr>
        <p:spPr>
          <a:xfrm>
            <a:off x="7411320" y="161388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Rounded Rectangle 14"/>
          <p:cNvSpPr/>
          <p:nvPr/>
        </p:nvSpPr>
        <p:spPr>
          <a:xfrm>
            <a:off x="7360920" y="155448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Rectangle 15"/>
          <p:cNvSpPr/>
          <p:nvPr/>
        </p:nvSpPr>
        <p:spPr>
          <a:xfrm>
            <a:off x="7470720" y="1645920"/>
            <a:ext cx="275184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TextBox 16"/>
          <p:cNvSpPr/>
          <p:nvPr/>
        </p:nvSpPr>
        <p:spPr>
          <a:xfrm>
            <a:off x="7580520" y="176760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Tile Layer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Box 17"/>
          <p:cNvSpPr/>
          <p:nvPr/>
        </p:nvSpPr>
        <p:spPr>
          <a:xfrm>
            <a:off x="7580520" y="208584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OpenStreetMap base map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Rounded Rectangle 18"/>
          <p:cNvSpPr/>
          <p:nvPr/>
        </p:nvSpPr>
        <p:spPr>
          <a:xfrm>
            <a:off x="7411320" y="266544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Rounded Rectangle 19"/>
          <p:cNvSpPr/>
          <p:nvPr/>
        </p:nvSpPr>
        <p:spPr>
          <a:xfrm>
            <a:off x="7360920" y="260604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" name="Rectangle 20"/>
          <p:cNvSpPr/>
          <p:nvPr/>
        </p:nvSpPr>
        <p:spPr>
          <a:xfrm>
            <a:off x="7470720" y="2697480"/>
            <a:ext cx="275184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6" name="TextBox 21"/>
          <p:cNvSpPr/>
          <p:nvPr/>
        </p:nvSpPr>
        <p:spPr>
          <a:xfrm>
            <a:off x="7580520" y="281916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Polyline Layer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Box 22"/>
          <p:cNvSpPr/>
          <p:nvPr/>
        </p:nvSpPr>
        <p:spPr>
          <a:xfrm>
            <a:off x="7580520" y="313740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drone path history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Rounded Rectangle 23"/>
          <p:cNvSpPr/>
          <p:nvPr/>
        </p:nvSpPr>
        <p:spPr>
          <a:xfrm>
            <a:off x="7411320" y="371700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9" name="Rounded Rectangle 24"/>
          <p:cNvSpPr/>
          <p:nvPr/>
        </p:nvSpPr>
        <p:spPr>
          <a:xfrm>
            <a:off x="7360920" y="365760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0" name="Rectangle 25"/>
          <p:cNvSpPr/>
          <p:nvPr/>
        </p:nvSpPr>
        <p:spPr>
          <a:xfrm>
            <a:off x="7470720" y="3749040"/>
            <a:ext cx="275184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1" name="TextBox 26"/>
          <p:cNvSpPr/>
          <p:nvPr/>
        </p:nvSpPr>
        <p:spPr>
          <a:xfrm>
            <a:off x="7580520" y="387072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Marker Layer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27"/>
          <p:cNvSpPr/>
          <p:nvPr/>
        </p:nvSpPr>
        <p:spPr>
          <a:xfrm>
            <a:off x="7580520" y="418896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drone + user location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28"/>
          <p:cNvSpPr/>
          <p:nvPr/>
        </p:nvSpPr>
        <p:spPr>
          <a:xfrm>
            <a:off x="7411320" y="476856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ounded Rectangle 29"/>
          <p:cNvSpPr/>
          <p:nvPr/>
        </p:nvSpPr>
        <p:spPr>
          <a:xfrm>
            <a:off x="7360920" y="4709160"/>
            <a:ext cx="2971440" cy="8042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Rectangle 30"/>
          <p:cNvSpPr/>
          <p:nvPr/>
        </p:nvSpPr>
        <p:spPr>
          <a:xfrm>
            <a:off x="7470720" y="4800600"/>
            <a:ext cx="275184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6" name="TextBox 31"/>
          <p:cNvSpPr/>
          <p:nvPr/>
        </p:nvSpPr>
        <p:spPr>
          <a:xfrm>
            <a:off x="7580520" y="492228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Control Layer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Box 32"/>
          <p:cNvSpPr/>
          <p:nvPr/>
        </p:nvSpPr>
        <p:spPr>
          <a:xfrm>
            <a:off x="7580520" y="524052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center on user button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Box 33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13/25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Tracking State Machine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1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How the app reacts to GPS stream changes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Rounded Rectangle 4"/>
          <p:cNvSpPr/>
          <p:nvPr/>
        </p:nvSpPr>
        <p:spPr>
          <a:xfrm>
            <a:off x="827640" y="21168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Rounded Rectangle 5"/>
          <p:cNvSpPr/>
          <p:nvPr/>
        </p:nvSpPr>
        <p:spPr>
          <a:xfrm>
            <a:off x="777240" y="20574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4" name="Rectangle 6"/>
          <p:cNvSpPr/>
          <p:nvPr/>
        </p:nvSpPr>
        <p:spPr>
          <a:xfrm>
            <a:off x="887040" y="2139840"/>
            <a:ext cx="1700280" cy="40680"/>
          </a:xfrm>
          <a:prstGeom prst="rect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5" name="TextBox 7"/>
          <p:cNvSpPr/>
          <p:nvPr/>
        </p:nvSpPr>
        <p:spPr>
          <a:xfrm>
            <a:off x="923400" y="22215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Initial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8"/>
          <p:cNvSpPr/>
          <p:nvPr/>
        </p:nvSpPr>
        <p:spPr>
          <a:xfrm>
            <a:off x="960120" y="253692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screen starts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9"/>
          <p:cNvSpPr/>
          <p:nvPr/>
        </p:nvSpPr>
        <p:spPr>
          <a:xfrm>
            <a:off x="3205080" y="21168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Rounded Rectangle 10"/>
          <p:cNvSpPr/>
          <p:nvPr/>
        </p:nvSpPr>
        <p:spPr>
          <a:xfrm>
            <a:off x="3154680" y="20574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Rectangle 11"/>
          <p:cNvSpPr/>
          <p:nvPr/>
        </p:nvSpPr>
        <p:spPr>
          <a:xfrm>
            <a:off x="3264480" y="2139840"/>
            <a:ext cx="170028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0" name="TextBox 12"/>
          <p:cNvSpPr/>
          <p:nvPr/>
        </p:nvSpPr>
        <p:spPr>
          <a:xfrm>
            <a:off x="3300840" y="22215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Loading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3"/>
          <p:cNvSpPr/>
          <p:nvPr/>
        </p:nvSpPr>
        <p:spPr>
          <a:xfrm>
            <a:off x="3337560" y="253692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subscribe stream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Rounded Rectangle 14"/>
          <p:cNvSpPr/>
          <p:nvPr/>
        </p:nvSpPr>
        <p:spPr>
          <a:xfrm>
            <a:off x="5582520" y="21168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3" name="Rounded Rectangle 15"/>
          <p:cNvSpPr/>
          <p:nvPr/>
        </p:nvSpPr>
        <p:spPr>
          <a:xfrm>
            <a:off x="5532120" y="20574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4" name="Rectangle 16"/>
          <p:cNvSpPr/>
          <p:nvPr/>
        </p:nvSpPr>
        <p:spPr>
          <a:xfrm>
            <a:off x="5641920" y="2139840"/>
            <a:ext cx="170028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17"/>
          <p:cNvSpPr/>
          <p:nvPr/>
        </p:nvSpPr>
        <p:spPr>
          <a:xfrm>
            <a:off x="5678280" y="222156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Active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Box 18"/>
          <p:cNvSpPr/>
          <p:nvPr/>
        </p:nvSpPr>
        <p:spPr>
          <a:xfrm>
            <a:off x="5715000" y="253692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location + path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Rounded Rectangle 19"/>
          <p:cNvSpPr/>
          <p:nvPr/>
        </p:nvSpPr>
        <p:spPr>
          <a:xfrm>
            <a:off x="7959960" y="21168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Rounded Rectangle 20"/>
          <p:cNvSpPr/>
          <p:nvPr/>
        </p:nvSpPr>
        <p:spPr>
          <a:xfrm>
            <a:off x="7909560" y="20574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9" name="Rectangle 21"/>
          <p:cNvSpPr/>
          <p:nvPr/>
        </p:nvSpPr>
        <p:spPr>
          <a:xfrm>
            <a:off x="8019360" y="2139840"/>
            <a:ext cx="1700280" cy="4068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0" name="TextBox 22"/>
          <p:cNvSpPr/>
          <p:nvPr/>
        </p:nvSpPr>
        <p:spPr>
          <a:xfrm>
            <a:off x="8055720" y="2091960"/>
            <a:ext cx="16272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Disconnected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23"/>
          <p:cNvSpPr/>
          <p:nvPr/>
        </p:nvSpPr>
        <p:spPr>
          <a:xfrm>
            <a:off x="8092440" y="253692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last known point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24"/>
          <p:cNvCxnSpPr/>
          <p:nvPr/>
        </p:nvCxnSpPr>
        <p:spPr>
          <a:xfrm>
            <a:off x="2697480" y="2450520"/>
            <a:ext cx="45756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563" name="Oval 25"/>
          <p:cNvSpPr/>
          <p:nvPr/>
        </p:nvSpPr>
        <p:spPr>
          <a:xfrm>
            <a:off x="3104280" y="24004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64" name="Connector 26"/>
          <p:cNvCxnSpPr/>
          <p:nvPr/>
        </p:nvCxnSpPr>
        <p:spPr>
          <a:xfrm>
            <a:off x="5074920" y="2450520"/>
            <a:ext cx="457560" cy="360"/>
          </a:xfrm>
          <a:prstGeom prst="straightConnector1">
            <a:avLst/>
          </a:prstGeom>
          <a:ln w="33020">
            <a:solidFill>
              <a:srgbClr val="22c55e"/>
            </a:solidFill>
            <a:round/>
          </a:ln>
        </p:spPr>
      </p:cxnSp>
      <p:sp>
        <p:nvSpPr>
          <p:cNvPr id="565" name="Oval 27"/>
          <p:cNvSpPr/>
          <p:nvPr/>
        </p:nvSpPr>
        <p:spPr>
          <a:xfrm>
            <a:off x="5481720" y="2400480"/>
            <a:ext cx="100080" cy="10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66" name="Connector 28"/>
          <p:cNvCxnSpPr/>
          <p:nvPr/>
        </p:nvCxnSpPr>
        <p:spPr>
          <a:xfrm>
            <a:off x="7452360" y="2450520"/>
            <a:ext cx="457560" cy="360"/>
          </a:xfrm>
          <a:prstGeom prst="straightConnector1">
            <a:avLst/>
          </a:prstGeom>
          <a:ln w="33020">
            <a:solidFill>
              <a:srgbClr val="f85252"/>
            </a:solidFill>
            <a:round/>
          </a:ln>
        </p:spPr>
      </p:cxnSp>
      <p:sp>
        <p:nvSpPr>
          <p:cNvPr id="567" name="Oval 29"/>
          <p:cNvSpPr/>
          <p:nvPr/>
        </p:nvSpPr>
        <p:spPr>
          <a:xfrm>
            <a:off x="7859160" y="2400480"/>
            <a:ext cx="100080" cy="100080"/>
          </a:xfrm>
          <a:prstGeom prst="ellipse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Rounded Rectangle 30"/>
          <p:cNvSpPr/>
          <p:nvPr/>
        </p:nvSpPr>
        <p:spPr>
          <a:xfrm>
            <a:off x="5669280" y="3246120"/>
            <a:ext cx="1691280" cy="2372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 w="1016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9" name="TextBox 31"/>
          <p:cNvSpPr/>
          <p:nvPr/>
        </p:nvSpPr>
        <p:spPr>
          <a:xfrm>
            <a:off x="5724000" y="3234960"/>
            <a:ext cx="1581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5252"/>
                </a:solidFill>
                <a:latin typeface="Aptos"/>
              </a:rPr>
              <a:t>10 sec timeout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Oval 32"/>
          <p:cNvSpPr/>
          <p:nvPr/>
        </p:nvSpPr>
        <p:spPr>
          <a:xfrm>
            <a:off x="1005840" y="432504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TextBox 33"/>
          <p:cNvSpPr/>
          <p:nvPr/>
        </p:nvSpPr>
        <p:spPr>
          <a:xfrm>
            <a:off x="1207080" y="425196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Active state updates the map marker instantly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Oval 34"/>
          <p:cNvSpPr/>
          <p:nvPr/>
        </p:nvSpPr>
        <p:spPr>
          <a:xfrm>
            <a:off x="1005840" y="472752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TextBox 35"/>
          <p:cNvSpPr/>
          <p:nvPr/>
        </p:nvSpPr>
        <p:spPr>
          <a:xfrm>
            <a:off x="1207080" y="465444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Path history grows with every new location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Oval 36"/>
          <p:cNvSpPr/>
          <p:nvPr/>
        </p:nvSpPr>
        <p:spPr>
          <a:xfrm>
            <a:off x="1005840" y="512964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5" name="TextBox 37"/>
          <p:cNvSpPr/>
          <p:nvPr/>
        </p:nvSpPr>
        <p:spPr>
          <a:xfrm>
            <a:off x="1207080" y="505656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Disconnected state keeps the last known position visible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Box 38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14/25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Map Screen UX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Operational view for rescue teams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Rounded Rectangle 4"/>
          <p:cNvSpPr/>
          <p:nvPr/>
        </p:nvSpPr>
        <p:spPr>
          <a:xfrm>
            <a:off x="868680" y="1325880"/>
            <a:ext cx="2468520" cy="470880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Rounded Rectangle 5"/>
          <p:cNvSpPr/>
          <p:nvPr/>
        </p:nvSpPr>
        <p:spPr>
          <a:xfrm>
            <a:off x="987480" y="1527120"/>
            <a:ext cx="2230920" cy="430632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2" name="Rounded Rectangle 6"/>
          <p:cNvSpPr/>
          <p:nvPr/>
        </p:nvSpPr>
        <p:spPr>
          <a:xfrm>
            <a:off x="1124640" y="1783080"/>
            <a:ext cx="1956600" cy="3794400"/>
          </a:xfrm>
          <a:prstGeom prst="roundRect">
            <a:avLst>
              <a:gd name="adj" fmla="val 16667"/>
            </a:avLst>
          </a:prstGeom>
          <a:solidFill>
            <a:srgbClr val="122d35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83" name="Connector 7"/>
          <p:cNvCxnSpPr/>
          <p:nvPr/>
        </p:nvCxnSpPr>
        <p:spPr>
          <a:xfrm flipV="1">
            <a:off x="1398960" y="2011680"/>
            <a:ext cx="1408320" cy="18324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84" name="Connector 8"/>
          <p:cNvCxnSpPr/>
          <p:nvPr/>
        </p:nvCxnSpPr>
        <p:spPr>
          <a:xfrm flipV="1">
            <a:off x="1398960" y="2331720"/>
            <a:ext cx="1408320" cy="32040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85" name="Connector 9"/>
          <p:cNvCxnSpPr/>
          <p:nvPr/>
        </p:nvCxnSpPr>
        <p:spPr>
          <a:xfrm flipV="1">
            <a:off x="1398960" y="2651760"/>
            <a:ext cx="1408320" cy="4575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86" name="Connector 10"/>
          <p:cNvCxnSpPr/>
          <p:nvPr/>
        </p:nvCxnSpPr>
        <p:spPr>
          <a:xfrm flipV="1">
            <a:off x="1398960" y="2971800"/>
            <a:ext cx="1408320" cy="59472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87" name="Connector 11"/>
          <p:cNvCxnSpPr/>
          <p:nvPr/>
        </p:nvCxnSpPr>
        <p:spPr>
          <a:xfrm flipV="1">
            <a:off x="1398960" y="3291840"/>
            <a:ext cx="1408320" cy="73188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588" name="Connector 12"/>
          <p:cNvCxnSpPr/>
          <p:nvPr/>
        </p:nvCxnSpPr>
        <p:spPr>
          <a:xfrm flipH="1" flipV="1" rot="5400000">
            <a:off x="662760" y="3159360"/>
            <a:ext cx="2835000" cy="1088280"/>
          </a:xfrm>
          <a:prstGeom prst="curvedConnector3">
            <a:avLst>
              <a:gd name="adj1" fmla="val 25006"/>
            </a:avLst>
          </a:prstGeom>
          <a:ln w="38100">
            <a:solidFill>
              <a:srgbClr val="fb923c"/>
            </a:solidFill>
            <a:round/>
          </a:ln>
        </p:spPr>
      </p:cxnSp>
      <p:sp>
        <p:nvSpPr>
          <p:cNvPr id="589" name="Isosceles Triangle 13"/>
          <p:cNvSpPr/>
          <p:nvPr/>
        </p:nvSpPr>
        <p:spPr>
          <a:xfrm>
            <a:off x="2423160" y="2167200"/>
            <a:ext cx="255600" cy="255600"/>
          </a:xfrm>
          <a:prstGeom prst="triangle">
            <a:avLst>
              <a:gd name="adj" fmla="val 50000"/>
            </a:avLst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Oval 14"/>
          <p:cNvSpPr/>
          <p:nvPr/>
        </p:nvSpPr>
        <p:spPr>
          <a:xfrm>
            <a:off x="1627560" y="4800600"/>
            <a:ext cx="200880" cy="200880"/>
          </a:xfrm>
          <a:prstGeom prst="ellipse">
            <a:avLst/>
          </a:prstGeom>
          <a:solidFill>
            <a:srgbClr val="3b82f6"/>
          </a:solidFill>
          <a:ln>
            <a:solidFill>
              <a:srgbClr val="f4fa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Rounded Rectangle 15"/>
          <p:cNvSpPr/>
          <p:nvPr/>
        </p:nvSpPr>
        <p:spPr>
          <a:xfrm>
            <a:off x="4028040" y="165960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2" name="Rounded Rectangle 16"/>
          <p:cNvSpPr/>
          <p:nvPr/>
        </p:nvSpPr>
        <p:spPr>
          <a:xfrm>
            <a:off x="3977640" y="160020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3" name="Rectangle 17"/>
          <p:cNvSpPr/>
          <p:nvPr/>
        </p:nvSpPr>
        <p:spPr>
          <a:xfrm>
            <a:off x="4087440" y="1691640"/>
            <a:ext cx="266040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4" name="TextBox 18"/>
          <p:cNvSpPr/>
          <p:nvPr/>
        </p:nvSpPr>
        <p:spPr>
          <a:xfrm>
            <a:off x="4197240" y="1813320"/>
            <a:ext cx="244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Header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19"/>
          <p:cNvSpPr/>
          <p:nvPr/>
        </p:nvSpPr>
        <p:spPr>
          <a:xfrm>
            <a:off x="4197240" y="2186280"/>
            <a:ext cx="2441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mission map context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Rounded Rectangle 20"/>
          <p:cNvSpPr/>
          <p:nvPr/>
        </p:nvSpPr>
        <p:spPr>
          <a:xfrm>
            <a:off x="7502760" y="165960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7" name="Rounded Rectangle 21"/>
          <p:cNvSpPr/>
          <p:nvPr/>
        </p:nvSpPr>
        <p:spPr>
          <a:xfrm>
            <a:off x="7452360" y="160020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8" name="Rectangle 22"/>
          <p:cNvSpPr/>
          <p:nvPr/>
        </p:nvSpPr>
        <p:spPr>
          <a:xfrm>
            <a:off x="7562160" y="1691640"/>
            <a:ext cx="266040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9" name="TextBox 23"/>
          <p:cNvSpPr/>
          <p:nvPr/>
        </p:nvSpPr>
        <p:spPr>
          <a:xfrm>
            <a:off x="7671960" y="1813320"/>
            <a:ext cx="244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Status Bar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Box 24"/>
          <p:cNvSpPr/>
          <p:nvPr/>
        </p:nvSpPr>
        <p:spPr>
          <a:xfrm>
            <a:off x="7671960" y="2186280"/>
            <a:ext cx="2441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battery | temp | signal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Rounded Rectangle 25"/>
          <p:cNvSpPr/>
          <p:nvPr/>
        </p:nvSpPr>
        <p:spPr>
          <a:xfrm>
            <a:off x="4028040" y="307692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Rounded Rectangle 26"/>
          <p:cNvSpPr/>
          <p:nvPr/>
        </p:nvSpPr>
        <p:spPr>
          <a:xfrm>
            <a:off x="3977640" y="301752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3" name="Rectangle 27"/>
          <p:cNvSpPr/>
          <p:nvPr/>
        </p:nvSpPr>
        <p:spPr>
          <a:xfrm>
            <a:off x="4087440" y="3108960"/>
            <a:ext cx="266040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4" name="TextBox 28"/>
          <p:cNvSpPr/>
          <p:nvPr/>
        </p:nvSpPr>
        <p:spPr>
          <a:xfrm>
            <a:off x="4197240" y="3230640"/>
            <a:ext cx="244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Mission Card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Box 29"/>
          <p:cNvSpPr/>
          <p:nvPr/>
        </p:nvSpPr>
        <p:spPr>
          <a:xfrm>
            <a:off x="4197240" y="3603600"/>
            <a:ext cx="2441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current operation status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Rounded Rectangle 30"/>
          <p:cNvSpPr/>
          <p:nvPr/>
        </p:nvSpPr>
        <p:spPr>
          <a:xfrm>
            <a:off x="7502760" y="307692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7" name="Rounded Rectangle 31"/>
          <p:cNvSpPr/>
          <p:nvPr/>
        </p:nvSpPr>
        <p:spPr>
          <a:xfrm>
            <a:off x="7452360" y="3017520"/>
            <a:ext cx="2880000" cy="9140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8" name="Rectangle 32"/>
          <p:cNvSpPr/>
          <p:nvPr/>
        </p:nvSpPr>
        <p:spPr>
          <a:xfrm>
            <a:off x="7562160" y="3108960"/>
            <a:ext cx="2660400" cy="5004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TextBox 33"/>
          <p:cNvSpPr/>
          <p:nvPr/>
        </p:nvSpPr>
        <p:spPr>
          <a:xfrm>
            <a:off x="7671960" y="3230640"/>
            <a:ext cx="244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Start Button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Box 34"/>
          <p:cNvSpPr/>
          <p:nvPr/>
        </p:nvSpPr>
        <p:spPr>
          <a:xfrm>
            <a:off x="7671960" y="3603600"/>
            <a:ext cx="2441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send start_mission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Oval 35"/>
          <p:cNvSpPr/>
          <p:nvPr/>
        </p:nvSpPr>
        <p:spPr>
          <a:xfrm>
            <a:off x="4069080" y="496512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2" name="TextBox 36"/>
          <p:cNvSpPr/>
          <p:nvPr/>
        </p:nvSpPr>
        <p:spPr>
          <a:xfrm>
            <a:off x="4270320" y="4892040"/>
            <a:ext cx="9875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faff"/>
                </a:solidFill>
                <a:latin typeface="Aptos"/>
              </a:rPr>
              <a:t>Map is not isolated; it is part of the mission workflow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Oval 37"/>
          <p:cNvSpPr/>
          <p:nvPr/>
        </p:nvSpPr>
        <p:spPr>
          <a:xfrm>
            <a:off x="4069080" y="53676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TextBox 38"/>
          <p:cNvSpPr/>
          <p:nvPr/>
        </p:nvSpPr>
        <p:spPr>
          <a:xfrm>
            <a:off x="4270320" y="5294520"/>
            <a:ext cx="9875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faff"/>
                </a:solidFill>
                <a:latin typeface="Aptos"/>
              </a:rPr>
              <a:t>Telemetry stays visible while tracking location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Box 39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15/25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Telemetry Monitoring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8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Live status data shown beside the mission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Rounded Rectangle 4"/>
          <p:cNvSpPr/>
          <p:nvPr/>
        </p:nvSpPr>
        <p:spPr>
          <a:xfrm>
            <a:off x="873360" y="17510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0" name="Rounded Rectangle 5"/>
          <p:cNvSpPr/>
          <p:nvPr/>
        </p:nvSpPr>
        <p:spPr>
          <a:xfrm>
            <a:off x="822960" y="16916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Rectangle 6"/>
          <p:cNvSpPr/>
          <p:nvPr/>
        </p:nvSpPr>
        <p:spPr>
          <a:xfrm>
            <a:off x="932760" y="1783080"/>
            <a:ext cx="220320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1042560" y="190476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Battery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Box 8"/>
          <p:cNvSpPr/>
          <p:nvPr/>
        </p:nvSpPr>
        <p:spPr>
          <a:xfrm>
            <a:off x="1042560" y="2277720"/>
            <a:ext cx="1983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percentage for flight safety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Rounded Rectangle 9"/>
          <p:cNvSpPr/>
          <p:nvPr/>
        </p:nvSpPr>
        <p:spPr>
          <a:xfrm>
            <a:off x="3662280" y="17510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5" name="Rounded Rectangle 10"/>
          <p:cNvSpPr/>
          <p:nvPr/>
        </p:nvSpPr>
        <p:spPr>
          <a:xfrm>
            <a:off x="3611880" y="16916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6" name="Rectangle 11"/>
          <p:cNvSpPr/>
          <p:nvPr/>
        </p:nvSpPr>
        <p:spPr>
          <a:xfrm>
            <a:off x="3721680" y="1783080"/>
            <a:ext cx="220320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TextBox 12"/>
          <p:cNvSpPr/>
          <p:nvPr/>
        </p:nvSpPr>
        <p:spPr>
          <a:xfrm>
            <a:off x="3831480" y="190476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Altitude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Box 13"/>
          <p:cNvSpPr/>
          <p:nvPr/>
        </p:nvSpPr>
        <p:spPr>
          <a:xfrm>
            <a:off x="3831480" y="236916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current drone height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Rounded Rectangle 14"/>
          <p:cNvSpPr/>
          <p:nvPr/>
        </p:nvSpPr>
        <p:spPr>
          <a:xfrm>
            <a:off x="6451200" y="17510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0" name="Rounded Rectangle 15"/>
          <p:cNvSpPr/>
          <p:nvPr/>
        </p:nvSpPr>
        <p:spPr>
          <a:xfrm>
            <a:off x="6400800" y="16916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1" name="Rectangle 16"/>
          <p:cNvSpPr/>
          <p:nvPr/>
        </p:nvSpPr>
        <p:spPr>
          <a:xfrm>
            <a:off x="6510600" y="1783080"/>
            <a:ext cx="2203200" cy="500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2" name="TextBox 17"/>
          <p:cNvSpPr/>
          <p:nvPr/>
        </p:nvSpPr>
        <p:spPr>
          <a:xfrm>
            <a:off x="6620400" y="190476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Speed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Box 18"/>
          <p:cNvSpPr/>
          <p:nvPr/>
        </p:nvSpPr>
        <p:spPr>
          <a:xfrm>
            <a:off x="6620400" y="236916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movement awareness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Rounded Rectangle 19"/>
          <p:cNvSpPr/>
          <p:nvPr/>
        </p:nvSpPr>
        <p:spPr>
          <a:xfrm>
            <a:off x="9240120" y="17510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Rounded Rectangle 20"/>
          <p:cNvSpPr/>
          <p:nvPr/>
        </p:nvSpPr>
        <p:spPr>
          <a:xfrm>
            <a:off x="9189720" y="1691640"/>
            <a:ext cx="2422800" cy="10969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Rectangle 21"/>
          <p:cNvSpPr/>
          <p:nvPr/>
        </p:nvSpPr>
        <p:spPr>
          <a:xfrm>
            <a:off x="9299520" y="1783080"/>
            <a:ext cx="220320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7" name="TextBox 22"/>
          <p:cNvSpPr/>
          <p:nvPr/>
        </p:nvSpPr>
        <p:spPr>
          <a:xfrm>
            <a:off x="9409320" y="190476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Temperature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Box 23"/>
          <p:cNvSpPr/>
          <p:nvPr/>
        </p:nvSpPr>
        <p:spPr>
          <a:xfrm>
            <a:off x="9409320" y="236916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system/thermal signal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Rounded Rectangle 24"/>
          <p:cNvSpPr/>
          <p:nvPr/>
        </p:nvSpPr>
        <p:spPr>
          <a:xfrm>
            <a:off x="1924920" y="39456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Rounded Rectangle 25"/>
          <p:cNvSpPr/>
          <p:nvPr/>
        </p:nvSpPr>
        <p:spPr>
          <a:xfrm>
            <a:off x="1874520" y="38862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1" name="Rectangle 26"/>
          <p:cNvSpPr/>
          <p:nvPr/>
        </p:nvSpPr>
        <p:spPr>
          <a:xfrm>
            <a:off x="1984320" y="3968640"/>
            <a:ext cx="19288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2" name="TextBox 27"/>
          <p:cNvSpPr/>
          <p:nvPr/>
        </p:nvSpPr>
        <p:spPr>
          <a:xfrm>
            <a:off x="2020680" y="4050360"/>
            <a:ext cx="1855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Firestore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Box 28"/>
          <p:cNvSpPr/>
          <p:nvPr/>
        </p:nvSpPr>
        <p:spPr>
          <a:xfrm>
            <a:off x="2057400" y="4388400"/>
            <a:ext cx="1782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drone/status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Rounded Rectangle 29"/>
          <p:cNvSpPr/>
          <p:nvPr/>
        </p:nvSpPr>
        <p:spPr>
          <a:xfrm>
            <a:off x="4851000" y="39456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5" name="Rounded Rectangle 30"/>
          <p:cNvSpPr/>
          <p:nvPr/>
        </p:nvSpPr>
        <p:spPr>
          <a:xfrm>
            <a:off x="4800600" y="38862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6" name="Rectangle 31"/>
          <p:cNvSpPr/>
          <p:nvPr/>
        </p:nvSpPr>
        <p:spPr>
          <a:xfrm>
            <a:off x="4910400" y="3968640"/>
            <a:ext cx="192888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32"/>
          <p:cNvSpPr/>
          <p:nvPr/>
        </p:nvSpPr>
        <p:spPr>
          <a:xfrm>
            <a:off x="4946760" y="4050360"/>
            <a:ext cx="1855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Status Cubit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Box 33"/>
          <p:cNvSpPr/>
          <p:nvPr/>
        </p:nvSpPr>
        <p:spPr>
          <a:xfrm>
            <a:off x="4983480" y="4388400"/>
            <a:ext cx="1782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stream state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Rounded Rectangle 34"/>
          <p:cNvSpPr/>
          <p:nvPr/>
        </p:nvSpPr>
        <p:spPr>
          <a:xfrm>
            <a:off x="7777080" y="39456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0" name="Rounded Rectangle 35"/>
          <p:cNvSpPr/>
          <p:nvPr/>
        </p:nvSpPr>
        <p:spPr>
          <a:xfrm>
            <a:off x="7726680" y="3886200"/>
            <a:ext cx="214848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1" name="Rectangle 36"/>
          <p:cNvSpPr/>
          <p:nvPr/>
        </p:nvSpPr>
        <p:spPr>
          <a:xfrm>
            <a:off x="7836480" y="3968640"/>
            <a:ext cx="192888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2" name="TextBox 37"/>
          <p:cNvSpPr/>
          <p:nvPr/>
        </p:nvSpPr>
        <p:spPr>
          <a:xfrm>
            <a:off x="7872840" y="4050360"/>
            <a:ext cx="1855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UI Widgets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Box 38"/>
          <p:cNvSpPr/>
          <p:nvPr/>
        </p:nvSpPr>
        <p:spPr>
          <a:xfrm>
            <a:off x="7909560" y="4388400"/>
            <a:ext cx="1782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cards + bars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54" name="Connector 39"/>
          <p:cNvCxnSpPr/>
          <p:nvPr/>
        </p:nvCxnSpPr>
        <p:spPr>
          <a:xfrm>
            <a:off x="4023360" y="4297680"/>
            <a:ext cx="77760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655" name="Oval 40"/>
          <p:cNvSpPr/>
          <p:nvPr/>
        </p:nvSpPr>
        <p:spPr>
          <a:xfrm>
            <a:off x="4750200" y="424728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56" name="Connector 41"/>
          <p:cNvCxnSpPr/>
          <p:nvPr/>
        </p:nvCxnSpPr>
        <p:spPr>
          <a:xfrm>
            <a:off x="6949440" y="4297680"/>
            <a:ext cx="777240" cy="360"/>
          </a:xfrm>
          <a:prstGeom prst="straightConnector1">
            <a:avLst/>
          </a:prstGeom>
          <a:ln w="33020">
            <a:solidFill>
              <a:srgbClr val="22c55e"/>
            </a:solidFill>
            <a:round/>
          </a:ln>
        </p:spPr>
      </p:cxnSp>
      <p:sp>
        <p:nvSpPr>
          <p:cNvPr id="657" name="Oval 42"/>
          <p:cNvSpPr/>
          <p:nvPr/>
        </p:nvSpPr>
        <p:spPr>
          <a:xfrm>
            <a:off x="7676280" y="4247280"/>
            <a:ext cx="100080" cy="10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TextBox 43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16/25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Reports &amp; Alerts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1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Incident history for mission awareness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Rounded Rectangle 4"/>
          <p:cNvSpPr/>
          <p:nvPr/>
        </p:nvSpPr>
        <p:spPr>
          <a:xfrm>
            <a:off x="919080" y="17053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3" name="Rounded Rectangle 5"/>
          <p:cNvSpPr/>
          <p:nvPr/>
        </p:nvSpPr>
        <p:spPr>
          <a:xfrm>
            <a:off x="868680" y="16459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4" name="Rectangle 6"/>
          <p:cNvSpPr/>
          <p:nvPr/>
        </p:nvSpPr>
        <p:spPr>
          <a:xfrm>
            <a:off x="978480" y="1737360"/>
            <a:ext cx="275184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5" name="TextBox 7"/>
          <p:cNvSpPr/>
          <p:nvPr/>
        </p:nvSpPr>
        <p:spPr>
          <a:xfrm>
            <a:off x="1088280" y="185904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Human Detected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Box 8"/>
          <p:cNvSpPr/>
          <p:nvPr/>
        </p:nvSpPr>
        <p:spPr>
          <a:xfrm>
            <a:off x="1088280" y="234612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AI or thermal event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Rounded Rectangle 9"/>
          <p:cNvSpPr/>
          <p:nvPr/>
        </p:nvSpPr>
        <p:spPr>
          <a:xfrm>
            <a:off x="4668120" y="17053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8" name="Rounded Rectangle 10"/>
          <p:cNvSpPr/>
          <p:nvPr/>
        </p:nvSpPr>
        <p:spPr>
          <a:xfrm>
            <a:off x="4617720" y="16459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9" name="Rectangle 11"/>
          <p:cNvSpPr/>
          <p:nvPr/>
        </p:nvSpPr>
        <p:spPr>
          <a:xfrm>
            <a:off x="4727520" y="1737360"/>
            <a:ext cx="275184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0" name="TextBox 12"/>
          <p:cNvSpPr/>
          <p:nvPr/>
        </p:nvSpPr>
        <p:spPr>
          <a:xfrm>
            <a:off x="4837320" y="185904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System Overheated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Box 13"/>
          <p:cNvSpPr/>
          <p:nvPr/>
        </p:nvSpPr>
        <p:spPr>
          <a:xfrm>
            <a:off x="4837320" y="234612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temperature warning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Rounded Rectangle 14"/>
          <p:cNvSpPr/>
          <p:nvPr/>
        </p:nvSpPr>
        <p:spPr>
          <a:xfrm>
            <a:off x="8417160" y="17053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3" name="Rounded Rectangle 15"/>
          <p:cNvSpPr/>
          <p:nvPr/>
        </p:nvSpPr>
        <p:spPr>
          <a:xfrm>
            <a:off x="8366760" y="1645920"/>
            <a:ext cx="297144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4" name="Rectangle 16"/>
          <p:cNvSpPr/>
          <p:nvPr/>
        </p:nvSpPr>
        <p:spPr>
          <a:xfrm>
            <a:off x="8476560" y="1737360"/>
            <a:ext cx="275184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5" name="TextBox 17"/>
          <p:cNvSpPr/>
          <p:nvPr/>
        </p:nvSpPr>
        <p:spPr>
          <a:xfrm>
            <a:off x="8586360" y="1859040"/>
            <a:ext cx="2532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Mission Complete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Box 18"/>
          <p:cNvSpPr/>
          <p:nvPr/>
        </p:nvSpPr>
        <p:spPr>
          <a:xfrm>
            <a:off x="8586360" y="2346120"/>
            <a:ext cx="2532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operation event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Rounded Rectangle 19"/>
          <p:cNvSpPr/>
          <p:nvPr/>
        </p:nvSpPr>
        <p:spPr>
          <a:xfrm>
            <a:off x="1193400" y="39456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8" name="Rounded Rectangle 20"/>
          <p:cNvSpPr/>
          <p:nvPr/>
        </p:nvSpPr>
        <p:spPr>
          <a:xfrm>
            <a:off x="1143000" y="38862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" name="Rectangle 21"/>
          <p:cNvSpPr/>
          <p:nvPr/>
        </p:nvSpPr>
        <p:spPr>
          <a:xfrm>
            <a:off x="1252800" y="3968640"/>
            <a:ext cx="215748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0" name="TextBox 22"/>
          <p:cNvSpPr/>
          <p:nvPr/>
        </p:nvSpPr>
        <p:spPr>
          <a:xfrm>
            <a:off x="1289160" y="4050360"/>
            <a:ext cx="20844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Firestore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Box 23"/>
          <p:cNvSpPr/>
          <p:nvPr/>
        </p:nvSpPr>
        <p:spPr>
          <a:xfrm>
            <a:off x="1325880" y="441144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reports/entries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Rounded Rectangle 24"/>
          <p:cNvSpPr/>
          <p:nvPr/>
        </p:nvSpPr>
        <p:spPr>
          <a:xfrm>
            <a:off x="4942440" y="39456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3" name="Rounded Rectangle 25"/>
          <p:cNvSpPr/>
          <p:nvPr/>
        </p:nvSpPr>
        <p:spPr>
          <a:xfrm>
            <a:off x="4892040" y="38862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4" name="Rectangle 26"/>
          <p:cNvSpPr/>
          <p:nvPr/>
        </p:nvSpPr>
        <p:spPr>
          <a:xfrm>
            <a:off x="5001840" y="3968640"/>
            <a:ext cx="215748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5" name="TextBox 27"/>
          <p:cNvSpPr/>
          <p:nvPr/>
        </p:nvSpPr>
        <p:spPr>
          <a:xfrm>
            <a:off x="5038200" y="4050360"/>
            <a:ext cx="20844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Reports Section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Box 28"/>
          <p:cNvSpPr/>
          <p:nvPr/>
        </p:nvSpPr>
        <p:spPr>
          <a:xfrm>
            <a:off x="5074920" y="441144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latest 20 entries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Rounded Rectangle 29"/>
          <p:cNvSpPr/>
          <p:nvPr/>
        </p:nvSpPr>
        <p:spPr>
          <a:xfrm>
            <a:off x="8691480" y="39456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8" name="Rounded Rectangle 30"/>
          <p:cNvSpPr/>
          <p:nvPr/>
        </p:nvSpPr>
        <p:spPr>
          <a:xfrm>
            <a:off x="8641080" y="3886200"/>
            <a:ext cx="237708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9" name="Rectangle 31"/>
          <p:cNvSpPr/>
          <p:nvPr/>
        </p:nvSpPr>
        <p:spPr>
          <a:xfrm>
            <a:off x="8750880" y="3968640"/>
            <a:ext cx="215748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0" name="TextBox 32"/>
          <p:cNvSpPr/>
          <p:nvPr/>
        </p:nvSpPr>
        <p:spPr>
          <a:xfrm>
            <a:off x="8787240" y="4050360"/>
            <a:ext cx="20844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Rescue Team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Box 33"/>
          <p:cNvSpPr/>
          <p:nvPr/>
        </p:nvSpPr>
        <p:spPr>
          <a:xfrm>
            <a:off x="8823960" y="441144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quick review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92" name="Connector 34"/>
          <p:cNvCxnSpPr/>
          <p:nvPr/>
        </p:nvCxnSpPr>
        <p:spPr>
          <a:xfrm>
            <a:off x="3520440" y="4315680"/>
            <a:ext cx="137196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693" name="Oval 35"/>
          <p:cNvSpPr/>
          <p:nvPr/>
        </p:nvSpPr>
        <p:spPr>
          <a:xfrm>
            <a:off x="4841640" y="426564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94" name="Connector 36"/>
          <p:cNvCxnSpPr/>
          <p:nvPr/>
        </p:nvCxnSpPr>
        <p:spPr>
          <a:xfrm>
            <a:off x="7269480" y="4315680"/>
            <a:ext cx="1371960" cy="360"/>
          </a:xfrm>
          <a:prstGeom prst="straightConnector1">
            <a:avLst/>
          </a:prstGeom>
          <a:ln w="33020">
            <a:solidFill>
              <a:srgbClr val="22c55e"/>
            </a:solidFill>
            <a:round/>
          </a:ln>
        </p:spPr>
      </p:cxnSp>
      <p:sp>
        <p:nvSpPr>
          <p:cNvPr id="695" name="Oval 37"/>
          <p:cNvSpPr/>
          <p:nvPr/>
        </p:nvSpPr>
        <p:spPr>
          <a:xfrm>
            <a:off x="8590680" y="4265640"/>
            <a:ext cx="100080" cy="10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6" name="TextBox 38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17/25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Mission Workflow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From planning to active operation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Rounded Rectangle 4"/>
          <p:cNvSpPr/>
          <p:nvPr/>
        </p:nvSpPr>
        <p:spPr>
          <a:xfrm>
            <a:off x="73620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1" name="Rounded Rectangle 5"/>
          <p:cNvSpPr/>
          <p:nvPr/>
        </p:nvSpPr>
        <p:spPr>
          <a:xfrm>
            <a:off x="68580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2" name="Rectangle 6"/>
          <p:cNvSpPr/>
          <p:nvPr/>
        </p:nvSpPr>
        <p:spPr>
          <a:xfrm>
            <a:off x="795600" y="2231280"/>
            <a:ext cx="119736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3" name="TextBox 7"/>
          <p:cNvSpPr/>
          <p:nvPr/>
        </p:nvSpPr>
        <p:spPr>
          <a:xfrm>
            <a:off x="83196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Plan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Box 8"/>
          <p:cNvSpPr/>
          <p:nvPr/>
        </p:nvSpPr>
        <p:spPr>
          <a:xfrm>
            <a:off x="868680" y="2590200"/>
            <a:ext cx="1051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choose target area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05" name="Connector 9"/>
          <p:cNvCxnSpPr/>
          <p:nvPr/>
        </p:nvCxnSpPr>
        <p:spPr>
          <a:xfrm>
            <a:off x="2103120" y="2578320"/>
            <a:ext cx="4575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06" name="Oval 10"/>
          <p:cNvSpPr/>
          <p:nvPr/>
        </p:nvSpPr>
        <p:spPr>
          <a:xfrm>
            <a:off x="2509920" y="252828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7" name="Rounded Rectangle 11"/>
          <p:cNvSpPr/>
          <p:nvPr/>
        </p:nvSpPr>
        <p:spPr>
          <a:xfrm>
            <a:off x="261072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8" name="Rounded Rectangle 12"/>
          <p:cNvSpPr/>
          <p:nvPr/>
        </p:nvSpPr>
        <p:spPr>
          <a:xfrm>
            <a:off x="256032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Rectangle 13"/>
          <p:cNvSpPr/>
          <p:nvPr/>
        </p:nvSpPr>
        <p:spPr>
          <a:xfrm>
            <a:off x="2670120" y="2231280"/>
            <a:ext cx="119736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TextBox 14"/>
          <p:cNvSpPr/>
          <p:nvPr/>
        </p:nvSpPr>
        <p:spPr>
          <a:xfrm>
            <a:off x="270648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Start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Box 15"/>
          <p:cNvSpPr/>
          <p:nvPr/>
        </p:nvSpPr>
        <p:spPr>
          <a:xfrm>
            <a:off x="2743200" y="2506320"/>
            <a:ext cx="10512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send start_mission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12" name="Connector 16"/>
          <p:cNvCxnSpPr/>
          <p:nvPr/>
        </p:nvCxnSpPr>
        <p:spPr>
          <a:xfrm>
            <a:off x="3977280" y="2578320"/>
            <a:ext cx="4579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13" name="Oval 17"/>
          <p:cNvSpPr/>
          <p:nvPr/>
        </p:nvSpPr>
        <p:spPr>
          <a:xfrm>
            <a:off x="4384440" y="252828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Rounded Rectangle 18"/>
          <p:cNvSpPr/>
          <p:nvPr/>
        </p:nvSpPr>
        <p:spPr>
          <a:xfrm>
            <a:off x="448524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5" name="Rounded Rectangle 19"/>
          <p:cNvSpPr/>
          <p:nvPr/>
        </p:nvSpPr>
        <p:spPr>
          <a:xfrm>
            <a:off x="443484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6" name="Rectangle 20"/>
          <p:cNvSpPr/>
          <p:nvPr/>
        </p:nvSpPr>
        <p:spPr>
          <a:xfrm>
            <a:off x="4544640" y="2231280"/>
            <a:ext cx="119736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7" name="TextBox 21"/>
          <p:cNvSpPr/>
          <p:nvPr/>
        </p:nvSpPr>
        <p:spPr>
          <a:xfrm>
            <a:off x="458100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Monitor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Box 22"/>
          <p:cNvSpPr/>
          <p:nvPr/>
        </p:nvSpPr>
        <p:spPr>
          <a:xfrm>
            <a:off x="4617720" y="2590200"/>
            <a:ext cx="1051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map + telemetry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19" name="Connector 23"/>
          <p:cNvCxnSpPr/>
          <p:nvPr/>
        </p:nvCxnSpPr>
        <p:spPr>
          <a:xfrm>
            <a:off x="5851800" y="2578320"/>
            <a:ext cx="4575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20" name="Oval 24"/>
          <p:cNvSpPr/>
          <p:nvPr/>
        </p:nvSpPr>
        <p:spPr>
          <a:xfrm>
            <a:off x="6258960" y="252828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1" name="Rounded Rectangle 25"/>
          <p:cNvSpPr/>
          <p:nvPr/>
        </p:nvSpPr>
        <p:spPr>
          <a:xfrm>
            <a:off x="635976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2" name="Rounded Rectangle 26"/>
          <p:cNvSpPr/>
          <p:nvPr/>
        </p:nvSpPr>
        <p:spPr>
          <a:xfrm>
            <a:off x="630936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3" name="Rectangle 27"/>
          <p:cNvSpPr/>
          <p:nvPr/>
        </p:nvSpPr>
        <p:spPr>
          <a:xfrm>
            <a:off x="6419160" y="2231280"/>
            <a:ext cx="1197360" cy="4068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4" name="TextBox 28"/>
          <p:cNvSpPr/>
          <p:nvPr/>
        </p:nvSpPr>
        <p:spPr>
          <a:xfrm>
            <a:off x="645552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Detect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Box 29"/>
          <p:cNvSpPr/>
          <p:nvPr/>
        </p:nvSpPr>
        <p:spPr>
          <a:xfrm>
            <a:off x="6492240" y="2674080"/>
            <a:ext cx="1051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AI alerts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26" name="Connector 30"/>
          <p:cNvCxnSpPr/>
          <p:nvPr/>
        </p:nvCxnSpPr>
        <p:spPr>
          <a:xfrm>
            <a:off x="7726320" y="2578320"/>
            <a:ext cx="4575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27" name="Oval 31"/>
          <p:cNvSpPr/>
          <p:nvPr/>
        </p:nvSpPr>
        <p:spPr>
          <a:xfrm>
            <a:off x="8133480" y="252828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8" name="Rounded Rectangle 32"/>
          <p:cNvSpPr/>
          <p:nvPr/>
        </p:nvSpPr>
        <p:spPr>
          <a:xfrm>
            <a:off x="823428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9" name="Rounded Rectangle 33"/>
          <p:cNvSpPr/>
          <p:nvPr/>
        </p:nvSpPr>
        <p:spPr>
          <a:xfrm>
            <a:off x="818388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0" name="Rectangle 34"/>
          <p:cNvSpPr/>
          <p:nvPr/>
        </p:nvSpPr>
        <p:spPr>
          <a:xfrm>
            <a:off x="8293680" y="2231280"/>
            <a:ext cx="119736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1" name="TextBox 35"/>
          <p:cNvSpPr/>
          <p:nvPr/>
        </p:nvSpPr>
        <p:spPr>
          <a:xfrm>
            <a:off x="833004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Control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Box 36"/>
          <p:cNvSpPr/>
          <p:nvPr/>
        </p:nvSpPr>
        <p:spPr>
          <a:xfrm>
            <a:off x="8366760" y="2590200"/>
            <a:ext cx="1051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joystick commands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33" name="Connector 37"/>
          <p:cNvCxnSpPr/>
          <p:nvPr/>
        </p:nvCxnSpPr>
        <p:spPr>
          <a:xfrm>
            <a:off x="9601200" y="2578320"/>
            <a:ext cx="4575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34" name="Oval 38"/>
          <p:cNvSpPr/>
          <p:nvPr/>
        </p:nvSpPr>
        <p:spPr>
          <a:xfrm>
            <a:off x="10008000" y="252828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5" name="Rounded Rectangle 39"/>
          <p:cNvSpPr/>
          <p:nvPr/>
        </p:nvSpPr>
        <p:spPr>
          <a:xfrm>
            <a:off x="10108800" y="22082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6" name="Rounded Rectangle 40"/>
          <p:cNvSpPr/>
          <p:nvPr/>
        </p:nvSpPr>
        <p:spPr>
          <a:xfrm>
            <a:off x="10058400" y="21488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7" name="Rectangle 41"/>
          <p:cNvSpPr/>
          <p:nvPr/>
        </p:nvSpPr>
        <p:spPr>
          <a:xfrm>
            <a:off x="10168200" y="2231280"/>
            <a:ext cx="1197360" cy="406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8" name="TextBox 42"/>
          <p:cNvSpPr/>
          <p:nvPr/>
        </p:nvSpPr>
        <p:spPr>
          <a:xfrm>
            <a:off x="10204560" y="2313000"/>
            <a:ext cx="11242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Review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Box 43"/>
          <p:cNvSpPr/>
          <p:nvPr/>
        </p:nvSpPr>
        <p:spPr>
          <a:xfrm>
            <a:off x="10241280" y="2674080"/>
            <a:ext cx="1051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reports log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Oval 44"/>
          <p:cNvSpPr/>
          <p:nvPr/>
        </p:nvSpPr>
        <p:spPr>
          <a:xfrm>
            <a:off x="1005840" y="450792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1" name="TextBox 45"/>
          <p:cNvSpPr/>
          <p:nvPr/>
        </p:nvSpPr>
        <p:spPr>
          <a:xfrm>
            <a:off x="1207080" y="443484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The current app already sends start_mission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Oval 46"/>
          <p:cNvSpPr/>
          <p:nvPr/>
        </p:nvSpPr>
        <p:spPr>
          <a:xfrm>
            <a:off x="1005840" y="49104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3" name="TextBox 47"/>
          <p:cNvSpPr/>
          <p:nvPr/>
        </p:nvSpPr>
        <p:spPr>
          <a:xfrm>
            <a:off x="1207080" y="483732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Mission planner can later add routes, zones, and waypoints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Box 48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18/25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Video Feed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7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Normal, Thermal, AI Overlay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Rounded Rectangle 4"/>
          <p:cNvSpPr/>
          <p:nvPr/>
        </p:nvSpPr>
        <p:spPr>
          <a:xfrm>
            <a:off x="868680" y="1508760"/>
            <a:ext cx="6491880" cy="4343040"/>
          </a:xfrm>
          <a:prstGeom prst="roundRect">
            <a:avLst>
              <a:gd name="adj" fmla="val 16667"/>
            </a:avLst>
          </a:prstGeom>
          <a:solidFill>
            <a:srgbClr val="0a1924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49" name="Connector 5"/>
          <p:cNvCxnSpPr/>
          <p:nvPr/>
        </p:nvCxnSpPr>
        <p:spPr>
          <a:xfrm>
            <a:off x="960120" y="1965960"/>
            <a:ext cx="6309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50" name="Connector 6"/>
          <p:cNvCxnSpPr/>
          <p:nvPr/>
        </p:nvCxnSpPr>
        <p:spPr>
          <a:xfrm>
            <a:off x="960120" y="2377440"/>
            <a:ext cx="6309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51" name="Connector 7"/>
          <p:cNvCxnSpPr/>
          <p:nvPr/>
        </p:nvCxnSpPr>
        <p:spPr>
          <a:xfrm>
            <a:off x="960120" y="2788920"/>
            <a:ext cx="6309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52" name="Connector 8"/>
          <p:cNvCxnSpPr/>
          <p:nvPr/>
        </p:nvCxnSpPr>
        <p:spPr>
          <a:xfrm>
            <a:off x="960120" y="3200400"/>
            <a:ext cx="6309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53" name="Rectangle 9"/>
          <p:cNvSpPr/>
          <p:nvPr/>
        </p:nvSpPr>
        <p:spPr>
          <a:xfrm>
            <a:off x="4504320" y="2681640"/>
            <a:ext cx="1427760" cy="2084400"/>
          </a:xfrm>
          <a:prstGeom prst="rect">
            <a:avLst/>
          </a:prstGeom>
          <a:noFill/>
          <a:ln w="2794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4" name="TextBox 10"/>
          <p:cNvSpPr/>
          <p:nvPr/>
        </p:nvSpPr>
        <p:spPr>
          <a:xfrm>
            <a:off x="4439520" y="2333880"/>
            <a:ext cx="1817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5252"/>
                </a:solidFill>
                <a:latin typeface="Aptos"/>
              </a:rPr>
              <a:t>human 92%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Rounded Rectangle 11"/>
          <p:cNvSpPr/>
          <p:nvPr/>
        </p:nvSpPr>
        <p:spPr>
          <a:xfrm>
            <a:off x="7959960" y="175104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6" name="Rounded Rectangle 12"/>
          <p:cNvSpPr/>
          <p:nvPr/>
        </p:nvSpPr>
        <p:spPr>
          <a:xfrm>
            <a:off x="7909560" y="169164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7" name="Rectangle 13"/>
          <p:cNvSpPr/>
          <p:nvPr/>
        </p:nvSpPr>
        <p:spPr>
          <a:xfrm>
            <a:off x="8019360" y="1783080"/>
            <a:ext cx="234036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8" name="TextBox 14"/>
          <p:cNvSpPr/>
          <p:nvPr/>
        </p:nvSpPr>
        <p:spPr>
          <a:xfrm>
            <a:off x="8129160" y="1904760"/>
            <a:ext cx="2121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Normal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Box 15"/>
          <p:cNvSpPr/>
          <p:nvPr/>
        </p:nvSpPr>
        <p:spPr>
          <a:xfrm>
            <a:off x="8129160" y="224136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raw camera view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Rounded Rectangle 16"/>
          <p:cNvSpPr/>
          <p:nvPr/>
        </p:nvSpPr>
        <p:spPr>
          <a:xfrm>
            <a:off x="7959960" y="284832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1" name="Rounded Rectangle 17"/>
          <p:cNvSpPr/>
          <p:nvPr/>
        </p:nvSpPr>
        <p:spPr>
          <a:xfrm>
            <a:off x="7909560" y="278892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2" name="Rectangle 18"/>
          <p:cNvSpPr/>
          <p:nvPr/>
        </p:nvSpPr>
        <p:spPr>
          <a:xfrm>
            <a:off x="8019360" y="2880360"/>
            <a:ext cx="234036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3" name="TextBox 19"/>
          <p:cNvSpPr/>
          <p:nvPr/>
        </p:nvSpPr>
        <p:spPr>
          <a:xfrm>
            <a:off x="8129160" y="3002040"/>
            <a:ext cx="2121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Thermal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Box 20"/>
          <p:cNvSpPr/>
          <p:nvPr/>
        </p:nvSpPr>
        <p:spPr>
          <a:xfrm>
            <a:off x="8129160" y="333864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heat-focused mode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Rounded Rectangle 21"/>
          <p:cNvSpPr/>
          <p:nvPr/>
        </p:nvSpPr>
        <p:spPr>
          <a:xfrm>
            <a:off x="7959960" y="394560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6" name="Rounded Rectangle 22"/>
          <p:cNvSpPr/>
          <p:nvPr/>
        </p:nvSpPr>
        <p:spPr>
          <a:xfrm>
            <a:off x="7909560" y="3886200"/>
            <a:ext cx="2559960" cy="84096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7" name="Rectangle 23"/>
          <p:cNvSpPr/>
          <p:nvPr/>
        </p:nvSpPr>
        <p:spPr>
          <a:xfrm>
            <a:off x="8019360" y="3977640"/>
            <a:ext cx="234036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8" name="TextBox 24"/>
          <p:cNvSpPr/>
          <p:nvPr/>
        </p:nvSpPr>
        <p:spPr>
          <a:xfrm>
            <a:off x="8129160" y="4099320"/>
            <a:ext cx="2121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AI Overlay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TextBox 25"/>
          <p:cNvSpPr/>
          <p:nvPr/>
        </p:nvSpPr>
        <p:spPr>
          <a:xfrm>
            <a:off x="8129160" y="443592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boxes + confidence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TextBox 26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19/25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Drone Control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3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Virtual joystick command flow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Rounded Rectangle 4"/>
          <p:cNvSpPr/>
          <p:nvPr/>
        </p:nvSpPr>
        <p:spPr>
          <a:xfrm>
            <a:off x="868680" y="1417320"/>
            <a:ext cx="2422800" cy="4571640"/>
          </a:xfrm>
          <a:prstGeom prst="roundRect">
            <a:avLst>
              <a:gd name="adj" fmla="val 16667"/>
            </a:avLst>
          </a:prstGeom>
          <a:solidFill>
            <a:srgbClr val="05080e"/>
          </a:solidFill>
          <a:ln>
            <a:solidFill>
              <a:srgbClr val="5365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5" name="Rounded Rectangle 5"/>
          <p:cNvSpPr/>
          <p:nvPr/>
        </p:nvSpPr>
        <p:spPr>
          <a:xfrm>
            <a:off x="987480" y="1618560"/>
            <a:ext cx="2185200" cy="4169160"/>
          </a:xfrm>
          <a:prstGeom prst="roundRect">
            <a:avLst>
              <a:gd name="adj" fmla="val 16667"/>
            </a:avLst>
          </a:prstGeom>
          <a:solidFill>
            <a:srgbClr val="0c14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6" name="Rounded Rectangle 6"/>
          <p:cNvSpPr/>
          <p:nvPr/>
        </p:nvSpPr>
        <p:spPr>
          <a:xfrm>
            <a:off x="1124640" y="1874520"/>
            <a:ext cx="1910880" cy="3657240"/>
          </a:xfrm>
          <a:prstGeom prst="roundRect">
            <a:avLst>
              <a:gd name="adj" fmla="val 16667"/>
            </a:avLst>
          </a:prstGeom>
          <a:solidFill>
            <a:srgbClr val="0a1924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77" name="Connector 7"/>
          <p:cNvCxnSpPr/>
          <p:nvPr/>
        </p:nvCxnSpPr>
        <p:spPr>
          <a:xfrm>
            <a:off x="1216080" y="2331720"/>
            <a:ext cx="1728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78" name="Connector 8"/>
          <p:cNvCxnSpPr/>
          <p:nvPr/>
        </p:nvCxnSpPr>
        <p:spPr>
          <a:xfrm>
            <a:off x="1216080" y="2743200"/>
            <a:ext cx="1728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79" name="Connector 9"/>
          <p:cNvCxnSpPr/>
          <p:nvPr/>
        </p:nvCxnSpPr>
        <p:spPr>
          <a:xfrm>
            <a:off x="1216080" y="3154320"/>
            <a:ext cx="1728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780" name="Connector 10"/>
          <p:cNvCxnSpPr/>
          <p:nvPr/>
        </p:nvCxnSpPr>
        <p:spPr>
          <a:xfrm>
            <a:off x="1216080" y="3566160"/>
            <a:ext cx="17283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781" name="Rectangle 11"/>
          <p:cNvSpPr/>
          <p:nvPr/>
        </p:nvSpPr>
        <p:spPr>
          <a:xfrm>
            <a:off x="2194920" y="2862000"/>
            <a:ext cx="420120" cy="1755360"/>
          </a:xfrm>
          <a:prstGeom prst="rect">
            <a:avLst/>
          </a:prstGeom>
          <a:noFill/>
          <a:ln w="2794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2" name="TextBox 12"/>
          <p:cNvSpPr/>
          <p:nvPr/>
        </p:nvSpPr>
        <p:spPr>
          <a:xfrm>
            <a:off x="2175840" y="2569320"/>
            <a:ext cx="534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5252"/>
                </a:solidFill>
                <a:latin typeface="Aptos"/>
              </a:rPr>
              <a:t>human 92%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Rounded Rectangle 13"/>
          <p:cNvSpPr/>
          <p:nvPr/>
        </p:nvSpPr>
        <p:spPr>
          <a:xfrm>
            <a:off x="4028040" y="19796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4" name="Rounded Rectangle 14"/>
          <p:cNvSpPr/>
          <p:nvPr/>
        </p:nvSpPr>
        <p:spPr>
          <a:xfrm>
            <a:off x="3977640" y="19202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5" name="Rectangle 15"/>
          <p:cNvSpPr/>
          <p:nvPr/>
        </p:nvSpPr>
        <p:spPr>
          <a:xfrm>
            <a:off x="4087440" y="2002680"/>
            <a:ext cx="170028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6" name="TextBox 16"/>
          <p:cNvSpPr/>
          <p:nvPr/>
        </p:nvSpPr>
        <p:spPr>
          <a:xfrm>
            <a:off x="4123800" y="208440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Joystick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Box 17"/>
          <p:cNvSpPr/>
          <p:nvPr/>
        </p:nvSpPr>
        <p:spPr>
          <a:xfrm>
            <a:off x="4160520" y="239976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x/y offset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Rounded Rectangle 18"/>
          <p:cNvSpPr/>
          <p:nvPr/>
        </p:nvSpPr>
        <p:spPr>
          <a:xfrm>
            <a:off x="6542640" y="19796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9" name="Rounded Rectangle 19"/>
          <p:cNvSpPr/>
          <p:nvPr/>
        </p:nvSpPr>
        <p:spPr>
          <a:xfrm>
            <a:off x="6492240" y="19202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0" name="Rectangle 20"/>
          <p:cNvSpPr/>
          <p:nvPr/>
        </p:nvSpPr>
        <p:spPr>
          <a:xfrm>
            <a:off x="6602040" y="2002680"/>
            <a:ext cx="170028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1" name="TextBox 21"/>
          <p:cNvSpPr/>
          <p:nvPr/>
        </p:nvSpPr>
        <p:spPr>
          <a:xfrm>
            <a:off x="6638400" y="208440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WebSocket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Box 22"/>
          <p:cNvSpPr/>
          <p:nvPr/>
        </p:nvSpPr>
        <p:spPr>
          <a:xfrm>
            <a:off x="6675120" y="239976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/ws/commands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Rounded Rectangle 23"/>
          <p:cNvSpPr/>
          <p:nvPr/>
        </p:nvSpPr>
        <p:spPr>
          <a:xfrm>
            <a:off x="9057240" y="19796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4" name="Rounded Rectangle 24"/>
          <p:cNvSpPr/>
          <p:nvPr/>
        </p:nvSpPr>
        <p:spPr>
          <a:xfrm>
            <a:off x="9006840" y="192024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5" name="Rectangle 25"/>
          <p:cNvSpPr/>
          <p:nvPr/>
        </p:nvSpPr>
        <p:spPr>
          <a:xfrm>
            <a:off x="9116640" y="2002680"/>
            <a:ext cx="170028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6" name="TextBox 26"/>
          <p:cNvSpPr/>
          <p:nvPr/>
        </p:nvSpPr>
        <p:spPr>
          <a:xfrm>
            <a:off x="9153000" y="2084400"/>
            <a:ext cx="16272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Server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Box 27"/>
          <p:cNvSpPr/>
          <p:nvPr/>
        </p:nvSpPr>
        <p:spPr>
          <a:xfrm>
            <a:off x="9189720" y="2399760"/>
            <a:ext cx="1554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handle command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98" name="Connector 28"/>
          <p:cNvCxnSpPr/>
          <p:nvPr/>
        </p:nvCxnSpPr>
        <p:spPr>
          <a:xfrm>
            <a:off x="5897880" y="2304000"/>
            <a:ext cx="59472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799" name="Oval 29"/>
          <p:cNvSpPr/>
          <p:nvPr/>
        </p:nvSpPr>
        <p:spPr>
          <a:xfrm>
            <a:off x="6441840" y="225396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00" name="Connector 30"/>
          <p:cNvCxnSpPr/>
          <p:nvPr/>
        </p:nvCxnSpPr>
        <p:spPr>
          <a:xfrm>
            <a:off x="8412480" y="2304000"/>
            <a:ext cx="594720" cy="360"/>
          </a:xfrm>
          <a:prstGeom prst="straightConnector1">
            <a:avLst/>
          </a:prstGeom>
          <a:ln w="33020">
            <a:solidFill>
              <a:srgbClr val="a855f7"/>
            </a:solidFill>
            <a:round/>
          </a:ln>
        </p:spPr>
      </p:cxnSp>
      <p:sp>
        <p:nvSpPr>
          <p:cNvPr id="801" name="Oval 31"/>
          <p:cNvSpPr/>
          <p:nvPr/>
        </p:nvSpPr>
        <p:spPr>
          <a:xfrm>
            <a:off x="8956440" y="2253960"/>
            <a:ext cx="100080" cy="100080"/>
          </a:xfrm>
          <a:prstGeom prst="ellipse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2" name="Oval 32"/>
          <p:cNvSpPr/>
          <p:nvPr/>
        </p:nvSpPr>
        <p:spPr>
          <a:xfrm>
            <a:off x="4069080" y="39592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3" name="TextBox 33"/>
          <p:cNvSpPr/>
          <p:nvPr/>
        </p:nvSpPr>
        <p:spPr>
          <a:xfrm>
            <a:off x="4270320" y="388620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move: x/y direction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Oval 34"/>
          <p:cNvSpPr/>
          <p:nvPr/>
        </p:nvSpPr>
        <p:spPr>
          <a:xfrm>
            <a:off x="4069080" y="436176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5" name="TextBox 35"/>
          <p:cNvSpPr/>
          <p:nvPr/>
        </p:nvSpPr>
        <p:spPr>
          <a:xfrm>
            <a:off x="4270320" y="428868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neutral command on release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Oval 36"/>
          <p:cNvSpPr/>
          <p:nvPr/>
        </p:nvSpPr>
        <p:spPr>
          <a:xfrm>
            <a:off x="4069080" y="47638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7" name="TextBox 37"/>
          <p:cNvSpPr/>
          <p:nvPr/>
        </p:nvSpPr>
        <p:spPr>
          <a:xfrm>
            <a:off x="4270320" y="4690800"/>
            <a:ext cx="987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4faff"/>
                </a:solidFill>
                <a:latin typeface="Aptos"/>
              </a:rPr>
              <a:t>ready for land / return / stop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Box 38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20/25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Hardware Layer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1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Drone onboard module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Rounded Rectangle 4"/>
          <p:cNvSpPr/>
          <p:nvPr/>
        </p:nvSpPr>
        <p:spPr>
          <a:xfrm>
            <a:off x="964800" y="19339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3" name="Rounded Rectangle 5"/>
          <p:cNvSpPr/>
          <p:nvPr/>
        </p:nvSpPr>
        <p:spPr>
          <a:xfrm>
            <a:off x="914400" y="18745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4" name="Rectangle 6"/>
          <p:cNvSpPr/>
          <p:nvPr/>
        </p:nvSpPr>
        <p:spPr>
          <a:xfrm>
            <a:off x="1024200" y="1956960"/>
            <a:ext cx="183744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5" name="TextBox 7"/>
          <p:cNvSpPr/>
          <p:nvPr/>
        </p:nvSpPr>
        <p:spPr>
          <a:xfrm>
            <a:off x="1060560" y="203868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GPS Module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Box 8"/>
          <p:cNvSpPr/>
          <p:nvPr/>
        </p:nvSpPr>
        <p:spPr>
          <a:xfrm>
            <a:off x="1097280" y="2468160"/>
            <a:ext cx="169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live location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Rounded Rectangle 9"/>
          <p:cNvSpPr/>
          <p:nvPr/>
        </p:nvSpPr>
        <p:spPr>
          <a:xfrm>
            <a:off x="3708000" y="19339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8" name="Rounded Rectangle 10"/>
          <p:cNvSpPr/>
          <p:nvPr/>
        </p:nvSpPr>
        <p:spPr>
          <a:xfrm>
            <a:off x="3657600" y="18745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9" name="Rectangle 11"/>
          <p:cNvSpPr/>
          <p:nvPr/>
        </p:nvSpPr>
        <p:spPr>
          <a:xfrm>
            <a:off x="3767400" y="1956960"/>
            <a:ext cx="183744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0" name="TextBox 12"/>
          <p:cNvSpPr/>
          <p:nvPr/>
        </p:nvSpPr>
        <p:spPr>
          <a:xfrm>
            <a:off x="3803760" y="203868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Camera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Box 13"/>
          <p:cNvSpPr/>
          <p:nvPr/>
        </p:nvSpPr>
        <p:spPr>
          <a:xfrm>
            <a:off x="3840480" y="2468160"/>
            <a:ext cx="169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video frames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Rounded Rectangle 14"/>
          <p:cNvSpPr/>
          <p:nvPr/>
        </p:nvSpPr>
        <p:spPr>
          <a:xfrm>
            <a:off x="6451200" y="19339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3" name="Rounded Rectangle 15"/>
          <p:cNvSpPr/>
          <p:nvPr/>
        </p:nvSpPr>
        <p:spPr>
          <a:xfrm>
            <a:off x="6400800" y="18745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Rectangle 16"/>
          <p:cNvSpPr/>
          <p:nvPr/>
        </p:nvSpPr>
        <p:spPr>
          <a:xfrm>
            <a:off x="6510600" y="1956960"/>
            <a:ext cx="183744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5" name="TextBox 17"/>
          <p:cNvSpPr/>
          <p:nvPr/>
        </p:nvSpPr>
        <p:spPr>
          <a:xfrm>
            <a:off x="6546960" y="203868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Sensors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Box 18"/>
          <p:cNvSpPr/>
          <p:nvPr/>
        </p:nvSpPr>
        <p:spPr>
          <a:xfrm>
            <a:off x="6583680" y="2468160"/>
            <a:ext cx="169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battery/temp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Rounded Rectangle 19"/>
          <p:cNvSpPr/>
          <p:nvPr/>
        </p:nvSpPr>
        <p:spPr>
          <a:xfrm>
            <a:off x="9194400" y="19339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8" name="Rounded Rectangle 20"/>
          <p:cNvSpPr/>
          <p:nvPr/>
        </p:nvSpPr>
        <p:spPr>
          <a:xfrm>
            <a:off x="9144000" y="18745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9" name="Rectangle 21"/>
          <p:cNvSpPr/>
          <p:nvPr/>
        </p:nvSpPr>
        <p:spPr>
          <a:xfrm>
            <a:off x="9253800" y="1956960"/>
            <a:ext cx="1837440" cy="406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0" name="TextBox 22"/>
          <p:cNvSpPr/>
          <p:nvPr/>
        </p:nvSpPr>
        <p:spPr>
          <a:xfrm>
            <a:off x="9290160" y="2038680"/>
            <a:ext cx="1764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Raspberry Pi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Box 23"/>
          <p:cNvSpPr/>
          <p:nvPr/>
        </p:nvSpPr>
        <p:spPr>
          <a:xfrm>
            <a:off x="9326880" y="2468160"/>
            <a:ext cx="1691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data relay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32" name="Connector 24"/>
          <p:cNvCxnSpPr/>
          <p:nvPr/>
        </p:nvCxnSpPr>
        <p:spPr>
          <a:xfrm>
            <a:off x="2971800" y="2377440"/>
            <a:ext cx="6861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833" name="Oval 25"/>
          <p:cNvSpPr/>
          <p:nvPr/>
        </p:nvSpPr>
        <p:spPr>
          <a:xfrm>
            <a:off x="3607200" y="232704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34" name="Connector 26"/>
          <p:cNvCxnSpPr/>
          <p:nvPr/>
        </p:nvCxnSpPr>
        <p:spPr>
          <a:xfrm>
            <a:off x="5715000" y="2377440"/>
            <a:ext cx="6861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835" name="Oval 27"/>
          <p:cNvSpPr/>
          <p:nvPr/>
        </p:nvSpPr>
        <p:spPr>
          <a:xfrm>
            <a:off x="6350400" y="232704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36" name="Connector 28"/>
          <p:cNvCxnSpPr/>
          <p:nvPr/>
        </p:nvCxnSpPr>
        <p:spPr>
          <a:xfrm>
            <a:off x="8458200" y="2377440"/>
            <a:ext cx="68616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837" name="Oval 29"/>
          <p:cNvSpPr/>
          <p:nvPr/>
        </p:nvSpPr>
        <p:spPr>
          <a:xfrm>
            <a:off x="9093600" y="2327040"/>
            <a:ext cx="100080" cy="100080"/>
          </a:xfrm>
          <a:prstGeom prst="ellipse">
            <a:avLst/>
          </a:prstGeom>
          <a:solidFill>
            <a:srgbClr val="5365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8" name="Oval 30"/>
          <p:cNvSpPr/>
          <p:nvPr/>
        </p:nvSpPr>
        <p:spPr>
          <a:xfrm>
            <a:off x="1051560" y="414216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9" name="TextBox 31"/>
          <p:cNvSpPr/>
          <p:nvPr/>
        </p:nvSpPr>
        <p:spPr>
          <a:xfrm>
            <a:off x="1252800" y="4069080"/>
            <a:ext cx="98751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4faff"/>
                </a:solidFill>
                <a:latin typeface="Aptos"/>
              </a:rPr>
              <a:t>Writes location/status to Firebase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Oval 32"/>
          <p:cNvSpPr/>
          <p:nvPr/>
        </p:nvSpPr>
        <p:spPr>
          <a:xfrm>
            <a:off x="1051560" y="454464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1" name="TextBox 33"/>
          <p:cNvSpPr/>
          <p:nvPr/>
        </p:nvSpPr>
        <p:spPr>
          <a:xfrm>
            <a:off x="1252800" y="4471560"/>
            <a:ext cx="98751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4faff"/>
                </a:solidFill>
                <a:latin typeface="Aptos"/>
              </a:rPr>
              <a:t>Streams camera frames to laptop server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Oval 34"/>
          <p:cNvSpPr/>
          <p:nvPr/>
        </p:nvSpPr>
        <p:spPr>
          <a:xfrm>
            <a:off x="1051560" y="494676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3" name="TextBox 35"/>
          <p:cNvSpPr/>
          <p:nvPr/>
        </p:nvSpPr>
        <p:spPr>
          <a:xfrm>
            <a:off x="1252800" y="4873680"/>
            <a:ext cx="98751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4faff"/>
                </a:solidFill>
                <a:latin typeface="Aptos"/>
              </a:rPr>
              <a:t>Ready for thermal camera integration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Box 36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21/25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Backend Server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7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FastAPI middleware on laptop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Rounded Rectangle 4"/>
          <p:cNvSpPr/>
          <p:nvPr/>
        </p:nvSpPr>
        <p:spPr>
          <a:xfrm>
            <a:off x="781920" y="18882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9" name="Rounded Rectangle 5"/>
          <p:cNvSpPr/>
          <p:nvPr/>
        </p:nvSpPr>
        <p:spPr>
          <a:xfrm>
            <a:off x="731520" y="18288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0" name="Rectangle 6"/>
          <p:cNvSpPr/>
          <p:nvPr/>
        </p:nvSpPr>
        <p:spPr>
          <a:xfrm>
            <a:off x="841320" y="1911240"/>
            <a:ext cx="160884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1" name="TextBox 7"/>
          <p:cNvSpPr/>
          <p:nvPr/>
        </p:nvSpPr>
        <p:spPr>
          <a:xfrm>
            <a:off x="877680" y="1863360"/>
            <a:ext cx="15357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TCP Receiver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TextBox 8"/>
          <p:cNvSpPr/>
          <p:nvPr/>
        </p:nvSpPr>
        <p:spPr>
          <a:xfrm>
            <a:off x="914400" y="2331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frames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Rounded Rectangle 9"/>
          <p:cNvSpPr/>
          <p:nvPr/>
        </p:nvSpPr>
        <p:spPr>
          <a:xfrm>
            <a:off x="3022200" y="18882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4" name="Rounded Rectangle 10"/>
          <p:cNvSpPr/>
          <p:nvPr/>
        </p:nvSpPr>
        <p:spPr>
          <a:xfrm>
            <a:off x="2971800" y="18288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5" name="Rectangle 11"/>
          <p:cNvSpPr/>
          <p:nvPr/>
        </p:nvSpPr>
        <p:spPr>
          <a:xfrm>
            <a:off x="3081600" y="1911240"/>
            <a:ext cx="1608840" cy="406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6" name="TextBox 12"/>
          <p:cNvSpPr/>
          <p:nvPr/>
        </p:nvSpPr>
        <p:spPr>
          <a:xfrm>
            <a:off x="3117960" y="199296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Queue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Box 13"/>
          <p:cNvSpPr/>
          <p:nvPr/>
        </p:nvSpPr>
        <p:spPr>
          <a:xfrm>
            <a:off x="3154680" y="2331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async buffer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Rounded Rectangle 14"/>
          <p:cNvSpPr/>
          <p:nvPr/>
        </p:nvSpPr>
        <p:spPr>
          <a:xfrm>
            <a:off x="5262480" y="18882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9" name="Rounded Rectangle 15"/>
          <p:cNvSpPr/>
          <p:nvPr/>
        </p:nvSpPr>
        <p:spPr>
          <a:xfrm>
            <a:off x="5212080" y="18288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0" name="Rectangle 16"/>
          <p:cNvSpPr/>
          <p:nvPr/>
        </p:nvSpPr>
        <p:spPr>
          <a:xfrm>
            <a:off x="5321880" y="1911240"/>
            <a:ext cx="1608840" cy="4068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1" name="TextBox 17"/>
          <p:cNvSpPr/>
          <p:nvPr/>
        </p:nvSpPr>
        <p:spPr>
          <a:xfrm>
            <a:off x="5358240" y="199296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AI Pipeline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Box 18"/>
          <p:cNvSpPr/>
          <p:nvPr/>
        </p:nvSpPr>
        <p:spPr>
          <a:xfrm>
            <a:off x="5394960" y="2331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detect + draw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Rounded Rectangle 19"/>
          <p:cNvSpPr/>
          <p:nvPr/>
        </p:nvSpPr>
        <p:spPr>
          <a:xfrm>
            <a:off x="7502760" y="18882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4" name="Rounded Rectangle 20"/>
          <p:cNvSpPr/>
          <p:nvPr/>
        </p:nvSpPr>
        <p:spPr>
          <a:xfrm>
            <a:off x="7452360" y="18288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5" name="Rectangle 21"/>
          <p:cNvSpPr/>
          <p:nvPr/>
        </p:nvSpPr>
        <p:spPr>
          <a:xfrm>
            <a:off x="7562160" y="1911240"/>
            <a:ext cx="160884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6" name="TextBox 22"/>
          <p:cNvSpPr/>
          <p:nvPr/>
        </p:nvSpPr>
        <p:spPr>
          <a:xfrm>
            <a:off x="7598520" y="199296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Encoder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Box 23"/>
          <p:cNvSpPr/>
          <p:nvPr/>
        </p:nvSpPr>
        <p:spPr>
          <a:xfrm>
            <a:off x="7635240" y="2331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JPEG bytes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Rounded Rectangle 24"/>
          <p:cNvSpPr/>
          <p:nvPr/>
        </p:nvSpPr>
        <p:spPr>
          <a:xfrm>
            <a:off x="9743040" y="18882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9" name="Rounded Rectangle 25"/>
          <p:cNvSpPr/>
          <p:nvPr/>
        </p:nvSpPr>
        <p:spPr>
          <a:xfrm>
            <a:off x="9692640" y="18288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0" name="Rectangle 26"/>
          <p:cNvSpPr/>
          <p:nvPr/>
        </p:nvSpPr>
        <p:spPr>
          <a:xfrm>
            <a:off x="9802440" y="1911240"/>
            <a:ext cx="160884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1" name="TextBox 27"/>
          <p:cNvSpPr/>
          <p:nvPr/>
        </p:nvSpPr>
        <p:spPr>
          <a:xfrm>
            <a:off x="9838800" y="1992960"/>
            <a:ext cx="15357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WebSocket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Box 28"/>
          <p:cNvSpPr/>
          <p:nvPr/>
        </p:nvSpPr>
        <p:spPr>
          <a:xfrm>
            <a:off x="9875520" y="2331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broadcast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73" name="Connector 29"/>
          <p:cNvCxnSpPr/>
          <p:nvPr/>
        </p:nvCxnSpPr>
        <p:spPr>
          <a:xfrm>
            <a:off x="2560320" y="2240280"/>
            <a:ext cx="4118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874" name="Oval 30"/>
          <p:cNvSpPr/>
          <p:nvPr/>
        </p:nvSpPr>
        <p:spPr>
          <a:xfrm>
            <a:off x="2921400" y="21898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75" name="Connector 31"/>
          <p:cNvCxnSpPr/>
          <p:nvPr/>
        </p:nvCxnSpPr>
        <p:spPr>
          <a:xfrm>
            <a:off x="4800600" y="2240280"/>
            <a:ext cx="4118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876" name="Oval 32"/>
          <p:cNvSpPr/>
          <p:nvPr/>
        </p:nvSpPr>
        <p:spPr>
          <a:xfrm>
            <a:off x="5161680" y="21898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77" name="Connector 33"/>
          <p:cNvCxnSpPr/>
          <p:nvPr/>
        </p:nvCxnSpPr>
        <p:spPr>
          <a:xfrm>
            <a:off x="7040880" y="2240280"/>
            <a:ext cx="4118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878" name="Oval 34"/>
          <p:cNvSpPr/>
          <p:nvPr/>
        </p:nvSpPr>
        <p:spPr>
          <a:xfrm>
            <a:off x="7401960" y="21898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79" name="Connector 35"/>
          <p:cNvCxnSpPr/>
          <p:nvPr/>
        </p:nvCxnSpPr>
        <p:spPr>
          <a:xfrm>
            <a:off x="9281160" y="2240280"/>
            <a:ext cx="411840" cy="360"/>
          </a:xfrm>
          <a:prstGeom prst="straightConnector1">
            <a:avLst/>
          </a:prstGeom>
          <a:ln w="33020">
            <a:solidFill>
              <a:srgbClr val="22d3ee"/>
            </a:solidFill>
            <a:round/>
          </a:ln>
        </p:spPr>
      </p:cxnSp>
      <p:sp>
        <p:nvSpPr>
          <p:cNvPr id="880" name="Oval 36"/>
          <p:cNvSpPr/>
          <p:nvPr/>
        </p:nvSpPr>
        <p:spPr>
          <a:xfrm>
            <a:off x="9642240" y="2189880"/>
            <a:ext cx="100080" cy="10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1" name="Rounded Rectangle 37"/>
          <p:cNvSpPr/>
          <p:nvPr/>
        </p:nvSpPr>
        <p:spPr>
          <a:xfrm>
            <a:off x="1970640" y="39456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2" name="Rounded Rectangle 38"/>
          <p:cNvSpPr/>
          <p:nvPr/>
        </p:nvSpPr>
        <p:spPr>
          <a:xfrm>
            <a:off x="1920240" y="38862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3" name="Rectangle 39"/>
          <p:cNvSpPr/>
          <p:nvPr/>
        </p:nvSpPr>
        <p:spPr>
          <a:xfrm>
            <a:off x="2030040" y="3977640"/>
            <a:ext cx="220320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4" name="TextBox 40"/>
          <p:cNvSpPr/>
          <p:nvPr/>
        </p:nvSpPr>
        <p:spPr>
          <a:xfrm>
            <a:off x="2139840" y="409932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/ws/video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Box 41"/>
          <p:cNvSpPr/>
          <p:nvPr/>
        </p:nvSpPr>
        <p:spPr>
          <a:xfrm>
            <a:off x="2139840" y="458640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Processed frames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Rounded Rectangle 42"/>
          <p:cNvSpPr/>
          <p:nvPr/>
        </p:nvSpPr>
        <p:spPr>
          <a:xfrm>
            <a:off x="4942440" y="39456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7" name="Rounded Rectangle 43"/>
          <p:cNvSpPr/>
          <p:nvPr/>
        </p:nvSpPr>
        <p:spPr>
          <a:xfrm>
            <a:off x="4892040" y="38862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8" name="Rectangle 44"/>
          <p:cNvSpPr/>
          <p:nvPr/>
        </p:nvSpPr>
        <p:spPr>
          <a:xfrm>
            <a:off x="5001840" y="3977640"/>
            <a:ext cx="220320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9" name="TextBox 45"/>
          <p:cNvSpPr/>
          <p:nvPr/>
        </p:nvSpPr>
        <p:spPr>
          <a:xfrm>
            <a:off x="5111640" y="409932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/ws/detections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Box 46"/>
          <p:cNvSpPr/>
          <p:nvPr/>
        </p:nvSpPr>
        <p:spPr>
          <a:xfrm>
            <a:off x="5111640" y="458640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JSON boxes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Rounded Rectangle 47"/>
          <p:cNvSpPr/>
          <p:nvPr/>
        </p:nvSpPr>
        <p:spPr>
          <a:xfrm>
            <a:off x="7914240" y="39456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2" name="Rounded Rectangle 48"/>
          <p:cNvSpPr/>
          <p:nvPr/>
        </p:nvSpPr>
        <p:spPr>
          <a:xfrm>
            <a:off x="7863840" y="3886200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3" name="Rectangle 49"/>
          <p:cNvSpPr/>
          <p:nvPr/>
        </p:nvSpPr>
        <p:spPr>
          <a:xfrm>
            <a:off x="7973640" y="3977640"/>
            <a:ext cx="2203200" cy="5004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4" name="TextBox 50"/>
          <p:cNvSpPr/>
          <p:nvPr/>
        </p:nvSpPr>
        <p:spPr>
          <a:xfrm>
            <a:off x="8083440" y="4099320"/>
            <a:ext cx="19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/ws/commands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Box 51"/>
          <p:cNvSpPr/>
          <p:nvPr/>
        </p:nvSpPr>
        <p:spPr>
          <a:xfrm>
            <a:off x="8083440" y="4586400"/>
            <a:ext cx="198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Control input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Box 52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22/25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AI Detection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9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Human detection and thermal-ready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Rounded Rectangle 4"/>
          <p:cNvSpPr/>
          <p:nvPr/>
        </p:nvSpPr>
        <p:spPr>
          <a:xfrm>
            <a:off x="822960" y="1645920"/>
            <a:ext cx="5120280" cy="3108600"/>
          </a:xfrm>
          <a:prstGeom prst="roundRect">
            <a:avLst>
              <a:gd name="adj" fmla="val 16667"/>
            </a:avLst>
          </a:prstGeom>
          <a:solidFill>
            <a:srgbClr val="0a1924"/>
          </a:solidFill>
          <a:ln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901" name="Connector 5"/>
          <p:cNvCxnSpPr/>
          <p:nvPr/>
        </p:nvCxnSpPr>
        <p:spPr>
          <a:xfrm>
            <a:off x="914400" y="2103120"/>
            <a:ext cx="49381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902" name="Connector 6"/>
          <p:cNvCxnSpPr/>
          <p:nvPr/>
        </p:nvCxnSpPr>
        <p:spPr>
          <a:xfrm>
            <a:off x="914400" y="2514600"/>
            <a:ext cx="49381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903" name="Connector 7"/>
          <p:cNvCxnSpPr/>
          <p:nvPr/>
        </p:nvCxnSpPr>
        <p:spPr>
          <a:xfrm>
            <a:off x="914400" y="2925720"/>
            <a:ext cx="49381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cxnSp>
        <p:nvCxnSpPr>
          <p:cNvPr id="904" name="Connector 8"/>
          <p:cNvCxnSpPr/>
          <p:nvPr/>
        </p:nvCxnSpPr>
        <p:spPr>
          <a:xfrm>
            <a:off x="914400" y="3337560"/>
            <a:ext cx="4938120" cy="360"/>
          </a:xfrm>
          <a:prstGeom prst="straightConnector1">
            <a:avLst/>
          </a:prstGeom>
          <a:ln w="33020">
            <a:solidFill>
              <a:srgbClr val="536580"/>
            </a:solidFill>
            <a:round/>
          </a:ln>
        </p:spPr>
      </p:cxnSp>
      <p:sp>
        <p:nvSpPr>
          <p:cNvPr id="905" name="Rectangle 9"/>
          <p:cNvSpPr/>
          <p:nvPr/>
        </p:nvSpPr>
        <p:spPr>
          <a:xfrm>
            <a:off x="3690360" y="2485440"/>
            <a:ext cx="1126080" cy="1491840"/>
          </a:xfrm>
          <a:prstGeom prst="rect">
            <a:avLst/>
          </a:prstGeom>
          <a:noFill/>
          <a:ln w="2794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6" name="TextBox 10"/>
          <p:cNvSpPr/>
          <p:nvPr/>
        </p:nvSpPr>
        <p:spPr>
          <a:xfrm>
            <a:off x="3639240" y="2236680"/>
            <a:ext cx="1433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5252"/>
                </a:solidFill>
                <a:latin typeface="Aptos"/>
              </a:rPr>
              <a:t>human 92%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Rounded Rectangle 11"/>
          <p:cNvSpPr/>
          <p:nvPr/>
        </p:nvSpPr>
        <p:spPr>
          <a:xfrm>
            <a:off x="6542640" y="179676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8" name="Rounded Rectangle 12"/>
          <p:cNvSpPr/>
          <p:nvPr/>
        </p:nvSpPr>
        <p:spPr>
          <a:xfrm>
            <a:off x="6492240" y="173736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9" name="Rectangle 13"/>
          <p:cNvSpPr/>
          <p:nvPr/>
        </p:nvSpPr>
        <p:spPr>
          <a:xfrm>
            <a:off x="6602040" y="1819800"/>
            <a:ext cx="1654560" cy="40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0" name="TextBox 14"/>
          <p:cNvSpPr/>
          <p:nvPr/>
        </p:nvSpPr>
        <p:spPr>
          <a:xfrm>
            <a:off x="6638400" y="1901520"/>
            <a:ext cx="15814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Frame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Box 15"/>
          <p:cNvSpPr/>
          <p:nvPr/>
        </p:nvSpPr>
        <p:spPr>
          <a:xfrm>
            <a:off x="6675120" y="2184840"/>
            <a:ext cx="1508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camera input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Rounded Rectangle 16"/>
          <p:cNvSpPr/>
          <p:nvPr/>
        </p:nvSpPr>
        <p:spPr>
          <a:xfrm>
            <a:off x="8874360" y="179676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3" name="Rounded Rectangle 17"/>
          <p:cNvSpPr/>
          <p:nvPr/>
        </p:nvSpPr>
        <p:spPr>
          <a:xfrm>
            <a:off x="8823960" y="173736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4" name="Rectangle 18"/>
          <p:cNvSpPr/>
          <p:nvPr/>
        </p:nvSpPr>
        <p:spPr>
          <a:xfrm>
            <a:off x="8933760" y="1819800"/>
            <a:ext cx="1654560" cy="4068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5" name="TextBox 19"/>
          <p:cNvSpPr/>
          <p:nvPr/>
        </p:nvSpPr>
        <p:spPr>
          <a:xfrm>
            <a:off x="8970120" y="1901520"/>
            <a:ext cx="15814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YOLO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Box 20"/>
          <p:cNvSpPr/>
          <p:nvPr/>
        </p:nvSpPr>
        <p:spPr>
          <a:xfrm>
            <a:off x="9006840" y="2184840"/>
            <a:ext cx="1508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human boxes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Rounded Rectangle 21"/>
          <p:cNvSpPr/>
          <p:nvPr/>
        </p:nvSpPr>
        <p:spPr>
          <a:xfrm>
            <a:off x="6542640" y="303120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8" name="Rounded Rectangle 22"/>
          <p:cNvSpPr/>
          <p:nvPr/>
        </p:nvSpPr>
        <p:spPr>
          <a:xfrm>
            <a:off x="6492240" y="297180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9" name="Rectangle 23"/>
          <p:cNvSpPr/>
          <p:nvPr/>
        </p:nvSpPr>
        <p:spPr>
          <a:xfrm>
            <a:off x="6602040" y="3054240"/>
            <a:ext cx="1654560" cy="406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0" name="TextBox 24"/>
          <p:cNvSpPr/>
          <p:nvPr/>
        </p:nvSpPr>
        <p:spPr>
          <a:xfrm>
            <a:off x="6638400" y="3135960"/>
            <a:ext cx="15814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Thermal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Box 25"/>
          <p:cNvSpPr/>
          <p:nvPr/>
        </p:nvSpPr>
        <p:spPr>
          <a:xfrm>
            <a:off x="6675120" y="3419280"/>
            <a:ext cx="1508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hot spots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Rounded Rectangle 26"/>
          <p:cNvSpPr/>
          <p:nvPr/>
        </p:nvSpPr>
        <p:spPr>
          <a:xfrm>
            <a:off x="8874360" y="303120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3" name="Rounded Rectangle 27"/>
          <p:cNvSpPr/>
          <p:nvPr/>
        </p:nvSpPr>
        <p:spPr>
          <a:xfrm>
            <a:off x="8823960" y="2971800"/>
            <a:ext cx="1874160" cy="71280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2286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4" name="Rectangle 28"/>
          <p:cNvSpPr/>
          <p:nvPr/>
        </p:nvSpPr>
        <p:spPr>
          <a:xfrm>
            <a:off x="8933760" y="3054240"/>
            <a:ext cx="1654560" cy="406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5" name="TextBox 29"/>
          <p:cNvSpPr/>
          <p:nvPr/>
        </p:nvSpPr>
        <p:spPr>
          <a:xfrm>
            <a:off x="8970120" y="3135960"/>
            <a:ext cx="15814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4faff"/>
                </a:solidFill>
                <a:latin typeface="Aptos"/>
              </a:rPr>
              <a:t>Overlay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Box 30"/>
          <p:cNvSpPr/>
          <p:nvPr/>
        </p:nvSpPr>
        <p:spPr>
          <a:xfrm>
            <a:off x="9006840" y="3419280"/>
            <a:ext cx="1508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cacc1"/>
                </a:solidFill>
                <a:latin typeface="Aptos"/>
              </a:rPr>
              <a:t>HUD output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27" name="Connector 31"/>
          <p:cNvCxnSpPr/>
          <p:nvPr/>
        </p:nvCxnSpPr>
        <p:spPr>
          <a:xfrm>
            <a:off x="8366760" y="2103120"/>
            <a:ext cx="457560" cy="360"/>
          </a:xfrm>
          <a:prstGeom prst="straightConnector1">
            <a:avLst/>
          </a:prstGeom>
          <a:ln w="33020">
            <a:solidFill>
              <a:srgbClr val="f85252"/>
            </a:solidFill>
            <a:round/>
          </a:ln>
        </p:spPr>
      </p:cxnSp>
      <p:sp>
        <p:nvSpPr>
          <p:cNvPr id="928" name="Oval 32"/>
          <p:cNvSpPr/>
          <p:nvPr/>
        </p:nvSpPr>
        <p:spPr>
          <a:xfrm>
            <a:off x="8773560" y="2052720"/>
            <a:ext cx="100080" cy="100080"/>
          </a:xfrm>
          <a:prstGeom prst="ellipse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929" name="Connector 33"/>
          <p:cNvCxnSpPr/>
          <p:nvPr/>
        </p:nvCxnSpPr>
        <p:spPr>
          <a:xfrm>
            <a:off x="8366760" y="3328200"/>
            <a:ext cx="457560" cy="360"/>
          </a:xfrm>
          <a:prstGeom prst="straightConnector1">
            <a:avLst/>
          </a:prstGeom>
          <a:ln w="33020">
            <a:solidFill>
              <a:srgbClr val="fb923c"/>
            </a:solidFill>
            <a:round/>
          </a:ln>
        </p:spPr>
      </p:cxnSp>
      <p:sp>
        <p:nvSpPr>
          <p:cNvPr id="930" name="Oval 34"/>
          <p:cNvSpPr/>
          <p:nvPr/>
        </p:nvSpPr>
        <p:spPr>
          <a:xfrm>
            <a:off x="8773560" y="3278160"/>
            <a:ext cx="100080" cy="10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1" name="Oval 35"/>
          <p:cNvSpPr/>
          <p:nvPr/>
        </p:nvSpPr>
        <p:spPr>
          <a:xfrm>
            <a:off x="6537960" y="469080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2" name="TextBox 36"/>
          <p:cNvSpPr/>
          <p:nvPr/>
        </p:nvSpPr>
        <p:spPr>
          <a:xfrm>
            <a:off x="6739200" y="4617720"/>
            <a:ext cx="9875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faff"/>
                </a:solidFill>
                <a:latin typeface="Aptos"/>
              </a:rPr>
              <a:t>Dummy fallback keeps demos running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Oval 37"/>
          <p:cNvSpPr/>
          <p:nvPr/>
        </p:nvSpPr>
        <p:spPr>
          <a:xfrm>
            <a:off x="6537960" y="5093280"/>
            <a:ext cx="82080" cy="82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3320" bIns="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4" name="TextBox 38"/>
          <p:cNvSpPr/>
          <p:nvPr/>
        </p:nvSpPr>
        <p:spPr>
          <a:xfrm>
            <a:off x="6739200" y="5020200"/>
            <a:ext cx="9875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faff"/>
                </a:solidFill>
                <a:latin typeface="Aptos"/>
              </a:rPr>
              <a:t>Final model can replace detector module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Box 39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23/25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TextBox 1"/>
          <p:cNvSpPr/>
          <p:nvPr/>
        </p:nvSpPr>
        <p:spPr>
          <a:xfrm>
            <a:off x="594360" y="320040"/>
            <a:ext cx="10606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4faff"/>
                </a:solidFill>
                <a:latin typeface="Aptos"/>
              </a:rPr>
              <a:t>Feature Challenges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Rectangle 2"/>
          <p:cNvSpPr/>
          <p:nvPr/>
        </p:nvSpPr>
        <p:spPr>
          <a:xfrm>
            <a:off x="612720" y="896040"/>
            <a:ext cx="914040" cy="45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8" name="TextBox 3"/>
          <p:cNvSpPr/>
          <p:nvPr/>
        </p:nvSpPr>
        <p:spPr>
          <a:xfrm>
            <a:off x="612720" y="987480"/>
            <a:ext cx="10240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cacc1"/>
                </a:solidFill>
                <a:latin typeface="Aptos"/>
              </a:rPr>
              <a:t>Problems we faced and how the code solves them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Rounded Rectangle 4"/>
          <p:cNvSpPr/>
          <p:nvPr/>
        </p:nvSpPr>
        <p:spPr>
          <a:xfrm>
            <a:off x="919080" y="1568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0" name="Rounded Rectangle 5"/>
          <p:cNvSpPr/>
          <p:nvPr/>
        </p:nvSpPr>
        <p:spPr>
          <a:xfrm>
            <a:off x="868680" y="1508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1" name="Rectangle 6"/>
          <p:cNvSpPr/>
          <p:nvPr/>
        </p:nvSpPr>
        <p:spPr>
          <a:xfrm>
            <a:off x="978480" y="1600200"/>
            <a:ext cx="2980440" cy="500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2" name="TextBox 7"/>
          <p:cNvSpPr/>
          <p:nvPr/>
        </p:nvSpPr>
        <p:spPr>
          <a:xfrm>
            <a:off x="1088280" y="1721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Splash/Auth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TextBox 8"/>
          <p:cNvSpPr/>
          <p:nvPr/>
        </p:nvSpPr>
        <p:spPr>
          <a:xfrm>
            <a:off x="1088280" y="2117880"/>
            <a:ext cx="2761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startup routing.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Firebase + local session check.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Rounded Rectangle 9"/>
          <p:cNvSpPr/>
          <p:nvPr/>
        </p:nvSpPr>
        <p:spPr>
          <a:xfrm>
            <a:off x="4530960" y="1568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5" name="Rounded Rectangle 10"/>
          <p:cNvSpPr/>
          <p:nvPr/>
        </p:nvSpPr>
        <p:spPr>
          <a:xfrm>
            <a:off x="4480560" y="1508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6" name="Rectangle 11"/>
          <p:cNvSpPr/>
          <p:nvPr/>
        </p:nvSpPr>
        <p:spPr>
          <a:xfrm>
            <a:off x="4590360" y="1600200"/>
            <a:ext cx="2980440" cy="50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7" name="TextBox 12"/>
          <p:cNvSpPr/>
          <p:nvPr/>
        </p:nvSpPr>
        <p:spPr>
          <a:xfrm>
            <a:off x="4700160" y="1721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Map Tracking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Box 13"/>
          <p:cNvSpPr/>
          <p:nvPr/>
        </p:nvSpPr>
        <p:spPr>
          <a:xfrm>
            <a:off x="4700160" y="2117880"/>
            <a:ext cx="2761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live GPS dropouts.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stream state + last known position.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Rounded Rectangle 14"/>
          <p:cNvSpPr/>
          <p:nvPr/>
        </p:nvSpPr>
        <p:spPr>
          <a:xfrm>
            <a:off x="8142840" y="1568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0" name="Rounded Rectangle 15"/>
          <p:cNvSpPr/>
          <p:nvPr/>
        </p:nvSpPr>
        <p:spPr>
          <a:xfrm>
            <a:off x="8092440" y="1508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22d3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1" name="Rectangle 16"/>
          <p:cNvSpPr/>
          <p:nvPr/>
        </p:nvSpPr>
        <p:spPr>
          <a:xfrm>
            <a:off x="8202240" y="1600200"/>
            <a:ext cx="2980440" cy="50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2" name="TextBox 17"/>
          <p:cNvSpPr/>
          <p:nvPr/>
        </p:nvSpPr>
        <p:spPr>
          <a:xfrm>
            <a:off x="8312040" y="1721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Video Latency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TextBox 18"/>
          <p:cNvSpPr/>
          <p:nvPr/>
        </p:nvSpPr>
        <p:spPr>
          <a:xfrm>
            <a:off x="8312040" y="2117880"/>
            <a:ext cx="2761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heavy frames.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TCP/WS path separate from Firebase.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Rounded Rectangle 19"/>
          <p:cNvSpPr/>
          <p:nvPr/>
        </p:nvSpPr>
        <p:spPr>
          <a:xfrm>
            <a:off x="919080" y="3854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5" name="Rounded Rectangle 20"/>
          <p:cNvSpPr/>
          <p:nvPr/>
        </p:nvSpPr>
        <p:spPr>
          <a:xfrm>
            <a:off x="868680" y="3794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f8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6" name="Rectangle 21"/>
          <p:cNvSpPr/>
          <p:nvPr/>
        </p:nvSpPr>
        <p:spPr>
          <a:xfrm>
            <a:off x="978480" y="3886200"/>
            <a:ext cx="2980440" cy="50040"/>
          </a:xfrm>
          <a:prstGeom prst="rect">
            <a:avLst/>
          </a:prstGeom>
          <a:solidFill>
            <a:srgbClr val="f852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7" name="TextBox 22"/>
          <p:cNvSpPr/>
          <p:nvPr/>
        </p:nvSpPr>
        <p:spPr>
          <a:xfrm>
            <a:off x="1088280" y="4007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AI Detection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Box 23"/>
          <p:cNvSpPr/>
          <p:nvPr/>
        </p:nvSpPr>
        <p:spPr>
          <a:xfrm>
            <a:off x="1088280" y="4403880"/>
            <a:ext cx="2761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model availability.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detector module with fallback.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Rounded Rectangle 24"/>
          <p:cNvSpPr/>
          <p:nvPr/>
        </p:nvSpPr>
        <p:spPr>
          <a:xfrm>
            <a:off x="4530960" y="3854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0" name="Rounded Rectangle 25"/>
          <p:cNvSpPr/>
          <p:nvPr/>
        </p:nvSpPr>
        <p:spPr>
          <a:xfrm>
            <a:off x="4480560" y="3794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1" name="Rectangle 26"/>
          <p:cNvSpPr/>
          <p:nvPr/>
        </p:nvSpPr>
        <p:spPr>
          <a:xfrm>
            <a:off x="4590360" y="3886200"/>
            <a:ext cx="2980440" cy="5004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2" name="TextBox 27"/>
          <p:cNvSpPr/>
          <p:nvPr/>
        </p:nvSpPr>
        <p:spPr>
          <a:xfrm>
            <a:off x="4700160" y="4007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Drone Control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Box 28"/>
          <p:cNvSpPr/>
          <p:nvPr/>
        </p:nvSpPr>
        <p:spPr>
          <a:xfrm>
            <a:off x="4700160" y="4312440"/>
            <a:ext cx="2761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continuous joystick input.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x/y commands and neutral on release.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Rounded Rectangle 29"/>
          <p:cNvSpPr/>
          <p:nvPr/>
        </p:nvSpPr>
        <p:spPr>
          <a:xfrm>
            <a:off x="8142840" y="38541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0307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5" name="Rounded Rectangle 30"/>
          <p:cNvSpPr/>
          <p:nvPr/>
        </p:nvSpPr>
        <p:spPr>
          <a:xfrm>
            <a:off x="8092440" y="3794760"/>
            <a:ext cx="3200040" cy="132552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397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6" name="Rectangle 31"/>
          <p:cNvSpPr/>
          <p:nvPr/>
        </p:nvSpPr>
        <p:spPr>
          <a:xfrm>
            <a:off x="8202240" y="3886200"/>
            <a:ext cx="2980440" cy="500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7" name="TextBox 32"/>
          <p:cNvSpPr/>
          <p:nvPr/>
        </p:nvSpPr>
        <p:spPr>
          <a:xfrm>
            <a:off x="8312040" y="4007880"/>
            <a:ext cx="2761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faff"/>
                </a:solidFill>
                <a:latin typeface="Aptos"/>
              </a:rPr>
              <a:t>Team Integration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TextBox 33"/>
          <p:cNvSpPr/>
          <p:nvPr/>
        </p:nvSpPr>
        <p:spPr>
          <a:xfrm>
            <a:off x="8312040" y="4403880"/>
            <a:ext cx="2761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Challenge: app/server/Pi sync.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cacc1"/>
                </a:solidFill>
                <a:latin typeface="Aptos"/>
              </a:rPr>
              <a:t>Solution: clean Firestore + WebSocket contracts.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Box 34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24/25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Picture 1" descr="phoenix_3.png"/>
          <p:cNvPicPr/>
          <p:nvPr/>
        </p:nvPicPr>
        <p:blipFill>
          <a:blip r:embed="rId1"/>
          <a:stretch/>
        </p:blipFill>
        <p:spPr>
          <a:xfrm>
            <a:off x="4800600" y="685800"/>
            <a:ext cx="2559960" cy="2559960"/>
          </a:xfrm>
          <a:prstGeom prst="rect">
            <a:avLst/>
          </a:prstGeom>
          <a:ln w="0">
            <a:noFill/>
          </a:ln>
        </p:spPr>
      </p:pic>
      <p:sp>
        <p:nvSpPr>
          <p:cNvPr id="971" name="TextBox 2"/>
          <p:cNvSpPr/>
          <p:nvPr/>
        </p:nvSpPr>
        <p:spPr>
          <a:xfrm>
            <a:off x="822960" y="3246120"/>
            <a:ext cx="1056096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f4faff"/>
                </a:solidFill>
                <a:latin typeface="Aptos"/>
              </a:rPr>
              <a:t>THANK YOU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Box 3"/>
          <p:cNvSpPr/>
          <p:nvPr/>
        </p:nvSpPr>
        <p:spPr>
          <a:xfrm>
            <a:off x="1234440" y="3977640"/>
            <a:ext cx="9738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22d3ee"/>
                </a:solidFill>
                <a:latin typeface="Aptos"/>
              </a:rPr>
              <a:t>Questions?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Box 4"/>
          <p:cNvSpPr/>
          <p:nvPr/>
        </p:nvSpPr>
        <p:spPr>
          <a:xfrm>
            <a:off x="1463040" y="4846320"/>
            <a:ext cx="9235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9cacc1"/>
                </a:solidFill>
                <a:latin typeface="Aptos"/>
              </a:rPr>
              <a:t>Phoenix Drone Search &amp; Rescue System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Box 5"/>
          <p:cNvSpPr/>
          <p:nvPr/>
        </p:nvSpPr>
        <p:spPr>
          <a:xfrm>
            <a:off x="10789920" y="6446520"/>
            <a:ext cx="82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36580"/>
                </a:solidFill>
                <a:latin typeface="Aptos"/>
              </a:rPr>
              <a:t>25/25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2026-06-23T08:32:57Z</cp:lastPrinted>
  <dcterms:modified xsi:type="dcterms:W3CDTF">2026-06-23T22:44:37Z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