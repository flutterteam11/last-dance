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57ECD1A-EE99-4F24-B0BB-D9564E5E1399}"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575D8D93-048A-4568-A57F-01761032C803}"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55C97346-C8ED-4E48-AD58-1B4E7C6AD36F}"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5A84D64D-6598-46F2-A469-77AD788D5C1C}"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34666509-A2BD-4222-A557-22C08343B5B4}"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B474C271-FBD0-48BF-81B3-967A5C47BAB1}"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B159CBAE-69D9-4742-924F-F30D42CDC5BF}"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4BFC768C-9DC3-4BEC-9122-346F91ED7EA4}"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18E1DB64-503C-48FC-BEE9-848D5B16C42E}"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49242144-E7C0-4D07-97FF-D3945BF06AB5}"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37265910-325C-4A09-A32C-E1F685D18C77}"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8D7B1287-A40E-46C9-BBA7-3F924EE9152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7CDBE0B-A354-4C58-A637-6446B9964A9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16F53527-6BB8-4EB9-9C2D-31C3DEA3B8B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CFD7A017-7DEE-4289-B460-957C5C666E4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3D6DB80-64AD-4AA0-92F7-61CA62D5481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17E53CD-D62F-4938-9981-CD9064A1C6D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27353C1-8F26-4F29-90FF-6CDE7884DD3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F94AF17-6412-454A-9034-765E1055E3A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D72C7B9-73B1-4686-AD7F-2133262B1DC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8DA81941-AA90-4A72-8A7F-2D4A4D7B442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78A5E4C-D14F-455D-89C1-9131551A0C0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111c"/>
        </a:solidFill>
      </p:bgPr>
    </p:bg>
    <p:spTree>
      <p:nvGrpSpPr>
        <p:cNvPr id="1" name=""/>
        <p:cNvGrpSpPr/>
        <p:nvPr/>
      </p:nvGrpSpPr>
      <p:grpSpPr>
        <a:xfrm>
          <a:off x="0" y="0"/>
          <a:ext cx="0" cy="0"/>
          <a:chOff x="0" y="0"/>
          <a:chExt cx="0" cy="0"/>
        </a:xfrm>
      </p:grpSpPr>
      <p:sp>
        <p:nvSpPr>
          <p:cNvPr id="67" name="TextBox 1"/>
          <p:cNvSpPr/>
          <p:nvPr/>
        </p:nvSpPr>
        <p:spPr>
          <a:xfrm>
            <a:off x="3953880" y="1463040"/>
            <a:ext cx="4161600" cy="8211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4800" spc="-1" strike="noStrike">
                <a:solidFill>
                  <a:srgbClr val="eef4fa"/>
                </a:solidFill>
                <a:latin typeface="Aptos"/>
              </a:rPr>
              <a:t>Phoenix Q&amp;A</a:t>
            </a:r>
            <a:endParaRPr b="0" lang="en-US" sz="4800" spc="-1" strike="noStrike">
              <a:solidFill>
                <a:srgbClr val="ffffff"/>
              </a:solidFill>
              <a:latin typeface="Arial"/>
            </a:endParaRPr>
          </a:p>
        </p:txBody>
      </p:sp>
      <p:sp>
        <p:nvSpPr>
          <p:cNvPr id="68" name="TextBox 2"/>
          <p:cNvSpPr/>
          <p:nvPr/>
        </p:nvSpPr>
        <p:spPr>
          <a:xfrm>
            <a:off x="3447000" y="2395800"/>
            <a:ext cx="453528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rgbClr val="2ac4ff"/>
                </a:solidFill>
                <a:latin typeface="Aptos"/>
              </a:rPr>
              <a:t>Expected discussion questions</a:t>
            </a:r>
            <a:endParaRPr b="0" lang="en-US" sz="2400" spc="-1" strike="noStrike">
              <a:solidFill>
                <a:srgbClr val="ffffff"/>
              </a:solidFill>
              <a:latin typeface="Arial"/>
            </a:endParaRPr>
          </a:p>
        </p:txBody>
      </p:sp>
      <p:sp>
        <p:nvSpPr>
          <p:cNvPr id="69" name="TextBox 3"/>
          <p:cNvSpPr/>
          <p:nvPr/>
        </p:nvSpPr>
        <p:spPr>
          <a:xfrm>
            <a:off x="994320" y="3154680"/>
            <a:ext cx="8526600" cy="4248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200" spc="-1" strike="noStrike">
                <a:solidFill>
                  <a:srgbClr val="a2b0c2"/>
                </a:solidFill>
                <a:latin typeface="Aptos"/>
              </a:rPr>
              <a:t>Real-time ground control station for AI-assisted drone missions.</a:t>
            </a:r>
            <a:endParaRPr b="0" lang="en-US" sz="2200" spc="-1" strike="noStrike">
              <a:solidFill>
                <a:srgbClr val="ffffff"/>
              </a:solidFill>
              <a:latin typeface="Arial"/>
            </a:endParaRPr>
          </a:p>
        </p:txBody>
      </p:sp>
      <p:sp>
        <p:nvSpPr>
          <p:cNvPr id="70" name="Rectangle 4"/>
          <p:cNvSpPr/>
          <p:nvPr/>
        </p:nvSpPr>
        <p:spPr>
          <a:xfrm>
            <a:off x="777240" y="4160520"/>
            <a:ext cx="4297320" cy="72720"/>
          </a:xfrm>
          <a:prstGeom prst="rect">
            <a:avLst/>
          </a:prstGeom>
          <a:solidFill>
            <a:srgbClr val="ff5757"/>
          </a:solidFill>
          <a:ln>
            <a:solidFill>
              <a:srgbClr val="ff57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71" name="TextBox 5"/>
          <p:cNvSpPr/>
          <p:nvPr/>
        </p:nvSpPr>
        <p:spPr>
          <a:xfrm>
            <a:off x="5679720" y="6473880"/>
            <a:ext cx="801360" cy="22716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900" spc="-1" strike="noStrike">
                <a:solidFill>
                  <a:srgbClr val="a2b0c2"/>
                </a:solidFill>
                <a:latin typeface="Aptos"/>
              </a:rPr>
              <a:t>Phoenix | 1</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111c"/>
        </a:solidFill>
      </p:bgPr>
    </p:bg>
    <p:spTree>
      <p:nvGrpSpPr>
        <p:cNvPr id="1" name=""/>
        <p:cNvGrpSpPr/>
        <p:nvPr/>
      </p:nvGrpSpPr>
      <p:grpSpPr>
        <a:xfrm>
          <a:off x="0" y="0"/>
          <a:ext cx="0" cy="0"/>
          <a:chOff x="0" y="0"/>
          <a:chExt cx="0" cy="0"/>
        </a:xfrm>
      </p:grpSpPr>
      <p:sp>
        <p:nvSpPr>
          <p:cNvPr id="72" name="TextBox 1"/>
          <p:cNvSpPr/>
          <p:nvPr/>
        </p:nvSpPr>
        <p:spPr>
          <a:xfrm>
            <a:off x="216360" y="411480"/>
            <a:ext cx="11728440" cy="6076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3400" spc="-1" strike="noStrike">
                <a:solidFill>
                  <a:srgbClr val="eef4fa"/>
                </a:solidFill>
                <a:latin typeface="Aptos"/>
              </a:rPr>
              <a:t>1. Why did you use Firebase and WebSocket together?</a:t>
            </a:r>
            <a:endParaRPr b="0" lang="en-US" sz="3400" spc="-1" strike="noStrike">
              <a:solidFill>
                <a:srgbClr val="ffffff"/>
              </a:solidFill>
              <a:latin typeface="Arial"/>
            </a:endParaRPr>
          </a:p>
        </p:txBody>
      </p:sp>
      <p:sp>
        <p:nvSpPr>
          <p:cNvPr id="73" name="Rectangle 2"/>
          <p:cNvSpPr/>
          <p:nvPr/>
        </p:nvSpPr>
        <p:spPr>
          <a:xfrm>
            <a:off x="621720" y="1134000"/>
            <a:ext cx="1096920" cy="45360"/>
          </a:xfrm>
          <a:prstGeom prst="rect">
            <a:avLst/>
          </a:prstGeom>
          <a:solidFill>
            <a:srgbClr val="2ac4ff"/>
          </a:solidFill>
          <a:ln>
            <a:solidFill>
              <a:srgbClr val="2ac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74" name="TextBox 3"/>
          <p:cNvSpPr/>
          <p:nvPr/>
        </p:nvSpPr>
        <p:spPr>
          <a:xfrm>
            <a:off x="777240" y="1737360"/>
            <a:ext cx="10789560" cy="1369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100" spc="-1" strike="noStrike">
                <a:solidFill>
                  <a:srgbClr val="a2b0c2"/>
                </a:solidFill>
                <a:latin typeface="Calibri"/>
              </a:rPr>
              <a:t>Firebase is better for light real-time data such as GPS, telemetry, reports, and authentication. WebSocket is better for high-frequency video frames and AI detection messages because it keeps a direct live connection between the server and the app.</a:t>
            </a:r>
            <a:endParaRPr b="0" lang="en-US" sz="2100" spc="-1" strike="noStrike">
              <a:solidFill>
                <a:srgbClr val="ffffff"/>
              </a:solidFill>
              <a:latin typeface="Arial"/>
            </a:endParaRPr>
          </a:p>
        </p:txBody>
      </p:sp>
      <p:sp>
        <p:nvSpPr>
          <p:cNvPr id="75" name="TextBox 4"/>
          <p:cNvSpPr/>
          <p:nvPr/>
        </p:nvSpPr>
        <p:spPr>
          <a:xfrm>
            <a:off x="5679720" y="6473880"/>
            <a:ext cx="801360" cy="22716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900" spc="-1" strike="noStrike">
                <a:solidFill>
                  <a:srgbClr val="a2b0c2"/>
                </a:solidFill>
                <a:latin typeface="Aptos"/>
              </a:rPr>
              <a:t>Phoenix | 2</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111c"/>
        </a:solidFill>
      </p:bgPr>
    </p:bg>
    <p:spTree>
      <p:nvGrpSpPr>
        <p:cNvPr id="1" name=""/>
        <p:cNvGrpSpPr/>
        <p:nvPr/>
      </p:nvGrpSpPr>
      <p:grpSpPr>
        <a:xfrm>
          <a:off x="0" y="0"/>
          <a:ext cx="0" cy="0"/>
          <a:chOff x="0" y="0"/>
          <a:chExt cx="0" cy="0"/>
        </a:xfrm>
      </p:grpSpPr>
      <p:sp>
        <p:nvSpPr>
          <p:cNvPr id="76" name="TextBox 1"/>
          <p:cNvSpPr/>
          <p:nvPr/>
        </p:nvSpPr>
        <p:spPr>
          <a:xfrm>
            <a:off x="711720" y="411480"/>
            <a:ext cx="10737720" cy="3952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000" spc="-1" strike="noStrike">
                <a:solidFill>
                  <a:srgbClr val="eef4fa"/>
                </a:solidFill>
                <a:latin typeface="Aptos"/>
              </a:rPr>
              <a:t>2. Why is there a laptop server instead of sending everything directly to the phone?</a:t>
            </a:r>
            <a:endParaRPr b="0" lang="en-US" sz="2000" spc="-1" strike="noStrike">
              <a:solidFill>
                <a:srgbClr val="ffffff"/>
              </a:solidFill>
              <a:latin typeface="Arial"/>
            </a:endParaRPr>
          </a:p>
        </p:txBody>
      </p:sp>
      <p:sp>
        <p:nvSpPr>
          <p:cNvPr id="77" name="Rectangle 2"/>
          <p:cNvSpPr/>
          <p:nvPr/>
        </p:nvSpPr>
        <p:spPr>
          <a:xfrm>
            <a:off x="621720" y="1134000"/>
            <a:ext cx="1096920" cy="45360"/>
          </a:xfrm>
          <a:prstGeom prst="rect">
            <a:avLst/>
          </a:prstGeom>
          <a:solidFill>
            <a:srgbClr val="2ac4ff"/>
          </a:solidFill>
          <a:ln>
            <a:solidFill>
              <a:srgbClr val="2ac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78" name="TextBox 3"/>
          <p:cNvSpPr/>
          <p:nvPr/>
        </p:nvSpPr>
        <p:spPr>
          <a:xfrm>
            <a:off x="777240" y="1737360"/>
            <a:ext cx="10789560" cy="1049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100" spc="-1" strike="noStrike">
                <a:solidFill>
                  <a:srgbClr val="a2b0c2"/>
                </a:solidFill>
                <a:latin typeface="Calibri"/>
              </a:rPr>
              <a:t>The laptop server reduces processing load on the phone, receives TCP video from the drone, runs AI processing, and broadcasts processed data to one or more clients. It also makes debugging and integration easier during development.</a:t>
            </a:r>
            <a:endParaRPr b="0" lang="en-US" sz="2100" spc="-1" strike="noStrike">
              <a:solidFill>
                <a:srgbClr val="ffffff"/>
              </a:solidFill>
              <a:latin typeface="Arial"/>
            </a:endParaRPr>
          </a:p>
        </p:txBody>
      </p:sp>
      <p:sp>
        <p:nvSpPr>
          <p:cNvPr id="79" name="TextBox 4"/>
          <p:cNvSpPr/>
          <p:nvPr/>
        </p:nvSpPr>
        <p:spPr>
          <a:xfrm>
            <a:off x="5679720" y="6473880"/>
            <a:ext cx="801360" cy="22716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900" spc="-1" strike="noStrike">
                <a:solidFill>
                  <a:srgbClr val="a2b0c2"/>
                </a:solidFill>
                <a:latin typeface="Aptos"/>
              </a:rPr>
              <a:t>Phoenix | 3</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111c"/>
        </a:solidFill>
      </p:bgPr>
    </p:bg>
    <p:spTree>
      <p:nvGrpSpPr>
        <p:cNvPr id="1" name=""/>
        <p:cNvGrpSpPr/>
        <p:nvPr/>
      </p:nvGrpSpPr>
      <p:grpSpPr>
        <a:xfrm>
          <a:off x="0" y="0"/>
          <a:ext cx="0" cy="0"/>
          <a:chOff x="0" y="0"/>
          <a:chExt cx="0" cy="0"/>
        </a:xfrm>
      </p:grpSpPr>
      <p:sp>
        <p:nvSpPr>
          <p:cNvPr id="80" name="TextBox 1"/>
          <p:cNvSpPr/>
          <p:nvPr/>
        </p:nvSpPr>
        <p:spPr>
          <a:xfrm>
            <a:off x="1126800" y="411480"/>
            <a:ext cx="9907200" cy="6076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3400" spc="-1" strike="noStrike">
                <a:solidFill>
                  <a:srgbClr val="eef4fa"/>
                </a:solidFill>
                <a:latin typeface="Aptos"/>
              </a:rPr>
              <a:t>3. What happens if the AI model is not ready?</a:t>
            </a:r>
            <a:endParaRPr b="0" lang="en-US" sz="3400" spc="-1" strike="noStrike">
              <a:solidFill>
                <a:srgbClr val="ffffff"/>
              </a:solidFill>
              <a:latin typeface="Arial"/>
            </a:endParaRPr>
          </a:p>
        </p:txBody>
      </p:sp>
      <p:sp>
        <p:nvSpPr>
          <p:cNvPr id="81" name="Rectangle 2"/>
          <p:cNvSpPr/>
          <p:nvPr/>
        </p:nvSpPr>
        <p:spPr>
          <a:xfrm>
            <a:off x="621720" y="1134000"/>
            <a:ext cx="1096920" cy="45360"/>
          </a:xfrm>
          <a:prstGeom prst="rect">
            <a:avLst/>
          </a:prstGeom>
          <a:solidFill>
            <a:srgbClr val="2ac4ff"/>
          </a:solidFill>
          <a:ln>
            <a:solidFill>
              <a:srgbClr val="2ac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82" name="TextBox 3"/>
          <p:cNvSpPr/>
          <p:nvPr/>
        </p:nvSpPr>
        <p:spPr>
          <a:xfrm>
            <a:off x="777240" y="1737360"/>
            <a:ext cx="10789560" cy="1049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100" spc="-1" strike="noStrike">
                <a:solidFill>
                  <a:srgbClr val="a2b0c2"/>
                </a:solidFill>
                <a:latin typeface="Calibri"/>
              </a:rPr>
              <a:t>The system has a dummy detector fallback. This keeps the full pipeline working: video input, processing, detection output, and UI overlay. When the final YOLO model is ready, it can replace the fallback through the existing detector interface.</a:t>
            </a:r>
            <a:endParaRPr b="0" lang="en-US" sz="2100" spc="-1" strike="noStrike">
              <a:solidFill>
                <a:srgbClr val="ffffff"/>
              </a:solidFill>
              <a:latin typeface="Arial"/>
            </a:endParaRPr>
          </a:p>
        </p:txBody>
      </p:sp>
      <p:sp>
        <p:nvSpPr>
          <p:cNvPr id="83" name="TextBox 4"/>
          <p:cNvSpPr/>
          <p:nvPr/>
        </p:nvSpPr>
        <p:spPr>
          <a:xfrm>
            <a:off x="5679720" y="6473880"/>
            <a:ext cx="801360" cy="22716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900" spc="-1" strike="noStrike">
                <a:solidFill>
                  <a:srgbClr val="a2b0c2"/>
                </a:solidFill>
                <a:latin typeface="Aptos"/>
              </a:rPr>
              <a:t>Phoenix | 4</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111c"/>
        </a:solidFill>
      </p:bgPr>
    </p:bg>
    <p:spTree>
      <p:nvGrpSpPr>
        <p:cNvPr id="1" name=""/>
        <p:cNvGrpSpPr/>
        <p:nvPr/>
      </p:nvGrpSpPr>
      <p:grpSpPr>
        <a:xfrm>
          <a:off x="0" y="0"/>
          <a:ext cx="0" cy="0"/>
          <a:chOff x="0" y="0"/>
          <a:chExt cx="0" cy="0"/>
        </a:xfrm>
      </p:grpSpPr>
      <p:sp>
        <p:nvSpPr>
          <p:cNvPr id="84" name="TextBox 1"/>
          <p:cNvSpPr/>
          <p:nvPr/>
        </p:nvSpPr>
        <p:spPr>
          <a:xfrm>
            <a:off x="1941480" y="411480"/>
            <a:ext cx="8278200" cy="6076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3400" spc="-1" strike="noStrike">
                <a:solidFill>
                  <a:srgbClr val="eef4fa"/>
                </a:solidFill>
                <a:latin typeface="Aptos"/>
              </a:rPr>
              <a:t>4. How is the drone location updated?</a:t>
            </a:r>
            <a:endParaRPr b="0" lang="en-US" sz="3400" spc="-1" strike="noStrike">
              <a:solidFill>
                <a:srgbClr val="ffffff"/>
              </a:solidFill>
              <a:latin typeface="Arial"/>
            </a:endParaRPr>
          </a:p>
        </p:txBody>
      </p:sp>
      <p:sp>
        <p:nvSpPr>
          <p:cNvPr id="85" name="Rectangle 2"/>
          <p:cNvSpPr/>
          <p:nvPr/>
        </p:nvSpPr>
        <p:spPr>
          <a:xfrm>
            <a:off x="621720" y="1134000"/>
            <a:ext cx="1096920" cy="45360"/>
          </a:xfrm>
          <a:prstGeom prst="rect">
            <a:avLst/>
          </a:prstGeom>
          <a:solidFill>
            <a:srgbClr val="2ac4ff"/>
          </a:solidFill>
          <a:ln>
            <a:solidFill>
              <a:srgbClr val="2ac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86" name="TextBox 3"/>
          <p:cNvSpPr/>
          <p:nvPr/>
        </p:nvSpPr>
        <p:spPr>
          <a:xfrm>
            <a:off x="777240" y="1737360"/>
            <a:ext cx="10789560" cy="1049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100" spc="-1" strike="noStrike">
                <a:solidFill>
                  <a:srgbClr val="a2b0c2"/>
                </a:solidFill>
                <a:latin typeface="Calibri"/>
              </a:rPr>
              <a:t>The Raspberry Pi writes location data to Firestore. The Flutter app listens to Firestore snapshots, so the map marker and path history update automatically whenever new GPS data arrives.</a:t>
            </a:r>
            <a:endParaRPr b="0" lang="en-US" sz="2100" spc="-1" strike="noStrike">
              <a:solidFill>
                <a:srgbClr val="ffffff"/>
              </a:solidFill>
              <a:latin typeface="Arial"/>
            </a:endParaRPr>
          </a:p>
        </p:txBody>
      </p:sp>
      <p:sp>
        <p:nvSpPr>
          <p:cNvPr id="87" name="TextBox 4"/>
          <p:cNvSpPr/>
          <p:nvPr/>
        </p:nvSpPr>
        <p:spPr>
          <a:xfrm>
            <a:off x="5679720" y="6473880"/>
            <a:ext cx="801360" cy="22716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900" spc="-1" strike="noStrike">
                <a:solidFill>
                  <a:srgbClr val="a2b0c2"/>
                </a:solidFill>
                <a:latin typeface="Aptos"/>
              </a:rPr>
              <a:t>Phoenix | 5</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111c"/>
        </a:solidFill>
      </p:bgPr>
    </p:bg>
    <p:spTree>
      <p:nvGrpSpPr>
        <p:cNvPr id="1" name=""/>
        <p:cNvGrpSpPr/>
        <p:nvPr/>
      </p:nvGrpSpPr>
      <p:grpSpPr>
        <a:xfrm>
          <a:off x="0" y="0"/>
          <a:ext cx="0" cy="0"/>
          <a:chOff x="0" y="0"/>
          <a:chExt cx="0" cy="0"/>
        </a:xfrm>
      </p:grpSpPr>
      <p:sp>
        <p:nvSpPr>
          <p:cNvPr id="88" name="TextBox 1"/>
          <p:cNvSpPr/>
          <p:nvPr/>
        </p:nvSpPr>
        <p:spPr>
          <a:xfrm>
            <a:off x="1188720" y="411480"/>
            <a:ext cx="9783720" cy="6076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3400" spc="-1" strike="noStrike">
                <a:solidFill>
                  <a:srgbClr val="eef4fa"/>
                </a:solidFill>
                <a:latin typeface="Aptos"/>
              </a:rPr>
              <a:t>5. How does the video stream reach the app?</a:t>
            </a:r>
            <a:endParaRPr b="0" lang="en-US" sz="3400" spc="-1" strike="noStrike">
              <a:solidFill>
                <a:srgbClr val="ffffff"/>
              </a:solidFill>
              <a:latin typeface="Arial"/>
            </a:endParaRPr>
          </a:p>
        </p:txBody>
      </p:sp>
      <p:sp>
        <p:nvSpPr>
          <p:cNvPr id="89" name="Rectangle 2"/>
          <p:cNvSpPr/>
          <p:nvPr/>
        </p:nvSpPr>
        <p:spPr>
          <a:xfrm>
            <a:off x="621720" y="1134000"/>
            <a:ext cx="1096920" cy="45360"/>
          </a:xfrm>
          <a:prstGeom prst="rect">
            <a:avLst/>
          </a:prstGeom>
          <a:solidFill>
            <a:srgbClr val="2ac4ff"/>
          </a:solidFill>
          <a:ln>
            <a:solidFill>
              <a:srgbClr val="2ac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90" name="TextBox 3"/>
          <p:cNvSpPr/>
          <p:nvPr/>
        </p:nvSpPr>
        <p:spPr>
          <a:xfrm>
            <a:off x="777240" y="1737360"/>
            <a:ext cx="10789560" cy="72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100" spc="-1" strike="noStrike">
                <a:solidFill>
                  <a:srgbClr val="a2b0c2"/>
                </a:solidFill>
                <a:latin typeface="Calibri"/>
              </a:rPr>
              <a:t>The drone sends JPEG frames to the laptop server through TCP. The server decodes and processes frames, then sends JPEG bytes to the Flutter app through /ws/video.</a:t>
            </a:r>
            <a:endParaRPr b="0" lang="en-US" sz="2100" spc="-1" strike="noStrike">
              <a:solidFill>
                <a:srgbClr val="ffffff"/>
              </a:solidFill>
              <a:latin typeface="Arial"/>
            </a:endParaRPr>
          </a:p>
        </p:txBody>
      </p:sp>
      <p:sp>
        <p:nvSpPr>
          <p:cNvPr id="91" name="TextBox 4"/>
          <p:cNvSpPr/>
          <p:nvPr/>
        </p:nvSpPr>
        <p:spPr>
          <a:xfrm>
            <a:off x="5679720" y="6473880"/>
            <a:ext cx="801360" cy="22716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900" spc="-1" strike="noStrike">
                <a:solidFill>
                  <a:srgbClr val="a2b0c2"/>
                </a:solidFill>
                <a:latin typeface="Aptos"/>
              </a:rPr>
              <a:t>Phoenix | 6</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111c"/>
        </a:solidFill>
      </p:bgPr>
    </p:bg>
    <p:spTree>
      <p:nvGrpSpPr>
        <p:cNvPr id="1" name=""/>
        <p:cNvGrpSpPr/>
        <p:nvPr/>
      </p:nvGrpSpPr>
      <p:grpSpPr>
        <a:xfrm>
          <a:off x="0" y="0"/>
          <a:ext cx="0" cy="0"/>
          <a:chOff x="0" y="0"/>
          <a:chExt cx="0" cy="0"/>
        </a:xfrm>
      </p:grpSpPr>
      <p:sp>
        <p:nvSpPr>
          <p:cNvPr id="92" name="TextBox 1"/>
          <p:cNvSpPr/>
          <p:nvPr/>
        </p:nvSpPr>
        <p:spPr>
          <a:xfrm>
            <a:off x="2482560" y="411480"/>
            <a:ext cx="7196040" cy="6076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3400" spc="-1" strike="noStrike">
                <a:solidFill>
                  <a:srgbClr val="eef4fa"/>
                </a:solidFill>
                <a:latin typeface="Aptos"/>
              </a:rPr>
              <a:t>6. How are detections displayed?</a:t>
            </a:r>
            <a:endParaRPr b="0" lang="en-US" sz="3400" spc="-1" strike="noStrike">
              <a:solidFill>
                <a:srgbClr val="ffffff"/>
              </a:solidFill>
              <a:latin typeface="Arial"/>
            </a:endParaRPr>
          </a:p>
        </p:txBody>
      </p:sp>
      <p:sp>
        <p:nvSpPr>
          <p:cNvPr id="93" name="Rectangle 2"/>
          <p:cNvSpPr/>
          <p:nvPr/>
        </p:nvSpPr>
        <p:spPr>
          <a:xfrm>
            <a:off x="621720" y="1134000"/>
            <a:ext cx="1096920" cy="45360"/>
          </a:xfrm>
          <a:prstGeom prst="rect">
            <a:avLst/>
          </a:prstGeom>
          <a:solidFill>
            <a:srgbClr val="2ac4ff"/>
          </a:solidFill>
          <a:ln>
            <a:solidFill>
              <a:srgbClr val="2ac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94" name="TextBox 3"/>
          <p:cNvSpPr/>
          <p:nvPr/>
        </p:nvSpPr>
        <p:spPr>
          <a:xfrm>
            <a:off x="777240" y="1737360"/>
            <a:ext cx="10789560" cy="72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100" spc="-1" strike="noStrike">
                <a:solidFill>
                  <a:srgbClr val="a2b0c2"/>
                </a:solidFill>
                <a:latin typeface="Calibri"/>
              </a:rPr>
              <a:t>The server sends detection JSON through /ws/detections. Flutter parses the bounding boxes and renders them over the video feed using the AI overlay widget.</a:t>
            </a:r>
            <a:endParaRPr b="0" lang="en-US" sz="2100" spc="-1" strike="noStrike">
              <a:solidFill>
                <a:srgbClr val="ffffff"/>
              </a:solidFill>
              <a:latin typeface="Arial"/>
            </a:endParaRPr>
          </a:p>
        </p:txBody>
      </p:sp>
      <p:sp>
        <p:nvSpPr>
          <p:cNvPr id="95" name="TextBox 4"/>
          <p:cNvSpPr/>
          <p:nvPr/>
        </p:nvSpPr>
        <p:spPr>
          <a:xfrm>
            <a:off x="5679720" y="6473880"/>
            <a:ext cx="801360" cy="22716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900" spc="-1" strike="noStrike">
                <a:solidFill>
                  <a:srgbClr val="a2b0c2"/>
                </a:solidFill>
                <a:latin typeface="Aptos"/>
              </a:rPr>
              <a:t>Phoenix | 7</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111c"/>
        </a:solidFill>
      </p:bgPr>
    </p:bg>
    <p:spTree>
      <p:nvGrpSpPr>
        <p:cNvPr id="1" name=""/>
        <p:cNvGrpSpPr/>
        <p:nvPr/>
      </p:nvGrpSpPr>
      <p:grpSpPr>
        <a:xfrm>
          <a:off x="0" y="0"/>
          <a:ext cx="0" cy="0"/>
          <a:chOff x="0" y="0"/>
          <a:chExt cx="0" cy="0"/>
        </a:xfrm>
      </p:grpSpPr>
      <p:sp>
        <p:nvSpPr>
          <p:cNvPr id="96" name="TextBox 1"/>
          <p:cNvSpPr/>
          <p:nvPr/>
        </p:nvSpPr>
        <p:spPr>
          <a:xfrm>
            <a:off x="1604520" y="411480"/>
            <a:ext cx="8951760" cy="6076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3400" spc="-1" strike="noStrike">
                <a:solidFill>
                  <a:srgbClr val="eef4fa"/>
                </a:solidFill>
                <a:latin typeface="Aptos"/>
              </a:rPr>
              <a:t>7. How are commands sent to the drone?</a:t>
            </a:r>
            <a:endParaRPr b="0" lang="en-US" sz="3400" spc="-1" strike="noStrike">
              <a:solidFill>
                <a:srgbClr val="ffffff"/>
              </a:solidFill>
              <a:latin typeface="Arial"/>
            </a:endParaRPr>
          </a:p>
        </p:txBody>
      </p:sp>
      <p:sp>
        <p:nvSpPr>
          <p:cNvPr id="97" name="Rectangle 2"/>
          <p:cNvSpPr/>
          <p:nvPr/>
        </p:nvSpPr>
        <p:spPr>
          <a:xfrm>
            <a:off x="621720" y="1134000"/>
            <a:ext cx="1096920" cy="45360"/>
          </a:xfrm>
          <a:prstGeom prst="rect">
            <a:avLst/>
          </a:prstGeom>
          <a:solidFill>
            <a:srgbClr val="2ac4ff"/>
          </a:solidFill>
          <a:ln>
            <a:solidFill>
              <a:srgbClr val="2ac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98" name="TextBox 3"/>
          <p:cNvSpPr/>
          <p:nvPr/>
        </p:nvSpPr>
        <p:spPr>
          <a:xfrm>
            <a:off x="777240" y="1737360"/>
            <a:ext cx="10789560" cy="1049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100" spc="-1" strike="noStrike">
                <a:solidFill>
                  <a:srgbClr val="a2b0c2"/>
                </a:solidFill>
                <a:latin typeface="Calibri"/>
              </a:rPr>
              <a:t>The virtual joystick sends movement commands from Flutter to the server through /ws/commands. The server currently receives and logs the commands, and the next integration step is forwarding them to the drone control layer.</a:t>
            </a:r>
            <a:endParaRPr b="0" lang="en-US" sz="2100" spc="-1" strike="noStrike">
              <a:solidFill>
                <a:srgbClr val="ffffff"/>
              </a:solidFill>
              <a:latin typeface="Arial"/>
            </a:endParaRPr>
          </a:p>
        </p:txBody>
      </p:sp>
      <p:sp>
        <p:nvSpPr>
          <p:cNvPr id="99" name="TextBox 4"/>
          <p:cNvSpPr/>
          <p:nvPr/>
        </p:nvSpPr>
        <p:spPr>
          <a:xfrm>
            <a:off x="5679720" y="6473880"/>
            <a:ext cx="801360" cy="22716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900" spc="-1" strike="noStrike">
                <a:solidFill>
                  <a:srgbClr val="a2b0c2"/>
                </a:solidFill>
                <a:latin typeface="Aptos"/>
              </a:rPr>
              <a:t>Phoenix | 8</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111c"/>
        </a:solidFill>
      </p:bgPr>
    </p:bg>
    <p:spTree>
      <p:nvGrpSpPr>
        <p:cNvPr id="1" name=""/>
        <p:cNvGrpSpPr/>
        <p:nvPr/>
      </p:nvGrpSpPr>
      <p:grpSpPr>
        <a:xfrm>
          <a:off x="0" y="0"/>
          <a:ext cx="0" cy="0"/>
          <a:chOff x="0" y="0"/>
          <a:chExt cx="0" cy="0"/>
        </a:xfrm>
      </p:grpSpPr>
      <p:sp>
        <p:nvSpPr>
          <p:cNvPr id="100" name="TextBox 1"/>
          <p:cNvSpPr/>
          <p:nvPr/>
        </p:nvSpPr>
        <p:spPr>
          <a:xfrm>
            <a:off x="-17640" y="411480"/>
            <a:ext cx="12196440" cy="6076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3400" spc="-1" strike="noStrike">
                <a:solidFill>
                  <a:srgbClr val="eef4fa"/>
                </a:solidFill>
                <a:latin typeface="Aptos"/>
              </a:rPr>
              <a:t>8. What are the strongest technical parts of the project?</a:t>
            </a:r>
            <a:endParaRPr b="0" lang="en-US" sz="3400" spc="-1" strike="noStrike">
              <a:solidFill>
                <a:srgbClr val="ffffff"/>
              </a:solidFill>
              <a:latin typeface="Arial"/>
            </a:endParaRPr>
          </a:p>
        </p:txBody>
      </p:sp>
      <p:sp>
        <p:nvSpPr>
          <p:cNvPr id="101" name="Rectangle 2"/>
          <p:cNvSpPr/>
          <p:nvPr/>
        </p:nvSpPr>
        <p:spPr>
          <a:xfrm>
            <a:off x="621720" y="1134000"/>
            <a:ext cx="1096920" cy="45360"/>
          </a:xfrm>
          <a:prstGeom prst="rect">
            <a:avLst/>
          </a:prstGeom>
          <a:solidFill>
            <a:srgbClr val="2ac4ff"/>
          </a:solidFill>
          <a:ln>
            <a:solidFill>
              <a:srgbClr val="2ac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102" name="TextBox 3"/>
          <p:cNvSpPr/>
          <p:nvPr/>
        </p:nvSpPr>
        <p:spPr>
          <a:xfrm>
            <a:off x="777240" y="1737360"/>
            <a:ext cx="10789560" cy="176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200" spc="-1" strike="noStrike">
                <a:solidFill>
                  <a:srgbClr val="eef4fa"/>
                </a:solidFill>
                <a:latin typeface="Calibri"/>
              </a:rPr>
              <a:t>Full real-time architecture</a:t>
            </a:r>
            <a:endParaRPr b="0" lang="en-US" sz="2200" spc="-1" strike="noStrike">
              <a:solidFill>
                <a:srgbClr val="ffffff"/>
              </a:solidFill>
              <a:latin typeface="Arial"/>
            </a:endParaRPr>
          </a:p>
          <a:p>
            <a:pPr defTabSz="457200">
              <a:lnSpc>
                <a:spcPct val="100000"/>
              </a:lnSpc>
            </a:pPr>
            <a:r>
              <a:rPr b="0" lang="en-US" sz="2200" spc="-1" strike="noStrike">
                <a:solidFill>
                  <a:srgbClr val="eef4fa"/>
                </a:solidFill>
                <a:latin typeface="Calibri"/>
              </a:rPr>
              <a:t>Clean Flutter structure with Cubit state management</a:t>
            </a:r>
            <a:endParaRPr b="0" lang="en-US" sz="2200" spc="-1" strike="noStrike">
              <a:solidFill>
                <a:srgbClr val="ffffff"/>
              </a:solidFill>
              <a:latin typeface="Arial"/>
            </a:endParaRPr>
          </a:p>
          <a:p>
            <a:pPr defTabSz="457200">
              <a:lnSpc>
                <a:spcPct val="100000"/>
              </a:lnSpc>
            </a:pPr>
            <a:r>
              <a:rPr b="0" lang="en-US" sz="2200" spc="-1" strike="noStrike">
                <a:solidFill>
                  <a:srgbClr val="eef4fa"/>
                </a:solidFill>
                <a:latin typeface="Calibri"/>
              </a:rPr>
              <a:t>FastAPI middleware with TCP and WebSocket channels</a:t>
            </a:r>
            <a:endParaRPr b="0" lang="en-US" sz="2200" spc="-1" strike="noStrike">
              <a:solidFill>
                <a:srgbClr val="ffffff"/>
              </a:solidFill>
              <a:latin typeface="Arial"/>
            </a:endParaRPr>
          </a:p>
          <a:p>
            <a:pPr defTabSz="457200">
              <a:lnSpc>
                <a:spcPct val="100000"/>
              </a:lnSpc>
            </a:pPr>
            <a:r>
              <a:rPr b="0" lang="en-US" sz="2200" spc="-1" strike="noStrike">
                <a:solidFill>
                  <a:srgbClr val="eef4fa"/>
                </a:solidFill>
                <a:latin typeface="Calibri"/>
              </a:rPr>
              <a:t>Firebase integration for auth, status, reports, and GPS</a:t>
            </a:r>
            <a:endParaRPr b="0" lang="en-US" sz="2200" spc="-1" strike="noStrike">
              <a:solidFill>
                <a:srgbClr val="ffffff"/>
              </a:solidFill>
              <a:latin typeface="Arial"/>
            </a:endParaRPr>
          </a:p>
          <a:p>
            <a:pPr defTabSz="457200">
              <a:lnSpc>
                <a:spcPct val="100000"/>
              </a:lnSpc>
            </a:pPr>
            <a:r>
              <a:rPr b="0" lang="en-US" sz="2200" spc="-1" strike="noStrike">
                <a:solidFill>
                  <a:srgbClr val="eef4fa"/>
                </a:solidFill>
                <a:latin typeface="Calibri"/>
              </a:rPr>
              <a:t>AI-ready processing pipeline</a:t>
            </a:r>
            <a:endParaRPr b="0" lang="en-US" sz="2200" spc="-1" strike="noStrike">
              <a:solidFill>
                <a:srgbClr val="ffffff"/>
              </a:solidFill>
              <a:latin typeface="Arial"/>
            </a:endParaRPr>
          </a:p>
        </p:txBody>
      </p:sp>
      <p:sp>
        <p:nvSpPr>
          <p:cNvPr id="103" name="TextBox 4"/>
          <p:cNvSpPr/>
          <p:nvPr/>
        </p:nvSpPr>
        <p:spPr>
          <a:xfrm>
            <a:off x="5679720" y="6473880"/>
            <a:ext cx="801360" cy="22716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900" spc="-1" strike="noStrike">
                <a:solidFill>
                  <a:srgbClr val="a2b0c2"/>
                </a:solidFill>
                <a:latin typeface="Aptos"/>
              </a:rPr>
              <a:t>Phoenix | 9</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111c"/>
        </a:solidFill>
      </p:bgPr>
    </p:bg>
    <p:spTree>
      <p:nvGrpSpPr>
        <p:cNvPr id="1" name=""/>
        <p:cNvGrpSpPr/>
        <p:nvPr/>
      </p:nvGrpSpPr>
      <p:grpSpPr>
        <a:xfrm>
          <a:off x="0" y="0"/>
          <a:ext cx="0" cy="0"/>
          <a:chOff x="0" y="0"/>
          <a:chExt cx="0" cy="0"/>
        </a:xfrm>
      </p:grpSpPr>
      <p:sp>
        <p:nvSpPr>
          <p:cNvPr id="104" name="TextBox 1"/>
          <p:cNvSpPr/>
          <p:nvPr/>
        </p:nvSpPr>
        <p:spPr>
          <a:xfrm>
            <a:off x="2420640" y="411480"/>
            <a:ext cx="7319520" cy="6076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3400" spc="-1" strike="noStrike">
                <a:solidFill>
                  <a:srgbClr val="eef4fa"/>
                </a:solidFill>
                <a:latin typeface="Aptos"/>
              </a:rPr>
              <a:t>9. What is not fully complete yet?</a:t>
            </a:r>
            <a:endParaRPr b="0" lang="en-US" sz="3400" spc="-1" strike="noStrike">
              <a:solidFill>
                <a:srgbClr val="ffffff"/>
              </a:solidFill>
              <a:latin typeface="Arial"/>
            </a:endParaRPr>
          </a:p>
        </p:txBody>
      </p:sp>
      <p:sp>
        <p:nvSpPr>
          <p:cNvPr id="105" name="Rectangle 2"/>
          <p:cNvSpPr/>
          <p:nvPr/>
        </p:nvSpPr>
        <p:spPr>
          <a:xfrm>
            <a:off x="621720" y="1134000"/>
            <a:ext cx="1096920" cy="45360"/>
          </a:xfrm>
          <a:prstGeom prst="rect">
            <a:avLst/>
          </a:prstGeom>
          <a:solidFill>
            <a:srgbClr val="2ac4ff"/>
          </a:solidFill>
          <a:ln>
            <a:solidFill>
              <a:srgbClr val="2ac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106" name="TextBox 3"/>
          <p:cNvSpPr/>
          <p:nvPr/>
        </p:nvSpPr>
        <p:spPr>
          <a:xfrm>
            <a:off x="777240" y="1737360"/>
            <a:ext cx="10789560" cy="1430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200" spc="-1" strike="noStrike">
                <a:solidFill>
                  <a:srgbClr val="eef4fa"/>
                </a:solidFill>
                <a:latin typeface="Calibri"/>
              </a:rPr>
              <a:t>Final hardware end-to-end test</a:t>
            </a:r>
            <a:endParaRPr b="0" lang="en-US" sz="2200" spc="-1" strike="noStrike">
              <a:solidFill>
                <a:srgbClr val="ffffff"/>
              </a:solidFill>
              <a:latin typeface="Arial"/>
            </a:endParaRPr>
          </a:p>
          <a:p>
            <a:pPr defTabSz="457200">
              <a:lnSpc>
                <a:spcPct val="100000"/>
              </a:lnSpc>
            </a:pPr>
            <a:r>
              <a:rPr b="0" lang="en-US" sz="2200" spc="-1" strike="noStrike">
                <a:solidFill>
                  <a:srgbClr val="eef4fa"/>
                </a:solidFill>
                <a:latin typeface="Calibri"/>
              </a:rPr>
              <a:t>Final YOLO model integration</a:t>
            </a:r>
            <a:endParaRPr b="0" lang="en-US" sz="2200" spc="-1" strike="noStrike">
              <a:solidFill>
                <a:srgbClr val="ffffff"/>
              </a:solidFill>
              <a:latin typeface="Arial"/>
            </a:endParaRPr>
          </a:p>
          <a:p>
            <a:pPr defTabSz="457200">
              <a:lnSpc>
                <a:spcPct val="100000"/>
              </a:lnSpc>
            </a:pPr>
            <a:r>
              <a:rPr b="0" lang="en-US" sz="2200" spc="-1" strike="noStrike">
                <a:solidFill>
                  <a:srgbClr val="eef4fa"/>
                </a:solidFill>
                <a:latin typeface="Calibri"/>
              </a:rPr>
              <a:t>Complete mission planning workflow</a:t>
            </a:r>
            <a:endParaRPr b="0" lang="en-US" sz="2200" spc="-1" strike="noStrike">
              <a:solidFill>
                <a:srgbClr val="ffffff"/>
              </a:solidFill>
              <a:latin typeface="Arial"/>
            </a:endParaRPr>
          </a:p>
          <a:p>
            <a:pPr defTabSz="457200">
              <a:lnSpc>
                <a:spcPct val="100000"/>
              </a:lnSpc>
            </a:pPr>
            <a:r>
              <a:rPr b="0" lang="en-US" sz="2200" spc="-1" strike="noStrike">
                <a:solidFill>
                  <a:srgbClr val="eef4fa"/>
                </a:solidFill>
                <a:latin typeface="Calibri"/>
              </a:rPr>
              <a:t>Command acknowledgement from drone back to app</a:t>
            </a:r>
            <a:endParaRPr b="0" lang="en-US" sz="2200" spc="-1" strike="noStrike">
              <a:solidFill>
                <a:srgbClr val="ffffff"/>
              </a:solidFill>
              <a:latin typeface="Arial"/>
            </a:endParaRPr>
          </a:p>
        </p:txBody>
      </p:sp>
      <p:sp>
        <p:nvSpPr>
          <p:cNvPr id="107" name="TextBox 4"/>
          <p:cNvSpPr/>
          <p:nvPr/>
        </p:nvSpPr>
        <p:spPr>
          <a:xfrm>
            <a:off x="5646960" y="6473880"/>
            <a:ext cx="866880" cy="22716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900" spc="-1" strike="noStrike">
                <a:solidFill>
                  <a:srgbClr val="a2b0c2"/>
                </a:solidFill>
                <a:latin typeface="Aptos"/>
              </a:rPr>
              <a:t>Phoenix | 10</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111c"/>
        </a:solidFill>
      </p:bgPr>
    </p:bg>
    <p:spTree>
      <p:nvGrpSpPr>
        <p:cNvPr id="1" name=""/>
        <p:cNvGrpSpPr/>
        <p:nvPr/>
      </p:nvGrpSpPr>
      <p:grpSpPr>
        <a:xfrm>
          <a:off x="0" y="0"/>
          <a:ext cx="0" cy="0"/>
          <a:chOff x="0" y="0"/>
          <a:chExt cx="0" cy="0"/>
        </a:xfrm>
      </p:grpSpPr>
      <p:sp>
        <p:nvSpPr>
          <p:cNvPr id="108" name="TextBox 1"/>
          <p:cNvSpPr/>
          <p:nvPr/>
        </p:nvSpPr>
        <p:spPr>
          <a:xfrm>
            <a:off x="1398960" y="411480"/>
            <a:ext cx="9363240" cy="6076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3400" spc="-1" strike="noStrike">
                <a:solidFill>
                  <a:srgbClr val="eef4fa"/>
                </a:solidFill>
                <a:latin typeface="Aptos"/>
              </a:rPr>
              <a:t>10. How can the project be improved later?</a:t>
            </a:r>
            <a:endParaRPr b="0" lang="en-US" sz="3400" spc="-1" strike="noStrike">
              <a:solidFill>
                <a:srgbClr val="ffffff"/>
              </a:solidFill>
              <a:latin typeface="Arial"/>
            </a:endParaRPr>
          </a:p>
        </p:txBody>
      </p:sp>
      <p:sp>
        <p:nvSpPr>
          <p:cNvPr id="109" name="Rectangle 2"/>
          <p:cNvSpPr/>
          <p:nvPr/>
        </p:nvSpPr>
        <p:spPr>
          <a:xfrm>
            <a:off x="621720" y="1134000"/>
            <a:ext cx="1096920" cy="45360"/>
          </a:xfrm>
          <a:prstGeom prst="rect">
            <a:avLst/>
          </a:prstGeom>
          <a:solidFill>
            <a:srgbClr val="2ac4ff"/>
          </a:solidFill>
          <a:ln>
            <a:solidFill>
              <a:srgbClr val="2ac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110" name="TextBox 3"/>
          <p:cNvSpPr/>
          <p:nvPr/>
        </p:nvSpPr>
        <p:spPr>
          <a:xfrm>
            <a:off x="777240" y="1737360"/>
            <a:ext cx="10789560" cy="1049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100" spc="-1" strike="noStrike">
                <a:solidFill>
                  <a:srgbClr val="a2b0c2"/>
                </a:solidFill>
                <a:latin typeface="Calibri"/>
              </a:rPr>
              <a:t>The project can add mission recording, multi-user team access, offline caching, better reconnect handling, final thermal camera integration, and real drone command acknowledgement.</a:t>
            </a:r>
            <a:endParaRPr b="0" lang="en-US" sz="2100" spc="-1" strike="noStrike">
              <a:solidFill>
                <a:srgbClr val="ffffff"/>
              </a:solidFill>
              <a:latin typeface="Arial"/>
            </a:endParaRPr>
          </a:p>
        </p:txBody>
      </p:sp>
      <p:sp>
        <p:nvSpPr>
          <p:cNvPr id="111" name="TextBox 4"/>
          <p:cNvSpPr/>
          <p:nvPr/>
        </p:nvSpPr>
        <p:spPr>
          <a:xfrm>
            <a:off x="5646960" y="6473880"/>
            <a:ext cx="866880" cy="22716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900" spc="-1" strike="noStrike">
                <a:solidFill>
                  <a:srgbClr val="a2b0c2"/>
                </a:solidFill>
                <a:latin typeface="Aptos"/>
              </a:rPr>
              <a:t>Phoenix | 11</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2026-06-20T18:29:28Z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