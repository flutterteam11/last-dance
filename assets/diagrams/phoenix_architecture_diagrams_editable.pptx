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8000" y="3683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300" b="1">
                <a:solidFill>
                  <a:srgbClr val="EFF6FF"/>
                </a:solidFill>
                <a:latin typeface="Aptos"/>
              </a:rPr>
              <a:t>Splash, Onboarding and Auth Relationship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8382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A6B4CA"/>
                </a:solidFill>
                <a:latin typeface="Aptos"/>
              </a:rPr>
              <a:t>Code path: GoRouter -&gt; SplashScreen -&gt; AuthCubit -&gt; Onboarding/Auth -&gt; Home</a:t>
            </a:r>
          </a:p>
        </p:txBody>
      </p:sp>
      <p:sp>
        <p:nvSpPr>
          <p:cNvPr id="4" name="title accent"/>
          <p:cNvSpPr/>
          <p:nvPr/>
        </p:nvSpPr>
        <p:spPr>
          <a:xfrm>
            <a:off x="508000" y="1130300"/>
            <a:ext cx="1905000" cy="63500"/>
          </a:xfrm>
          <a:prstGeom prst="roundRect">
            <a:avLst/>
          </a:prstGeom>
          <a:solidFill>
            <a:srgbClr val="2A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plash Screen"/>
          <p:cNvSpPr/>
          <p:nvPr/>
        </p:nvSpPr>
        <p:spPr>
          <a:xfrm>
            <a:off x="698500" y="2095499"/>
            <a:ext cx="2286000" cy="11430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plash Screen accent"/>
          <p:cNvSpPr/>
          <p:nvPr/>
        </p:nvSpPr>
        <p:spPr>
          <a:xfrm>
            <a:off x="698500" y="2095499"/>
            <a:ext cx="69850" cy="1143000"/>
          </a:xfrm>
          <a:prstGeom prst="roundRect">
            <a:avLst/>
          </a:prstGeom>
          <a:solidFill>
            <a:srgbClr val="2A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plash Screen title"/>
          <p:cNvSpPr txBox="1"/>
          <p:nvPr/>
        </p:nvSpPr>
        <p:spPr>
          <a:xfrm>
            <a:off x="889000" y="2247900"/>
            <a:ext cx="193674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Splash Screen</a:t>
            </a:r>
          </a:p>
        </p:txBody>
      </p:sp>
      <p:sp>
        <p:nvSpPr>
          <p:cNvPr id="8" name="Splash Screen body"/>
          <p:cNvSpPr txBox="1"/>
          <p:nvPr/>
        </p:nvSpPr>
        <p:spPr>
          <a:xfrm>
            <a:off x="889000" y="2590800"/>
            <a:ext cx="1936749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Initial route /splash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Logo animation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checkAuthStatus()</a:t>
            </a:r>
          </a:p>
        </p:txBody>
      </p:sp>
      <p:sp>
        <p:nvSpPr>
          <p:cNvPr id="9" name="Auth Gate"/>
          <p:cNvSpPr/>
          <p:nvPr/>
        </p:nvSpPr>
        <p:spPr>
          <a:xfrm>
            <a:off x="3556000" y="1524000"/>
            <a:ext cx="2667000" cy="13970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uth Gate accent"/>
          <p:cNvSpPr/>
          <p:nvPr/>
        </p:nvSpPr>
        <p:spPr>
          <a:xfrm>
            <a:off x="3556000" y="1524000"/>
            <a:ext cx="69850" cy="1397000"/>
          </a:xfrm>
          <a:prstGeom prst="roundRect">
            <a:avLst/>
          </a:prstGeom>
          <a:solidFill>
            <a:srgbClr val="FF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uth Gate title"/>
          <p:cNvSpPr txBox="1"/>
          <p:nvPr/>
        </p:nvSpPr>
        <p:spPr>
          <a:xfrm>
            <a:off x="3746500" y="1676400"/>
            <a:ext cx="2317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Auth Gate</a:t>
            </a:r>
          </a:p>
        </p:txBody>
      </p:sp>
      <p:sp>
        <p:nvSpPr>
          <p:cNvPr id="12" name="Auth Gate body"/>
          <p:cNvSpPr txBox="1"/>
          <p:nvPr/>
        </p:nvSpPr>
        <p:spPr>
          <a:xfrm>
            <a:off x="3746500" y="2019300"/>
            <a:ext cx="231775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AuthCubit reads local flag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then FirebaseAuth currentUser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and users/{uid}</a:t>
            </a:r>
          </a:p>
        </p:txBody>
      </p:sp>
      <p:sp>
        <p:nvSpPr>
          <p:cNvPr id="13" name="Home"/>
          <p:cNvSpPr/>
          <p:nvPr/>
        </p:nvSpPr>
        <p:spPr>
          <a:xfrm>
            <a:off x="6985000" y="1397000"/>
            <a:ext cx="2476500" cy="11430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ome accent"/>
          <p:cNvSpPr/>
          <p:nvPr/>
        </p:nvSpPr>
        <p:spPr>
          <a:xfrm>
            <a:off x="6985000" y="1397000"/>
            <a:ext cx="69850" cy="1143000"/>
          </a:xfrm>
          <a:prstGeom prst="roundRect">
            <a:avLst/>
          </a:prstGeom>
          <a:solidFill>
            <a:srgbClr val="4ED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ome title"/>
          <p:cNvSpPr txBox="1"/>
          <p:nvPr/>
        </p:nvSpPr>
        <p:spPr>
          <a:xfrm>
            <a:off x="7175500" y="1549400"/>
            <a:ext cx="2127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Home</a:t>
            </a:r>
          </a:p>
        </p:txBody>
      </p:sp>
      <p:sp>
        <p:nvSpPr>
          <p:cNvPr id="16" name="Home body"/>
          <p:cNvSpPr txBox="1"/>
          <p:nvPr/>
        </p:nvSpPr>
        <p:spPr>
          <a:xfrm>
            <a:off x="7175500" y="1892300"/>
            <a:ext cx="21272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AuthSuccess routes to /home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DroneMainShell opens main app</a:t>
            </a:r>
          </a:p>
        </p:txBody>
      </p:sp>
      <p:sp>
        <p:nvSpPr>
          <p:cNvPr id="17" name="Onboarding"/>
          <p:cNvSpPr/>
          <p:nvPr/>
        </p:nvSpPr>
        <p:spPr>
          <a:xfrm>
            <a:off x="3556000" y="3873499"/>
            <a:ext cx="2667000" cy="1333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nboarding accent"/>
          <p:cNvSpPr/>
          <p:nvPr/>
        </p:nvSpPr>
        <p:spPr>
          <a:xfrm>
            <a:off x="3556000" y="3873499"/>
            <a:ext cx="69850" cy="1333500"/>
          </a:xfrm>
          <a:prstGeom prst="roundRect">
            <a:avLst/>
          </a:prstGeom>
          <a:solidFill>
            <a:srgbClr val="AA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nboarding title"/>
          <p:cNvSpPr txBox="1"/>
          <p:nvPr/>
        </p:nvSpPr>
        <p:spPr>
          <a:xfrm>
            <a:off x="3746500" y="4025900"/>
            <a:ext cx="2317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Onboarding</a:t>
            </a:r>
          </a:p>
        </p:txBody>
      </p:sp>
      <p:sp>
        <p:nvSpPr>
          <p:cNvPr id="20" name="Onboarding body"/>
          <p:cNvSpPr txBox="1"/>
          <p:nvPr/>
        </p:nvSpPr>
        <p:spPr>
          <a:xfrm>
            <a:off x="3746500" y="4368800"/>
            <a:ext cx="2317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4-page PageView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Skip or Start now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routes to /sign-in</a:t>
            </a:r>
          </a:p>
        </p:txBody>
      </p:sp>
      <p:sp>
        <p:nvSpPr>
          <p:cNvPr id="21" name="Auth Screens"/>
          <p:cNvSpPr/>
          <p:nvPr/>
        </p:nvSpPr>
        <p:spPr>
          <a:xfrm>
            <a:off x="7048500" y="3873499"/>
            <a:ext cx="2540000" cy="1333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uth Screens accent"/>
          <p:cNvSpPr/>
          <p:nvPr/>
        </p:nvSpPr>
        <p:spPr>
          <a:xfrm>
            <a:off x="7048500" y="3873499"/>
            <a:ext cx="69850" cy="1333500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uth Screens title"/>
          <p:cNvSpPr txBox="1"/>
          <p:nvPr/>
        </p:nvSpPr>
        <p:spPr>
          <a:xfrm>
            <a:off x="7239000" y="4025900"/>
            <a:ext cx="2190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Auth Screens</a:t>
            </a:r>
          </a:p>
        </p:txBody>
      </p:sp>
      <p:sp>
        <p:nvSpPr>
          <p:cNvPr id="24" name="Auth Screens body"/>
          <p:cNvSpPr txBox="1"/>
          <p:nvPr/>
        </p:nvSpPr>
        <p:spPr>
          <a:xfrm>
            <a:off x="7239000" y="436880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Sign in, sign up, OTP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Google sign-in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password reset</a:t>
            </a:r>
          </a:p>
        </p:txBody>
      </p:sp>
      <p:sp>
        <p:nvSpPr>
          <p:cNvPr id="25" name="Firebase Auth"/>
          <p:cNvSpPr/>
          <p:nvPr/>
        </p:nvSpPr>
        <p:spPr>
          <a:xfrm>
            <a:off x="9779000" y="3873499"/>
            <a:ext cx="1905000" cy="1333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irebase Auth accent"/>
          <p:cNvSpPr/>
          <p:nvPr/>
        </p:nvSpPr>
        <p:spPr>
          <a:xfrm>
            <a:off x="9779000" y="3873499"/>
            <a:ext cx="69850" cy="1333500"/>
          </a:xfrm>
          <a:prstGeom prst="roundRect">
            <a:avLst/>
          </a:prstGeom>
          <a:solidFill>
            <a:srgbClr val="FF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Firebase Auth title"/>
          <p:cNvSpPr txBox="1"/>
          <p:nvPr/>
        </p:nvSpPr>
        <p:spPr>
          <a:xfrm>
            <a:off x="9969500" y="4025900"/>
            <a:ext cx="1555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Firebase Auth</a:t>
            </a:r>
          </a:p>
        </p:txBody>
      </p:sp>
      <p:sp>
        <p:nvSpPr>
          <p:cNvPr id="28" name="Firebase Auth body"/>
          <p:cNvSpPr txBox="1"/>
          <p:nvPr/>
        </p:nvSpPr>
        <p:spPr>
          <a:xfrm>
            <a:off x="9969500" y="4368800"/>
            <a:ext cx="1555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Email/password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Google credential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Firestore user doc</a:t>
            </a:r>
          </a:p>
        </p:txBody>
      </p:sp>
      <p:cxnSp>
        <p:nvCxnSpPr>
          <p:cNvPr id="29" name="arrow on app start"/>
          <p:cNvCxnSpPr/>
          <p:nvPr/>
        </p:nvCxnSpPr>
        <p:spPr>
          <a:xfrm flipV="1">
            <a:off x="2984500" y="2222500"/>
            <a:ext cx="571500" cy="444500"/>
          </a:xfrm>
          <a:prstGeom prst="line">
            <a:avLst/>
          </a:prstGeom>
          <a:ln w="35560">
            <a:solidFill>
              <a:srgbClr val="2A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rrow on app start label"/>
          <p:cNvSpPr/>
          <p:nvPr/>
        </p:nvSpPr>
        <p:spPr>
          <a:xfrm>
            <a:off x="2825750" y="1987550"/>
            <a:ext cx="82803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on app start</a:t>
            </a:r>
          </a:p>
        </p:txBody>
      </p:sp>
      <p:cxnSp>
        <p:nvCxnSpPr>
          <p:cNvPr id="31" name="arrow logged in"/>
          <p:cNvCxnSpPr/>
          <p:nvPr/>
        </p:nvCxnSpPr>
        <p:spPr>
          <a:xfrm flipV="1">
            <a:off x="6223000" y="1968500"/>
            <a:ext cx="762000" cy="63500"/>
          </a:xfrm>
          <a:prstGeom prst="line">
            <a:avLst/>
          </a:prstGeom>
          <a:ln w="35560">
            <a:solidFill>
              <a:srgbClr val="4ED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 logged in label"/>
          <p:cNvSpPr/>
          <p:nvPr/>
        </p:nvSpPr>
        <p:spPr>
          <a:xfrm>
            <a:off x="6604000" y="1758950"/>
            <a:ext cx="671830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4ED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logged in</a:t>
            </a:r>
          </a:p>
        </p:txBody>
      </p:sp>
      <p:cxnSp>
        <p:nvCxnSpPr>
          <p:cNvPr id="33" name="arrow not logged in"/>
          <p:cNvCxnSpPr/>
          <p:nvPr/>
        </p:nvCxnSpPr>
        <p:spPr>
          <a:xfrm>
            <a:off x="4889500" y="2921000"/>
            <a:ext cx="0" cy="952499"/>
          </a:xfrm>
          <a:prstGeom prst="line">
            <a:avLst/>
          </a:prstGeom>
          <a:ln w="35560">
            <a:solidFill>
              <a:srgbClr val="AA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rrow not logged in label"/>
          <p:cNvSpPr/>
          <p:nvPr/>
        </p:nvSpPr>
        <p:spPr>
          <a:xfrm>
            <a:off x="4540250" y="3365500"/>
            <a:ext cx="88010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AA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not logged in</a:t>
            </a:r>
          </a:p>
        </p:txBody>
      </p:sp>
      <p:cxnSp>
        <p:nvCxnSpPr>
          <p:cNvPr id="35" name="arrow skip / start"/>
          <p:cNvCxnSpPr/>
          <p:nvPr/>
        </p:nvCxnSpPr>
        <p:spPr>
          <a:xfrm>
            <a:off x="6223000" y="4540250"/>
            <a:ext cx="825500" cy="0"/>
          </a:xfrm>
          <a:prstGeom prst="line">
            <a:avLst/>
          </a:prstGeom>
          <a:ln w="35560">
            <a:solidFill>
              <a:srgbClr val="AA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row skip / start label"/>
          <p:cNvSpPr/>
          <p:nvPr/>
        </p:nvSpPr>
        <p:spPr>
          <a:xfrm>
            <a:off x="6635750" y="4298950"/>
            <a:ext cx="82803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AA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skip / start</a:t>
            </a:r>
          </a:p>
        </p:txBody>
      </p:sp>
      <p:cxnSp>
        <p:nvCxnSpPr>
          <p:cNvPr id="37" name="arrow credentials"/>
          <p:cNvCxnSpPr/>
          <p:nvPr/>
        </p:nvCxnSpPr>
        <p:spPr>
          <a:xfrm>
            <a:off x="9588500" y="4540250"/>
            <a:ext cx="190500" cy="0"/>
          </a:xfrm>
          <a:prstGeom prst="line">
            <a:avLst/>
          </a:prstGeom>
          <a:ln w="35560">
            <a:solidFill>
              <a:srgbClr val="FFC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rrow credentials label"/>
          <p:cNvSpPr/>
          <p:nvPr/>
        </p:nvSpPr>
        <p:spPr>
          <a:xfrm>
            <a:off x="9683750" y="4298950"/>
            <a:ext cx="77596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FFC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credentials</a:t>
            </a:r>
          </a:p>
        </p:txBody>
      </p:sp>
      <p:cxnSp>
        <p:nvCxnSpPr>
          <p:cNvPr id="39" name="arrow AuthSuccess"/>
          <p:cNvCxnSpPr/>
          <p:nvPr/>
        </p:nvCxnSpPr>
        <p:spPr>
          <a:xfrm flipH="1" flipV="1">
            <a:off x="8255000" y="2540000"/>
            <a:ext cx="63499" cy="1333499"/>
          </a:xfrm>
          <a:prstGeom prst="line">
            <a:avLst/>
          </a:prstGeom>
          <a:ln w="35560">
            <a:solidFill>
              <a:srgbClr val="4ED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arrow AuthSuccess label"/>
          <p:cNvSpPr/>
          <p:nvPr/>
        </p:nvSpPr>
        <p:spPr>
          <a:xfrm>
            <a:off x="7524749" y="3079750"/>
            <a:ext cx="77596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4ED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AuthSuccess</a:t>
            </a:r>
          </a:p>
        </p:txBody>
      </p:sp>
      <p:sp>
        <p:nvSpPr>
          <p:cNvPr id="41" name="note Routes: /splash -&gt; /"/>
          <p:cNvSpPr/>
          <p:nvPr/>
        </p:nvSpPr>
        <p:spPr>
          <a:xfrm>
            <a:off x="711200" y="5873750"/>
            <a:ext cx="4081780" cy="215900"/>
          </a:xfrm>
          <a:prstGeom prst="roundRect">
            <a:avLst/>
          </a:prstGeom>
          <a:solidFill>
            <a:srgbClr val="2A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/>
          <a:lstStyle/>
          <a:p>
            <a:pPr algn="ctr"/>
            <a:r>
              <a:rPr sz="980">
                <a:solidFill>
                  <a:srgbClr val="080E19"/>
                </a:solidFill>
                <a:latin typeface="Aptos"/>
              </a:rPr>
              <a:t>Routes: /splash -&gt; /onboarding -&gt; /sign-in|/sign-up|/otp|/forgot-password -&gt; /home</a:t>
            </a:r>
          </a:p>
        </p:txBody>
      </p:sp>
      <p:sp>
        <p:nvSpPr>
          <p:cNvPr id="42" name="note Storage: LocalStorag"/>
          <p:cNvSpPr/>
          <p:nvPr/>
        </p:nvSpPr>
        <p:spPr>
          <a:xfrm>
            <a:off x="711200" y="6159500"/>
            <a:ext cx="3423920" cy="215900"/>
          </a:xfrm>
          <a:prstGeom prst="roundRect">
            <a:avLst/>
          </a:prstGeom>
          <a:solidFill>
            <a:srgbClr val="4ED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/>
          <a:lstStyle/>
          <a:p>
            <a:pPr algn="ctr"/>
            <a:r>
              <a:rPr sz="980">
                <a:solidFill>
                  <a:srgbClr val="080E19"/>
                </a:solidFill>
                <a:latin typeface="Aptos"/>
              </a:rPr>
              <a:t>Storage: LocalStorageService setLoggedIn(true) after successful auth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8000" y="3683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300" b="1">
                <a:solidFill>
                  <a:srgbClr val="EFF6FF"/>
                </a:solidFill>
                <a:latin typeface="Aptos"/>
              </a:rPr>
              <a:t>Mapping With Firebase and Mission Flow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8382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A6B4CA"/>
                </a:solidFill>
                <a:latin typeface="Aptos"/>
              </a:rPr>
              <a:t>Code path: DroneRepositoryImpl streams Firestore docs into Cubits and map widgets</a:t>
            </a:r>
          </a:p>
        </p:txBody>
      </p:sp>
      <p:sp>
        <p:nvSpPr>
          <p:cNvPr id="4" name="title accent"/>
          <p:cNvSpPr/>
          <p:nvPr/>
        </p:nvSpPr>
        <p:spPr>
          <a:xfrm>
            <a:off x="508000" y="1130300"/>
            <a:ext cx="1905000" cy="63500"/>
          </a:xfrm>
          <a:prstGeom prst="roundRect">
            <a:avLst/>
          </a:prstGeom>
          <a:solidFill>
            <a:srgbClr val="2A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loud Firestore"/>
          <p:cNvSpPr/>
          <p:nvPr/>
        </p:nvSpPr>
        <p:spPr>
          <a:xfrm>
            <a:off x="4826000" y="1651000"/>
            <a:ext cx="2667000" cy="19050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oud Firestore accent"/>
          <p:cNvSpPr/>
          <p:nvPr/>
        </p:nvSpPr>
        <p:spPr>
          <a:xfrm>
            <a:off x="4826000" y="1651000"/>
            <a:ext cx="69850" cy="1905000"/>
          </a:xfrm>
          <a:prstGeom prst="roundRect">
            <a:avLst/>
          </a:prstGeom>
          <a:solidFill>
            <a:srgbClr val="FF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ud Firestore title"/>
          <p:cNvSpPr txBox="1"/>
          <p:nvPr/>
        </p:nvSpPr>
        <p:spPr>
          <a:xfrm>
            <a:off x="5016500" y="1803400"/>
            <a:ext cx="2317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Cloud Firestore</a:t>
            </a:r>
          </a:p>
        </p:txBody>
      </p:sp>
      <p:sp>
        <p:nvSpPr>
          <p:cNvPr id="8" name="Cloud Firestore body"/>
          <p:cNvSpPr txBox="1"/>
          <p:nvPr/>
        </p:nvSpPr>
        <p:spPr>
          <a:xfrm>
            <a:off x="5016500" y="2146300"/>
            <a:ext cx="231775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drone/location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drone/status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drone/reports/entries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drone/commands</a:t>
            </a:r>
          </a:p>
        </p:txBody>
      </p:sp>
      <p:sp>
        <p:nvSpPr>
          <p:cNvPr id="9" name="Raspberry Pi Sync"/>
          <p:cNvSpPr/>
          <p:nvPr/>
        </p:nvSpPr>
        <p:spPr>
          <a:xfrm>
            <a:off x="698500" y="1714500"/>
            <a:ext cx="2730500" cy="1841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aspberry Pi Sync accent"/>
          <p:cNvSpPr/>
          <p:nvPr/>
        </p:nvSpPr>
        <p:spPr>
          <a:xfrm>
            <a:off x="698500" y="1714500"/>
            <a:ext cx="69850" cy="1841500"/>
          </a:xfrm>
          <a:prstGeom prst="roundRect">
            <a:avLst/>
          </a:prstGeom>
          <a:solidFill>
            <a:srgbClr val="4ED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aspberry Pi Sync title"/>
          <p:cNvSpPr txBox="1"/>
          <p:nvPr/>
        </p:nvSpPr>
        <p:spPr>
          <a:xfrm>
            <a:off x="889000" y="1866899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Raspberry Pi Sync</a:t>
            </a:r>
          </a:p>
        </p:txBody>
      </p:sp>
      <p:sp>
        <p:nvSpPr>
          <p:cNvPr id="12" name="Raspberry Pi Sync body"/>
          <p:cNvSpPr txBox="1"/>
          <p:nvPr/>
        </p:nvSpPr>
        <p:spPr>
          <a:xfrm>
            <a:off x="889000" y="2209800"/>
            <a:ext cx="2381250" cy="1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firebase_sync.py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writes sensors/status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writes location every 10s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reads commands</a:t>
            </a:r>
          </a:p>
        </p:txBody>
      </p:sp>
      <p:sp>
        <p:nvSpPr>
          <p:cNvPr id="13" name="Flutter Repository"/>
          <p:cNvSpPr/>
          <p:nvPr/>
        </p:nvSpPr>
        <p:spPr>
          <a:xfrm>
            <a:off x="8572500" y="1460500"/>
            <a:ext cx="2730500" cy="1968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utter Repository accent"/>
          <p:cNvSpPr/>
          <p:nvPr/>
        </p:nvSpPr>
        <p:spPr>
          <a:xfrm>
            <a:off x="8572500" y="1460500"/>
            <a:ext cx="69850" cy="1968500"/>
          </a:xfrm>
          <a:prstGeom prst="roundRect">
            <a:avLst/>
          </a:prstGeom>
          <a:solidFill>
            <a:srgbClr val="2A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utter Repository title"/>
          <p:cNvSpPr txBox="1"/>
          <p:nvPr/>
        </p:nvSpPr>
        <p:spPr>
          <a:xfrm>
            <a:off x="8763000" y="161290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Flutter Repository</a:t>
            </a:r>
          </a:p>
        </p:txBody>
      </p:sp>
      <p:sp>
        <p:nvSpPr>
          <p:cNvPr id="16" name="Flutter Repository body"/>
          <p:cNvSpPr txBox="1"/>
          <p:nvPr/>
        </p:nvSpPr>
        <p:spPr>
          <a:xfrm>
            <a:off x="8763000" y="1955800"/>
            <a:ext cx="238125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watchDroneLocation()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watchDroneStatus()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watchDroneReports()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sendCommand()</a:t>
            </a:r>
          </a:p>
        </p:txBody>
      </p:sp>
      <p:sp>
        <p:nvSpPr>
          <p:cNvPr id="17" name="Cubits"/>
          <p:cNvSpPr/>
          <p:nvPr/>
        </p:nvSpPr>
        <p:spPr>
          <a:xfrm>
            <a:off x="7112000" y="4127500"/>
            <a:ext cx="2540000" cy="1333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ubits accent"/>
          <p:cNvSpPr/>
          <p:nvPr/>
        </p:nvSpPr>
        <p:spPr>
          <a:xfrm>
            <a:off x="7112000" y="4127500"/>
            <a:ext cx="69850" cy="1333500"/>
          </a:xfrm>
          <a:prstGeom prst="roundRect">
            <a:avLst/>
          </a:prstGeom>
          <a:solidFill>
            <a:srgbClr val="AA7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ubits title"/>
          <p:cNvSpPr txBox="1"/>
          <p:nvPr/>
        </p:nvSpPr>
        <p:spPr>
          <a:xfrm>
            <a:off x="7302500" y="4279900"/>
            <a:ext cx="2190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Cubits</a:t>
            </a:r>
          </a:p>
        </p:txBody>
      </p:sp>
      <p:sp>
        <p:nvSpPr>
          <p:cNvPr id="20" name="Cubits body"/>
          <p:cNvSpPr txBox="1"/>
          <p:nvPr/>
        </p:nvSpPr>
        <p:spPr>
          <a:xfrm>
            <a:off x="7302500" y="4622800"/>
            <a:ext cx="2190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DroneTrackingCubit keeps path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DroneStatusCubit updates stats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VideoFeedCubit controls mode</a:t>
            </a:r>
          </a:p>
        </p:txBody>
      </p:sp>
      <p:sp>
        <p:nvSpPr>
          <p:cNvPr id="21" name="Map UI"/>
          <p:cNvSpPr/>
          <p:nvPr/>
        </p:nvSpPr>
        <p:spPr>
          <a:xfrm>
            <a:off x="3429000" y="4127500"/>
            <a:ext cx="2667000" cy="1460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ap UI accent"/>
          <p:cNvSpPr/>
          <p:nvPr/>
        </p:nvSpPr>
        <p:spPr>
          <a:xfrm>
            <a:off x="3429000" y="4127500"/>
            <a:ext cx="69850" cy="1460500"/>
          </a:xfrm>
          <a:prstGeom prst="roundRect">
            <a:avLst/>
          </a:prstGeom>
          <a:solidFill>
            <a:srgbClr val="48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Map UI title"/>
          <p:cNvSpPr txBox="1"/>
          <p:nvPr/>
        </p:nvSpPr>
        <p:spPr>
          <a:xfrm>
            <a:off x="3619500" y="4279900"/>
            <a:ext cx="2317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Map UI</a:t>
            </a:r>
          </a:p>
        </p:txBody>
      </p:sp>
      <p:sp>
        <p:nvSpPr>
          <p:cNvPr id="24" name="Map UI body"/>
          <p:cNvSpPr txBox="1"/>
          <p:nvPr/>
        </p:nvSpPr>
        <p:spPr>
          <a:xfrm>
            <a:off x="3619500" y="4622800"/>
            <a:ext cx="2317750" cy="889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FlutterMap + OSM tiles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Drone marker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User marker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Polyline path history</a:t>
            </a:r>
          </a:p>
        </p:txBody>
      </p:sp>
      <p:sp>
        <p:nvSpPr>
          <p:cNvPr id="25" name="Mission Button"/>
          <p:cNvSpPr/>
          <p:nvPr/>
        </p:nvSpPr>
        <p:spPr>
          <a:xfrm>
            <a:off x="711200" y="4127500"/>
            <a:ext cx="2286000" cy="1333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Mission Button accent"/>
          <p:cNvSpPr/>
          <p:nvPr/>
        </p:nvSpPr>
        <p:spPr>
          <a:xfrm>
            <a:off x="711200" y="4127500"/>
            <a:ext cx="69850" cy="1333500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Mission Button title"/>
          <p:cNvSpPr txBox="1"/>
          <p:nvPr/>
        </p:nvSpPr>
        <p:spPr>
          <a:xfrm>
            <a:off x="901700" y="4279900"/>
            <a:ext cx="1936749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Mission Button</a:t>
            </a:r>
          </a:p>
        </p:txBody>
      </p:sp>
      <p:sp>
        <p:nvSpPr>
          <p:cNvPr id="28" name="Mission Button body"/>
          <p:cNvSpPr txBox="1"/>
          <p:nvPr/>
        </p:nvSpPr>
        <p:spPr>
          <a:xfrm>
            <a:off x="901700" y="4622800"/>
            <a:ext cx="1936749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StartMissionButton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sends start_mission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command to Firestore</a:t>
            </a:r>
          </a:p>
        </p:txBody>
      </p:sp>
      <p:cxnSp>
        <p:nvCxnSpPr>
          <p:cNvPr id="29" name="arrow status + location"/>
          <p:cNvCxnSpPr/>
          <p:nvPr/>
        </p:nvCxnSpPr>
        <p:spPr>
          <a:xfrm>
            <a:off x="3429000" y="2286000"/>
            <a:ext cx="1397000" cy="0"/>
          </a:xfrm>
          <a:prstGeom prst="line">
            <a:avLst/>
          </a:prstGeom>
          <a:ln w="35560">
            <a:solidFill>
              <a:srgbClr val="4ED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rrow status + location label"/>
          <p:cNvSpPr/>
          <p:nvPr/>
        </p:nvSpPr>
        <p:spPr>
          <a:xfrm>
            <a:off x="4127500" y="2044700"/>
            <a:ext cx="108838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4ED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status + location</a:t>
            </a:r>
          </a:p>
        </p:txBody>
      </p:sp>
      <p:cxnSp>
        <p:nvCxnSpPr>
          <p:cNvPr id="31" name="arrow snapshots"/>
          <p:cNvCxnSpPr/>
          <p:nvPr/>
        </p:nvCxnSpPr>
        <p:spPr>
          <a:xfrm>
            <a:off x="7493000" y="2349500"/>
            <a:ext cx="1079500" cy="0"/>
          </a:xfrm>
          <a:prstGeom prst="line">
            <a:avLst/>
          </a:prstGeom>
          <a:ln w="35560">
            <a:solidFill>
              <a:srgbClr val="2A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 snapshots label"/>
          <p:cNvSpPr/>
          <p:nvPr/>
        </p:nvSpPr>
        <p:spPr>
          <a:xfrm>
            <a:off x="8032749" y="2108200"/>
            <a:ext cx="671830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snapshots</a:t>
            </a:r>
          </a:p>
        </p:txBody>
      </p:sp>
      <p:cxnSp>
        <p:nvCxnSpPr>
          <p:cNvPr id="33" name="arrow streams"/>
          <p:cNvCxnSpPr/>
          <p:nvPr/>
        </p:nvCxnSpPr>
        <p:spPr>
          <a:xfrm flipH="1">
            <a:off x="8636000" y="3429000"/>
            <a:ext cx="1079500" cy="698500"/>
          </a:xfrm>
          <a:prstGeom prst="line">
            <a:avLst/>
          </a:prstGeom>
          <a:ln w="35560">
            <a:solidFill>
              <a:srgbClr val="AA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rrow streams label"/>
          <p:cNvSpPr/>
          <p:nvPr/>
        </p:nvSpPr>
        <p:spPr>
          <a:xfrm>
            <a:off x="9175750" y="3536950"/>
            <a:ext cx="603250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AA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streams</a:t>
            </a:r>
          </a:p>
        </p:txBody>
      </p:sp>
      <p:cxnSp>
        <p:nvCxnSpPr>
          <p:cNvPr id="35" name="arrow lat/lng + path"/>
          <p:cNvCxnSpPr/>
          <p:nvPr/>
        </p:nvCxnSpPr>
        <p:spPr>
          <a:xfrm flipH="1">
            <a:off x="6096000" y="4794250"/>
            <a:ext cx="1016000" cy="0"/>
          </a:xfrm>
          <a:prstGeom prst="line">
            <a:avLst/>
          </a:prstGeom>
          <a:ln w="35560">
            <a:solidFill>
              <a:srgbClr val="48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row lat/lng + path label"/>
          <p:cNvSpPr/>
          <p:nvPr/>
        </p:nvSpPr>
        <p:spPr>
          <a:xfrm>
            <a:off x="6604000" y="4552950"/>
            <a:ext cx="93217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4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lat/lng + path</a:t>
            </a:r>
          </a:p>
        </p:txBody>
      </p:sp>
      <p:cxnSp>
        <p:nvCxnSpPr>
          <p:cNvPr id="37" name="arrow commands"/>
          <p:cNvCxnSpPr/>
          <p:nvPr/>
        </p:nvCxnSpPr>
        <p:spPr>
          <a:xfrm flipV="1">
            <a:off x="2997200" y="3175000"/>
            <a:ext cx="1828800" cy="1619250"/>
          </a:xfrm>
          <a:prstGeom prst="line">
            <a:avLst/>
          </a:prstGeom>
          <a:ln w="35560">
            <a:solidFill>
              <a:srgbClr val="FF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rrow commands label"/>
          <p:cNvSpPr/>
          <p:nvPr/>
        </p:nvSpPr>
        <p:spPr>
          <a:xfrm>
            <a:off x="3911600" y="3743325"/>
            <a:ext cx="61975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FF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commands</a:t>
            </a:r>
          </a:p>
        </p:txBody>
      </p:sp>
      <p:cxnSp>
        <p:nvCxnSpPr>
          <p:cNvPr id="39" name="arrow poll command"/>
          <p:cNvCxnSpPr/>
          <p:nvPr/>
        </p:nvCxnSpPr>
        <p:spPr>
          <a:xfrm flipH="1">
            <a:off x="3429000" y="2889250"/>
            <a:ext cx="1397000" cy="0"/>
          </a:xfrm>
          <a:prstGeom prst="line">
            <a:avLst/>
          </a:prstGeom>
          <a:ln w="35560">
            <a:solidFill>
              <a:srgbClr val="FFC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arrow poll command label"/>
          <p:cNvSpPr/>
          <p:nvPr/>
        </p:nvSpPr>
        <p:spPr>
          <a:xfrm>
            <a:off x="4127500" y="2647950"/>
            <a:ext cx="82803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FFC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poll command</a:t>
            </a:r>
          </a:p>
        </p:txBody>
      </p:sp>
      <p:sp>
        <p:nvSpPr>
          <p:cNvPr id="41" name="note Map center defaults "/>
          <p:cNvSpPr/>
          <p:nvPr/>
        </p:nvSpPr>
        <p:spPr>
          <a:xfrm>
            <a:off x="508000" y="5905500"/>
            <a:ext cx="3376929" cy="215900"/>
          </a:xfrm>
          <a:prstGeom prst="roundRect">
            <a:avLst/>
          </a:prstGeom>
          <a:solidFill>
            <a:srgbClr val="FF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/>
          <a:lstStyle/>
          <a:p>
            <a:pPr algn="ctr"/>
            <a:r>
              <a:rPr sz="980">
                <a:solidFill>
                  <a:srgbClr val="080E19"/>
                </a:solidFill>
                <a:latin typeface="Aptos"/>
              </a:rPr>
              <a:t>Map center defaults to Cairo when Firestore location doc is missing</a:t>
            </a:r>
          </a:p>
        </p:txBody>
      </p:sp>
      <p:sp>
        <p:nvSpPr>
          <p:cNvPr id="42" name="note Disconnect state is "/>
          <p:cNvSpPr/>
          <p:nvPr/>
        </p:nvSpPr>
        <p:spPr>
          <a:xfrm>
            <a:off x="508000" y="6191250"/>
            <a:ext cx="3611880" cy="215900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/>
          <a:lstStyle/>
          <a:p>
            <a:pPr algn="ctr"/>
            <a:r>
              <a:rPr sz="980">
                <a:solidFill>
                  <a:srgbClr val="080E19"/>
                </a:solidFill>
                <a:latin typeface="Aptos"/>
              </a:rPr>
              <a:t>Disconnect state is emitted if no location update arrives for 10 seconds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08000" y="368300"/>
            <a:ext cx="1016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3300" b="1">
                <a:solidFill>
                  <a:srgbClr val="EFF6FF"/>
                </a:solidFill>
                <a:latin typeface="Aptos"/>
              </a:rPr>
              <a:t>Raspberry Pi, Video, Laptop Server and Firebase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533400" y="8382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600" b="0">
                <a:solidFill>
                  <a:srgbClr val="A6B4CA"/>
                </a:solidFill>
                <a:latin typeface="Aptos"/>
              </a:rPr>
              <a:t>Code path: camera_stream.py -&gt; laptop_server TCP/FastAPI -&gt; Flutter WebSockets + Firestore telemetry</a:t>
            </a:r>
          </a:p>
        </p:txBody>
      </p:sp>
      <p:sp>
        <p:nvSpPr>
          <p:cNvPr id="4" name="title accent"/>
          <p:cNvSpPr/>
          <p:nvPr/>
        </p:nvSpPr>
        <p:spPr>
          <a:xfrm>
            <a:off x="508000" y="1130300"/>
            <a:ext cx="1905000" cy="63500"/>
          </a:xfrm>
          <a:prstGeom prst="roundRect">
            <a:avLst/>
          </a:prstGeom>
          <a:solidFill>
            <a:srgbClr val="2A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aspberry Pi 5"/>
          <p:cNvSpPr/>
          <p:nvPr/>
        </p:nvSpPr>
        <p:spPr>
          <a:xfrm>
            <a:off x="508000" y="1651000"/>
            <a:ext cx="2667000" cy="19685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aspberry Pi 5 accent"/>
          <p:cNvSpPr/>
          <p:nvPr/>
        </p:nvSpPr>
        <p:spPr>
          <a:xfrm>
            <a:off x="508000" y="1651000"/>
            <a:ext cx="69850" cy="1968500"/>
          </a:xfrm>
          <a:prstGeom prst="roundRect">
            <a:avLst/>
          </a:prstGeom>
          <a:solidFill>
            <a:srgbClr val="4ED7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aspberry Pi 5 title"/>
          <p:cNvSpPr txBox="1"/>
          <p:nvPr/>
        </p:nvSpPr>
        <p:spPr>
          <a:xfrm>
            <a:off x="698500" y="1803400"/>
            <a:ext cx="2317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Raspberry Pi 5</a:t>
            </a:r>
          </a:p>
        </p:txBody>
      </p:sp>
      <p:sp>
        <p:nvSpPr>
          <p:cNvPr id="8" name="Raspberry Pi 5 body"/>
          <p:cNvSpPr txBox="1"/>
          <p:nvPr/>
        </p:nvSpPr>
        <p:spPr>
          <a:xfrm>
            <a:off x="698500" y="2146300"/>
            <a:ext cx="2317750" cy="1397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Camera module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DHT11, MQ-2, MQ-8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MPU6050, IR sensors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GPIO motors</a:t>
            </a:r>
          </a:p>
        </p:txBody>
      </p:sp>
      <p:sp>
        <p:nvSpPr>
          <p:cNvPr id="9" name="Laptop FastAPI Server"/>
          <p:cNvSpPr/>
          <p:nvPr/>
        </p:nvSpPr>
        <p:spPr>
          <a:xfrm>
            <a:off x="3873499" y="1460500"/>
            <a:ext cx="2921000" cy="21590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aptop FastAPI Server accent"/>
          <p:cNvSpPr/>
          <p:nvPr/>
        </p:nvSpPr>
        <p:spPr>
          <a:xfrm>
            <a:off x="3873499" y="1460500"/>
            <a:ext cx="69850" cy="2159000"/>
          </a:xfrm>
          <a:prstGeom prst="roundRect">
            <a:avLst/>
          </a:prstGeom>
          <a:solidFill>
            <a:srgbClr val="2A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aptop FastAPI Server title"/>
          <p:cNvSpPr txBox="1"/>
          <p:nvPr/>
        </p:nvSpPr>
        <p:spPr>
          <a:xfrm>
            <a:off x="4064000" y="1612900"/>
            <a:ext cx="2571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Laptop FastAPI Server</a:t>
            </a:r>
          </a:p>
        </p:txBody>
      </p:sp>
      <p:sp>
        <p:nvSpPr>
          <p:cNvPr id="12" name="Laptop FastAPI Server body"/>
          <p:cNvSpPr txBox="1"/>
          <p:nvPr/>
        </p:nvSpPr>
        <p:spPr>
          <a:xfrm>
            <a:off x="4064000" y="1955800"/>
            <a:ext cx="2571750" cy="158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TCP receiver :9000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OpenCV frame decode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AI pipeline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WS endpoints :8000</a:t>
            </a:r>
          </a:p>
        </p:txBody>
      </p:sp>
      <p:sp>
        <p:nvSpPr>
          <p:cNvPr id="13" name="Flutter Mobile App"/>
          <p:cNvSpPr/>
          <p:nvPr/>
        </p:nvSpPr>
        <p:spPr>
          <a:xfrm>
            <a:off x="8381999" y="1397000"/>
            <a:ext cx="2730500" cy="19050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Flutter Mobile App accent"/>
          <p:cNvSpPr/>
          <p:nvPr/>
        </p:nvSpPr>
        <p:spPr>
          <a:xfrm>
            <a:off x="8381999" y="1397000"/>
            <a:ext cx="69850" cy="1905000"/>
          </a:xfrm>
          <a:prstGeom prst="roundRect">
            <a:avLst/>
          </a:prstGeom>
          <a:solidFill>
            <a:srgbClr val="48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Flutter Mobile App title"/>
          <p:cNvSpPr txBox="1"/>
          <p:nvPr/>
        </p:nvSpPr>
        <p:spPr>
          <a:xfrm>
            <a:off x="8572500" y="154940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Flutter Mobile App</a:t>
            </a:r>
          </a:p>
        </p:txBody>
      </p:sp>
      <p:sp>
        <p:nvSpPr>
          <p:cNvPr id="16" name="Flutter Mobile App body"/>
          <p:cNvSpPr txBox="1"/>
          <p:nvPr/>
        </p:nvSpPr>
        <p:spPr>
          <a:xfrm>
            <a:off x="8572500" y="1892300"/>
            <a:ext cx="2381250" cy="1333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WsClient connects to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/ws/video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/ws/detections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/ws/commands</a:t>
            </a:r>
          </a:p>
        </p:txBody>
      </p:sp>
      <p:sp>
        <p:nvSpPr>
          <p:cNvPr id="17" name="Firebase"/>
          <p:cNvSpPr/>
          <p:nvPr/>
        </p:nvSpPr>
        <p:spPr>
          <a:xfrm>
            <a:off x="3937000" y="4381500"/>
            <a:ext cx="2667000" cy="15240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Firebase accent"/>
          <p:cNvSpPr/>
          <p:nvPr/>
        </p:nvSpPr>
        <p:spPr>
          <a:xfrm>
            <a:off x="3937000" y="4381500"/>
            <a:ext cx="69850" cy="1524000"/>
          </a:xfrm>
          <a:prstGeom prst="roundRect">
            <a:avLst/>
          </a:prstGeom>
          <a:solidFill>
            <a:srgbClr val="FF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Firebase title"/>
          <p:cNvSpPr txBox="1"/>
          <p:nvPr/>
        </p:nvSpPr>
        <p:spPr>
          <a:xfrm>
            <a:off x="4127500" y="4533900"/>
            <a:ext cx="23177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Firebase</a:t>
            </a:r>
          </a:p>
        </p:txBody>
      </p:sp>
      <p:sp>
        <p:nvSpPr>
          <p:cNvPr id="20" name="Firebase body"/>
          <p:cNvSpPr txBox="1"/>
          <p:nvPr/>
        </p:nvSpPr>
        <p:spPr>
          <a:xfrm>
            <a:off x="4127500" y="4876800"/>
            <a:ext cx="2317750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status + telemetry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location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reports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commands</a:t>
            </a:r>
          </a:p>
        </p:txBody>
      </p:sp>
      <p:sp>
        <p:nvSpPr>
          <p:cNvPr id="21" name="Control Paths"/>
          <p:cNvSpPr/>
          <p:nvPr/>
        </p:nvSpPr>
        <p:spPr>
          <a:xfrm>
            <a:off x="8381999" y="4381500"/>
            <a:ext cx="2730500" cy="1397000"/>
          </a:xfrm>
          <a:prstGeom prst="roundRect">
            <a:avLst/>
          </a:prstGeom>
          <a:solidFill>
            <a:srgbClr val="162032"/>
          </a:solidFill>
          <a:ln w="13970">
            <a:solidFill>
              <a:srgbClr val="5368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ontrol Paths accent"/>
          <p:cNvSpPr/>
          <p:nvPr/>
        </p:nvSpPr>
        <p:spPr>
          <a:xfrm>
            <a:off x="8381999" y="4381500"/>
            <a:ext cx="69850" cy="1397000"/>
          </a:xfrm>
          <a:prstGeom prst="roundRect">
            <a:avLst/>
          </a:prstGeom>
          <a:solidFill>
            <a:srgbClr val="FF5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ntrol Paths title"/>
          <p:cNvSpPr txBox="1"/>
          <p:nvPr/>
        </p:nvSpPr>
        <p:spPr>
          <a:xfrm>
            <a:off x="8572500" y="4533900"/>
            <a:ext cx="238125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900" b="1">
                <a:solidFill>
                  <a:srgbClr val="EFF6FF"/>
                </a:solidFill>
                <a:latin typeface="Aptos"/>
              </a:rPr>
              <a:t>Control Paths</a:t>
            </a:r>
          </a:p>
        </p:txBody>
      </p:sp>
      <p:sp>
        <p:nvSpPr>
          <p:cNvPr id="24" name="Control Paths body"/>
          <p:cNvSpPr txBox="1"/>
          <p:nvPr/>
        </p:nvSpPr>
        <p:spPr>
          <a:xfrm>
            <a:off x="8572500" y="4876800"/>
            <a:ext cx="2381250" cy="825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Joystick sends move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Start mission command</a:t>
            </a:r>
          </a:p>
          <a:p>
            <a:pPr>
              <a:spcAft>
                <a:spcPts val="200"/>
              </a:spcAft>
            </a:pPr>
            <a:r>
              <a:rPr sz="1250" b="0">
                <a:solidFill>
                  <a:srgbClr val="A6B4CA"/>
                </a:solidFill>
                <a:latin typeface="Aptos"/>
              </a:rPr>
              <a:t>Pi executes GPIO steps</a:t>
            </a:r>
          </a:p>
        </p:txBody>
      </p:sp>
      <p:cxnSp>
        <p:nvCxnSpPr>
          <p:cNvPr id="25" name="arrow JPEG frames over TCP"/>
          <p:cNvCxnSpPr/>
          <p:nvPr/>
        </p:nvCxnSpPr>
        <p:spPr>
          <a:xfrm>
            <a:off x="3175000" y="2190750"/>
            <a:ext cx="698499" cy="0"/>
          </a:xfrm>
          <a:prstGeom prst="line">
            <a:avLst/>
          </a:prstGeom>
          <a:ln w="35560">
            <a:solidFill>
              <a:srgbClr val="2AC4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arrow JPEG frames over TCP label"/>
          <p:cNvSpPr/>
          <p:nvPr/>
        </p:nvSpPr>
        <p:spPr>
          <a:xfrm>
            <a:off x="3067050" y="1822450"/>
            <a:ext cx="1244600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2A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JPEG frames over TCP</a:t>
            </a:r>
          </a:p>
        </p:txBody>
      </p:sp>
      <p:cxnSp>
        <p:nvCxnSpPr>
          <p:cNvPr id="27" name="arrow video bytes"/>
          <p:cNvCxnSpPr/>
          <p:nvPr/>
        </p:nvCxnSpPr>
        <p:spPr>
          <a:xfrm>
            <a:off x="6794500" y="2063750"/>
            <a:ext cx="1587499" cy="0"/>
          </a:xfrm>
          <a:prstGeom prst="line">
            <a:avLst/>
          </a:prstGeom>
          <a:ln w="35560">
            <a:solidFill>
              <a:srgbClr val="4880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row video bytes label"/>
          <p:cNvSpPr/>
          <p:nvPr/>
        </p:nvSpPr>
        <p:spPr>
          <a:xfrm>
            <a:off x="7588250" y="1822450"/>
            <a:ext cx="77596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48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video bytes</a:t>
            </a:r>
          </a:p>
        </p:txBody>
      </p:sp>
      <p:cxnSp>
        <p:nvCxnSpPr>
          <p:cNvPr id="29" name="arrow detections JSON"/>
          <p:cNvCxnSpPr/>
          <p:nvPr/>
        </p:nvCxnSpPr>
        <p:spPr>
          <a:xfrm>
            <a:off x="6794500" y="2889250"/>
            <a:ext cx="1587499" cy="0"/>
          </a:xfrm>
          <a:prstGeom prst="line">
            <a:avLst/>
          </a:prstGeom>
          <a:ln w="35560">
            <a:solidFill>
              <a:srgbClr val="AA7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rrow detections JSON label"/>
          <p:cNvSpPr/>
          <p:nvPr/>
        </p:nvSpPr>
        <p:spPr>
          <a:xfrm>
            <a:off x="7588250" y="2647950"/>
            <a:ext cx="984250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AA7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detections JSON</a:t>
            </a:r>
          </a:p>
        </p:txBody>
      </p:sp>
      <p:cxnSp>
        <p:nvCxnSpPr>
          <p:cNvPr id="31" name="arrow joystick / mission UI"/>
          <p:cNvCxnSpPr/>
          <p:nvPr/>
        </p:nvCxnSpPr>
        <p:spPr>
          <a:xfrm>
            <a:off x="8636000" y="3302000"/>
            <a:ext cx="0" cy="1079500"/>
          </a:xfrm>
          <a:prstGeom prst="line">
            <a:avLst/>
          </a:prstGeom>
          <a:ln w="35560">
            <a:solidFill>
              <a:srgbClr val="FF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 joystick / mission UI label"/>
          <p:cNvSpPr/>
          <p:nvPr/>
        </p:nvSpPr>
        <p:spPr>
          <a:xfrm>
            <a:off x="7683500" y="3917950"/>
            <a:ext cx="129666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FF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joystick / mission UI</a:t>
            </a:r>
          </a:p>
        </p:txBody>
      </p:sp>
      <p:cxnSp>
        <p:nvCxnSpPr>
          <p:cNvPr id="33" name="arrow Firestore command"/>
          <p:cNvCxnSpPr/>
          <p:nvPr/>
        </p:nvCxnSpPr>
        <p:spPr>
          <a:xfrm flipH="1">
            <a:off x="6604000" y="5111750"/>
            <a:ext cx="1777999" cy="0"/>
          </a:xfrm>
          <a:prstGeom prst="line">
            <a:avLst/>
          </a:prstGeom>
          <a:ln w="35560">
            <a:solidFill>
              <a:srgbClr val="FF5B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arrow Firestore command label"/>
          <p:cNvSpPr/>
          <p:nvPr/>
        </p:nvSpPr>
        <p:spPr>
          <a:xfrm>
            <a:off x="6635750" y="4781550"/>
            <a:ext cx="108838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FF5B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Firestore command</a:t>
            </a:r>
          </a:p>
        </p:txBody>
      </p:sp>
      <p:cxnSp>
        <p:nvCxnSpPr>
          <p:cNvPr id="35" name="arrow Pi reads command"/>
          <p:cNvCxnSpPr/>
          <p:nvPr/>
        </p:nvCxnSpPr>
        <p:spPr>
          <a:xfrm flipH="1" flipV="1">
            <a:off x="3143250" y="3302000"/>
            <a:ext cx="793750" cy="1841500"/>
          </a:xfrm>
          <a:prstGeom prst="line">
            <a:avLst/>
          </a:prstGeom>
          <a:ln w="35560">
            <a:solidFill>
              <a:srgbClr val="FFC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arrow Pi reads command label"/>
          <p:cNvSpPr/>
          <p:nvPr/>
        </p:nvSpPr>
        <p:spPr>
          <a:xfrm>
            <a:off x="3381375" y="3854450"/>
            <a:ext cx="1036320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FFC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Pi reads command</a:t>
            </a:r>
          </a:p>
        </p:txBody>
      </p:sp>
      <p:cxnSp>
        <p:nvCxnSpPr>
          <p:cNvPr id="37" name="arrow sensor sync"/>
          <p:cNvCxnSpPr/>
          <p:nvPr/>
        </p:nvCxnSpPr>
        <p:spPr>
          <a:xfrm>
            <a:off x="2413000" y="3619500"/>
            <a:ext cx="1524000" cy="1016000"/>
          </a:xfrm>
          <a:prstGeom prst="line">
            <a:avLst/>
          </a:prstGeom>
          <a:ln w="35560">
            <a:solidFill>
              <a:srgbClr val="4ED7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arrow sensor sync label"/>
          <p:cNvSpPr/>
          <p:nvPr/>
        </p:nvSpPr>
        <p:spPr>
          <a:xfrm>
            <a:off x="2571750" y="4241800"/>
            <a:ext cx="775969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4ED7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sensor sync</a:t>
            </a:r>
          </a:p>
        </p:txBody>
      </p:sp>
      <p:cxnSp>
        <p:nvCxnSpPr>
          <p:cNvPr id="39" name="arrow map/status streams"/>
          <p:cNvCxnSpPr/>
          <p:nvPr/>
        </p:nvCxnSpPr>
        <p:spPr>
          <a:xfrm flipV="1">
            <a:off x="6477000" y="3302000"/>
            <a:ext cx="3238500" cy="1238250"/>
          </a:xfrm>
          <a:prstGeom prst="line">
            <a:avLst/>
          </a:prstGeom>
          <a:ln w="35560">
            <a:solidFill>
              <a:srgbClr val="FFC2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arrow map/status streams label"/>
          <p:cNvSpPr/>
          <p:nvPr/>
        </p:nvSpPr>
        <p:spPr>
          <a:xfrm>
            <a:off x="7493000" y="3578225"/>
            <a:ext cx="1140460" cy="215900"/>
          </a:xfrm>
          <a:prstGeom prst="roundRect">
            <a:avLst/>
          </a:prstGeom>
          <a:solidFill>
            <a:srgbClr val="121B2B"/>
          </a:solidFill>
          <a:ln w="10160">
            <a:solidFill>
              <a:srgbClr val="FFC2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63500" rIns="63500" tIns="19050"/>
          <a:lstStyle/>
          <a:p>
            <a:pPr algn="ctr"/>
            <a:r>
              <a:rPr sz="980">
                <a:solidFill>
                  <a:srgbClr val="EFF6FF"/>
                </a:solidFill>
                <a:latin typeface="Aptos"/>
              </a:rPr>
              <a:t>map/status streams</a:t>
            </a:r>
          </a:p>
        </p:txBody>
      </p:sp>
      <p:sp>
        <p:nvSpPr>
          <p:cNvPr id="41" name="note Video is real-time v"/>
          <p:cNvSpPr/>
          <p:nvPr/>
        </p:nvSpPr>
        <p:spPr>
          <a:xfrm>
            <a:off x="508000" y="5905500"/>
            <a:ext cx="3658870" cy="215900"/>
          </a:xfrm>
          <a:prstGeom prst="roundRect">
            <a:avLst/>
          </a:prstGeom>
          <a:solidFill>
            <a:srgbClr val="2AC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/>
          <a:lstStyle/>
          <a:p>
            <a:pPr algn="ctr"/>
            <a:r>
              <a:rPr sz="980">
                <a:solidFill>
                  <a:srgbClr val="080E19"/>
                </a:solidFill>
                <a:latin typeface="Aptos"/>
              </a:rPr>
              <a:t>Video is real-time via TCP -&gt; WebSocket, separate from Firebase telemetry</a:t>
            </a:r>
          </a:p>
        </p:txBody>
      </p:sp>
      <p:sp>
        <p:nvSpPr>
          <p:cNvPr id="42" name="note Firebase keeps map, "/>
          <p:cNvSpPr/>
          <p:nvPr/>
        </p:nvSpPr>
        <p:spPr>
          <a:xfrm>
            <a:off x="508000" y="6191250"/>
            <a:ext cx="3517900" cy="215900"/>
          </a:xfrm>
          <a:prstGeom prst="roundRect">
            <a:avLst/>
          </a:prstGeom>
          <a:solidFill>
            <a:srgbClr val="FFC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rIns="101600" tIns="25400"/>
          <a:lstStyle/>
          <a:p>
            <a:pPr algn="ctr"/>
            <a:r>
              <a:rPr sz="980">
                <a:solidFill>
                  <a:srgbClr val="080E19"/>
                </a:solidFill>
                <a:latin typeface="Aptos"/>
              </a:rPr>
              <a:t>Firebase keeps map, status, reports, and mission commands synchronized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