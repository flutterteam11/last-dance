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1371600"/>
            <a:ext cx="6400800" cy="6400800"/>
          </a:xfrm>
          <a:prstGeom prst="ellipse">
            <a:avLst/>
          </a:prstGeom>
          <a:solidFill>
            <a:srgbClr val="006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2743200"/>
            <a:ext cx="4572000" cy="4572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1371600"/>
            <a:ext cx="73152" cy="7315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28800" y="5943600"/>
            <a:ext cx="73152" cy="7315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914400"/>
            <a:ext cx="73152" cy="7315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3657600"/>
            <a:ext cx="73152" cy="7315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Calibri"/>
              </a:defRPr>
            </a:pPr>
            <a:r>
              <a:t>PHOENIX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5FF"/>
                </a:solidFill>
                <a:latin typeface="Calibri"/>
              </a:defRPr>
            </a:pPr>
            <a:r>
              <a:t>Drone Search &amp; Rescue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926080"/>
            <a:ext cx="18288" cy="36576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2688" y="2926080"/>
            <a:ext cx="18288" cy="36576"/>
          </a:xfrm>
          <a:prstGeom prst="rect">
            <a:avLst/>
          </a:prstGeom>
          <a:solidFill>
            <a:srgbClr val="0C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50976" y="2926080"/>
            <a:ext cx="18288" cy="36576"/>
          </a:xfrm>
          <a:prstGeom prst="rect">
            <a:avLst/>
          </a:prstGeom>
          <a:solidFill>
            <a:srgbClr val="0C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9264" y="2926080"/>
            <a:ext cx="18288" cy="36576"/>
          </a:xfrm>
          <a:prstGeom prst="rect">
            <a:avLst/>
          </a:prstGeom>
          <a:solidFill>
            <a:srgbClr val="0C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87552" y="2926080"/>
            <a:ext cx="18288" cy="36576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2926080"/>
            <a:ext cx="18288" cy="36576"/>
          </a:xfrm>
          <a:prstGeom prst="rect">
            <a:avLst/>
          </a:prstGeom>
          <a:solidFill>
            <a:srgbClr val="0C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24128" y="2926080"/>
            <a:ext cx="18288" cy="36576"/>
          </a:xfrm>
          <a:prstGeom prst="rect">
            <a:avLst/>
          </a:prstGeom>
          <a:solidFill>
            <a:srgbClr val="0C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2416" y="2926080"/>
            <a:ext cx="18288" cy="36576"/>
          </a:xfrm>
          <a:prstGeom prst="rect">
            <a:avLst/>
          </a:prstGeom>
          <a:solidFill>
            <a:srgbClr val="0C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0704" y="2926080"/>
            <a:ext cx="18288" cy="36576"/>
          </a:xfrm>
          <a:prstGeom prst="rect">
            <a:avLst/>
          </a:prstGeom>
          <a:solidFill>
            <a:srgbClr val="0C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78992" y="2926080"/>
            <a:ext cx="18288" cy="36576"/>
          </a:xfrm>
          <a:prstGeom prst="rect">
            <a:avLst/>
          </a:prstGeom>
          <a:solidFill>
            <a:srgbClr val="0C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2926080"/>
            <a:ext cx="18288" cy="36576"/>
          </a:xfrm>
          <a:prstGeom prst="rect">
            <a:avLst/>
          </a:prstGeom>
          <a:solidFill>
            <a:srgbClr val="0C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15568" y="2926080"/>
            <a:ext cx="18288" cy="36576"/>
          </a:xfrm>
          <a:prstGeom prst="rect">
            <a:avLst/>
          </a:prstGeom>
          <a:solidFill>
            <a:srgbClr val="0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33856" y="2926080"/>
            <a:ext cx="18288" cy="36576"/>
          </a:xfrm>
          <a:prstGeom prst="rect">
            <a:avLst/>
          </a:prstGeom>
          <a:solidFill>
            <a:srgbClr val="0B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52144" y="2926080"/>
            <a:ext cx="18288" cy="36576"/>
          </a:xfrm>
          <a:prstGeom prst="rect">
            <a:avLst/>
          </a:prstGeom>
          <a:solidFill>
            <a:srgbClr val="0B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70432" y="2926080"/>
            <a:ext cx="18288" cy="36576"/>
          </a:xfrm>
          <a:prstGeom prst="rect">
            <a:avLst/>
          </a:prstGeom>
          <a:solidFill>
            <a:srgbClr val="0B2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88720" y="2926080"/>
            <a:ext cx="18288" cy="36576"/>
          </a:xfrm>
          <a:prstGeom prst="rect">
            <a:avLst/>
          </a:prstGeom>
          <a:solidFill>
            <a:srgbClr val="0B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207008" y="2926080"/>
            <a:ext cx="18288" cy="36576"/>
          </a:xfrm>
          <a:prstGeom prst="rect">
            <a:avLst/>
          </a:prstGeom>
          <a:solidFill>
            <a:srgbClr val="0B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25296" y="2926080"/>
            <a:ext cx="18288" cy="36576"/>
          </a:xfrm>
          <a:prstGeom prst="rect">
            <a:avLst/>
          </a:prstGeom>
          <a:solidFill>
            <a:srgbClr val="0B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243584" y="2926080"/>
            <a:ext cx="18288" cy="36576"/>
          </a:xfrm>
          <a:prstGeom prst="rect">
            <a:avLst/>
          </a:prstGeom>
          <a:solidFill>
            <a:srgbClr val="0B2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61872" y="2926080"/>
            <a:ext cx="18288" cy="36576"/>
          </a:xfrm>
          <a:prstGeom prst="rect">
            <a:avLst/>
          </a:prstGeom>
          <a:solidFill>
            <a:srgbClr val="0B2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80160" y="2926080"/>
            <a:ext cx="18288" cy="36576"/>
          </a:xfrm>
          <a:prstGeom prst="rect">
            <a:avLst/>
          </a:prstGeom>
          <a:solidFill>
            <a:srgbClr val="0B2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298448" y="2926080"/>
            <a:ext cx="18288" cy="36576"/>
          </a:xfrm>
          <a:prstGeom prst="rect">
            <a:avLst/>
          </a:prstGeom>
          <a:solidFill>
            <a:srgbClr val="0B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316736" y="2926080"/>
            <a:ext cx="18288" cy="36576"/>
          </a:xfrm>
          <a:prstGeom prst="rect">
            <a:avLst/>
          </a:prstGeom>
          <a:solidFill>
            <a:srgbClr val="0B2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335024" y="2926080"/>
            <a:ext cx="18288" cy="36576"/>
          </a:xfrm>
          <a:prstGeom prst="rect">
            <a:avLst/>
          </a:prstGeom>
          <a:solidFill>
            <a:srgbClr val="0B2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353312" y="2926080"/>
            <a:ext cx="18288" cy="36576"/>
          </a:xfrm>
          <a:prstGeom prst="rect">
            <a:avLst/>
          </a:prstGeom>
          <a:solidFill>
            <a:srgbClr val="0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71600" y="2926080"/>
            <a:ext cx="18288" cy="36576"/>
          </a:xfrm>
          <a:prstGeom prst="rect">
            <a:avLst/>
          </a:prstGeom>
          <a:solidFill>
            <a:srgbClr val="0A3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389888" y="2926080"/>
            <a:ext cx="18288" cy="36576"/>
          </a:xfrm>
          <a:prstGeom prst="rect">
            <a:avLst/>
          </a:prstGeom>
          <a:solidFill>
            <a:srgbClr val="0A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408176" y="2926080"/>
            <a:ext cx="18288" cy="36576"/>
          </a:xfrm>
          <a:prstGeom prst="rect">
            <a:avLst/>
          </a:prstGeom>
          <a:solidFill>
            <a:srgbClr val="0A3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426464" y="2926080"/>
            <a:ext cx="18288" cy="36576"/>
          </a:xfrm>
          <a:prstGeom prst="rect">
            <a:avLst/>
          </a:prstGeom>
          <a:solidFill>
            <a:srgbClr val="0A3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444752" y="2926080"/>
            <a:ext cx="18288" cy="36576"/>
          </a:xfrm>
          <a:prstGeom prst="rect">
            <a:avLst/>
          </a:prstGeom>
          <a:solidFill>
            <a:srgbClr val="0A3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463040" y="2926080"/>
            <a:ext cx="18288" cy="36576"/>
          </a:xfrm>
          <a:prstGeom prst="rect">
            <a:avLst/>
          </a:prstGeom>
          <a:solidFill>
            <a:srgbClr val="0A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481328" y="2926080"/>
            <a:ext cx="18288" cy="36576"/>
          </a:xfrm>
          <a:prstGeom prst="rect">
            <a:avLst/>
          </a:prstGeom>
          <a:solidFill>
            <a:srgbClr val="0A3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499616" y="2926080"/>
            <a:ext cx="18288" cy="36576"/>
          </a:xfrm>
          <a:prstGeom prst="rect">
            <a:avLst/>
          </a:prstGeom>
          <a:solidFill>
            <a:srgbClr val="0A3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517904" y="2926080"/>
            <a:ext cx="18288" cy="36576"/>
          </a:xfrm>
          <a:prstGeom prst="rect">
            <a:avLst/>
          </a:prstGeom>
          <a:solidFill>
            <a:srgbClr val="0A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536192" y="2926080"/>
            <a:ext cx="18288" cy="36576"/>
          </a:xfrm>
          <a:prstGeom prst="rect">
            <a:avLst/>
          </a:prstGeom>
          <a:solidFill>
            <a:srgbClr val="0A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554480" y="2926080"/>
            <a:ext cx="18288" cy="36576"/>
          </a:xfrm>
          <a:prstGeom prst="rect">
            <a:avLst/>
          </a:prstGeom>
          <a:solidFill>
            <a:srgbClr val="09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572768" y="2926080"/>
            <a:ext cx="18288" cy="36576"/>
          </a:xfrm>
          <a:prstGeom prst="rect">
            <a:avLst/>
          </a:prstGeom>
          <a:solidFill>
            <a:srgbClr val="094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591056" y="2926080"/>
            <a:ext cx="18288" cy="36576"/>
          </a:xfrm>
          <a:prstGeom prst="rect">
            <a:avLst/>
          </a:prstGeom>
          <a:solidFill>
            <a:srgbClr val="094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609344" y="2926080"/>
            <a:ext cx="18288" cy="36576"/>
          </a:xfrm>
          <a:prstGeom prst="rect">
            <a:avLst/>
          </a:prstGeom>
          <a:solidFill>
            <a:srgbClr val="094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627632" y="2926080"/>
            <a:ext cx="18288" cy="36576"/>
          </a:xfrm>
          <a:prstGeom prst="rect">
            <a:avLst/>
          </a:prstGeom>
          <a:solidFill>
            <a:srgbClr val="094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645920" y="2926080"/>
            <a:ext cx="18288" cy="36576"/>
          </a:xfrm>
          <a:prstGeom prst="rect">
            <a:avLst/>
          </a:prstGeom>
          <a:solidFill>
            <a:srgbClr val="094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664208" y="2926080"/>
            <a:ext cx="18288" cy="36576"/>
          </a:xfrm>
          <a:prstGeom prst="rect">
            <a:avLst/>
          </a:prstGeom>
          <a:solidFill>
            <a:srgbClr val="09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682496" y="2926080"/>
            <a:ext cx="18288" cy="36576"/>
          </a:xfrm>
          <a:prstGeom prst="rect">
            <a:avLst/>
          </a:prstGeom>
          <a:solidFill>
            <a:srgbClr val="094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700784" y="2926080"/>
            <a:ext cx="18288" cy="36576"/>
          </a:xfrm>
          <a:prstGeom prst="rect">
            <a:avLst/>
          </a:prstGeom>
          <a:solidFill>
            <a:srgbClr val="094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719072" y="2926080"/>
            <a:ext cx="18288" cy="36576"/>
          </a:xfrm>
          <a:prstGeom prst="rect">
            <a:avLst/>
          </a:prstGeom>
          <a:solidFill>
            <a:srgbClr val="094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37360" y="2926080"/>
            <a:ext cx="18288" cy="36576"/>
          </a:xfrm>
          <a:prstGeom prst="rect">
            <a:avLst/>
          </a:prstGeom>
          <a:solidFill>
            <a:srgbClr val="09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755648" y="2926080"/>
            <a:ext cx="18288" cy="36576"/>
          </a:xfrm>
          <a:prstGeom prst="rect">
            <a:avLst/>
          </a:prstGeom>
          <a:solidFill>
            <a:srgbClr val="094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773936" y="2926080"/>
            <a:ext cx="18288" cy="36576"/>
          </a:xfrm>
          <a:prstGeom prst="rect">
            <a:avLst/>
          </a:prstGeom>
          <a:solidFill>
            <a:srgbClr val="0850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792224" y="2926080"/>
            <a:ext cx="18288" cy="36576"/>
          </a:xfrm>
          <a:prstGeom prst="rect">
            <a:avLst/>
          </a:prstGeom>
          <a:solidFill>
            <a:srgbClr val="08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810512" y="2926080"/>
            <a:ext cx="18288" cy="36576"/>
          </a:xfrm>
          <a:prstGeom prst="rect">
            <a:avLst/>
          </a:prstGeom>
          <a:solidFill>
            <a:srgbClr val="085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828800" y="2926080"/>
            <a:ext cx="18288" cy="36576"/>
          </a:xfrm>
          <a:prstGeom prst="rect">
            <a:avLst/>
          </a:prstGeom>
          <a:solidFill>
            <a:srgbClr val="08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847088" y="2926080"/>
            <a:ext cx="18288" cy="36576"/>
          </a:xfrm>
          <a:prstGeom prst="rect">
            <a:avLst/>
          </a:prstGeom>
          <a:solidFill>
            <a:srgbClr val="085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865376" y="2926080"/>
            <a:ext cx="18288" cy="36576"/>
          </a:xfrm>
          <a:prstGeom prst="rect">
            <a:avLst/>
          </a:prstGeom>
          <a:solidFill>
            <a:srgbClr val="085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883664" y="2926080"/>
            <a:ext cx="18288" cy="36576"/>
          </a:xfrm>
          <a:prstGeom prst="rect">
            <a:avLst/>
          </a:prstGeom>
          <a:solidFill>
            <a:srgbClr val="085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901952" y="2926080"/>
            <a:ext cx="18288" cy="36576"/>
          </a:xfrm>
          <a:prstGeom prst="rect">
            <a:avLst/>
          </a:prstGeom>
          <a:solidFill>
            <a:srgbClr val="085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920240" y="2926080"/>
            <a:ext cx="18288" cy="36576"/>
          </a:xfrm>
          <a:prstGeom prst="rect">
            <a:avLst/>
          </a:prstGeom>
          <a:solidFill>
            <a:srgbClr val="085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938528" y="2926080"/>
            <a:ext cx="18288" cy="36576"/>
          </a:xfrm>
          <a:prstGeom prst="rect">
            <a:avLst/>
          </a:prstGeom>
          <a:solidFill>
            <a:srgbClr val="085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956816" y="2926080"/>
            <a:ext cx="18288" cy="36576"/>
          </a:xfrm>
          <a:prstGeom prst="rect">
            <a:avLst/>
          </a:prstGeom>
          <a:solidFill>
            <a:srgbClr val="085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975104" y="2926080"/>
            <a:ext cx="18288" cy="36576"/>
          </a:xfrm>
          <a:prstGeom prst="rect">
            <a:avLst/>
          </a:prstGeom>
          <a:solidFill>
            <a:srgbClr val="076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993392" y="2926080"/>
            <a:ext cx="18288" cy="36576"/>
          </a:xfrm>
          <a:prstGeom prst="rect">
            <a:avLst/>
          </a:prstGeom>
          <a:solidFill>
            <a:srgbClr val="076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011680" y="2926080"/>
            <a:ext cx="18288" cy="36576"/>
          </a:xfrm>
          <a:prstGeom prst="rect">
            <a:avLst/>
          </a:prstGeom>
          <a:solidFill>
            <a:srgbClr val="076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029968" y="2926080"/>
            <a:ext cx="18288" cy="36576"/>
          </a:xfrm>
          <a:prstGeom prst="rect">
            <a:avLst/>
          </a:prstGeom>
          <a:solidFill>
            <a:srgbClr val="076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048256" y="2926080"/>
            <a:ext cx="18288" cy="36576"/>
          </a:xfrm>
          <a:prstGeom prst="rect">
            <a:avLst/>
          </a:prstGeom>
          <a:solidFill>
            <a:srgbClr val="076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066544" y="2926080"/>
            <a:ext cx="18288" cy="36576"/>
          </a:xfrm>
          <a:prstGeom prst="rect">
            <a:avLst/>
          </a:prstGeom>
          <a:solidFill>
            <a:srgbClr val="076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084832" y="2926080"/>
            <a:ext cx="18288" cy="36576"/>
          </a:xfrm>
          <a:prstGeom prst="rect">
            <a:avLst/>
          </a:prstGeom>
          <a:solidFill>
            <a:srgbClr val="076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103120" y="2926080"/>
            <a:ext cx="18288" cy="36576"/>
          </a:xfrm>
          <a:prstGeom prst="rect">
            <a:avLst/>
          </a:prstGeom>
          <a:solidFill>
            <a:srgbClr val="076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121408" y="2926080"/>
            <a:ext cx="18288" cy="36576"/>
          </a:xfrm>
          <a:prstGeom prst="rect">
            <a:avLst/>
          </a:prstGeom>
          <a:solidFill>
            <a:srgbClr val="076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139696" y="2926080"/>
            <a:ext cx="18288" cy="36576"/>
          </a:xfrm>
          <a:prstGeom prst="rect">
            <a:avLst/>
          </a:prstGeom>
          <a:solidFill>
            <a:srgbClr val="076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157984" y="2926080"/>
            <a:ext cx="18288" cy="36576"/>
          </a:xfrm>
          <a:prstGeom prst="rect">
            <a:avLst/>
          </a:prstGeom>
          <a:solidFill>
            <a:srgbClr val="07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176272" y="2926080"/>
            <a:ext cx="18288" cy="36576"/>
          </a:xfrm>
          <a:prstGeom prst="rect">
            <a:avLst/>
          </a:prstGeom>
          <a:solidFill>
            <a:srgbClr val="077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194560" y="2926080"/>
            <a:ext cx="18288" cy="36576"/>
          </a:xfrm>
          <a:prstGeom prst="rect">
            <a:avLst/>
          </a:prstGeom>
          <a:solidFill>
            <a:srgbClr val="06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212848" y="2926080"/>
            <a:ext cx="18288" cy="36576"/>
          </a:xfrm>
          <a:prstGeom prst="rect">
            <a:avLst/>
          </a:prstGeom>
          <a:solidFill>
            <a:srgbClr val="067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231136" y="2926080"/>
            <a:ext cx="18288" cy="36576"/>
          </a:xfrm>
          <a:prstGeom prst="rect">
            <a:avLst/>
          </a:prstGeom>
          <a:solidFill>
            <a:srgbClr val="067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249424" y="2926080"/>
            <a:ext cx="18288" cy="36576"/>
          </a:xfrm>
          <a:prstGeom prst="rect">
            <a:avLst/>
          </a:prstGeom>
          <a:solidFill>
            <a:srgbClr val="067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267712" y="2926080"/>
            <a:ext cx="18288" cy="36576"/>
          </a:xfrm>
          <a:prstGeom prst="rect">
            <a:avLst/>
          </a:prstGeom>
          <a:solidFill>
            <a:srgbClr val="067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286000" y="2926080"/>
            <a:ext cx="18288" cy="36576"/>
          </a:xfrm>
          <a:prstGeom prst="rect">
            <a:avLst/>
          </a:prstGeom>
          <a:solidFill>
            <a:srgbClr val="06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304288" y="2926080"/>
            <a:ext cx="18288" cy="36576"/>
          </a:xfrm>
          <a:prstGeom prst="rect">
            <a:avLst/>
          </a:prstGeom>
          <a:solidFill>
            <a:srgbClr val="067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322576" y="2926080"/>
            <a:ext cx="18288" cy="36576"/>
          </a:xfrm>
          <a:prstGeom prst="rect">
            <a:avLst/>
          </a:prstGeom>
          <a:solidFill>
            <a:srgbClr val="067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340864" y="2926080"/>
            <a:ext cx="18288" cy="36576"/>
          </a:xfrm>
          <a:prstGeom prst="rect">
            <a:avLst/>
          </a:prstGeom>
          <a:solidFill>
            <a:srgbClr val="06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359152" y="2926080"/>
            <a:ext cx="18288" cy="36576"/>
          </a:xfrm>
          <a:prstGeom prst="rect">
            <a:avLst/>
          </a:prstGeom>
          <a:solidFill>
            <a:srgbClr val="067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377440" y="2926080"/>
            <a:ext cx="18288" cy="36576"/>
          </a:xfrm>
          <a:prstGeom prst="rect">
            <a:avLst/>
          </a:prstGeom>
          <a:solidFill>
            <a:srgbClr val="068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395728" y="2926080"/>
            <a:ext cx="18288" cy="36576"/>
          </a:xfrm>
          <a:prstGeom prst="rect">
            <a:avLst/>
          </a:prstGeom>
          <a:solidFill>
            <a:srgbClr val="058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414016" y="2926080"/>
            <a:ext cx="18288" cy="36576"/>
          </a:xfrm>
          <a:prstGeom prst="rect">
            <a:avLst/>
          </a:prstGeom>
          <a:solidFill>
            <a:srgbClr val="058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432304" y="2926080"/>
            <a:ext cx="18288" cy="36576"/>
          </a:xfrm>
          <a:prstGeom prst="rect">
            <a:avLst/>
          </a:prstGeom>
          <a:solidFill>
            <a:srgbClr val="0584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450592" y="2926080"/>
            <a:ext cx="18288" cy="36576"/>
          </a:xfrm>
          <a:prstGeom prst="rect">
            <a:avLst/>
          </a:prstGeom>
          <a:solidFill>
            <a:srgbClr val="058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468880" y="2926080"/>
            <a:ext cx="18288" cy="36576"/>
          </a:xfrm>
          <a:prstGeom prst="rect">
            <a:avLst/>
          </a:prstGeom>
          <a:solidFill>
            <a:srgbClr val="058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487168" y="2926080"/>
            <a:ext cx="18288" cy="36576"/>
          </a:xfrm>
          <a:prstGeom prst="rect">
            <a:avLst/>
          </a:prstGeom>
          <a:solidFill>
            <a:srgbClr val="058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505456" y="2926080"/>
            <a:ext cx="18288" cy="36576"/>
          </a:xfrm>
          <a:prstGeom prst="rect">
            <a:avLst/>
          </a:prstGeom>
          <a:solidFill>
            <a:srgbClr val="058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523744" y="2926080"/>
            <a:ext cx="18288" cy="36576"/>
          </a:xfrm>
          <a:prstGeom prst="rect">
            <a:avLst/>
          </a:prstGeom>
          <a:solidFill>
            <a:srgbClr val="058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542032" y="2926080"/>
            <a:ext cx="18288" cy="36576"/>
          </a:xfrm>
          <a:prstGeom prst="rect">
            <a:avLst/>
          </a:prstGeom>
          <a:solidFill>
            <a:srgbClr val="058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560320" y="2926080"/>
            <a:ext cx="18288" cy="36576"/>
          </a:xfrm>
          <a:prstGeom prst="rect">
            <a:avLst/>
          </a:prstGeom>
          <a:solidFill>
            <a:srgbClr val="05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2578608" y="2926080"/>
            <a:ext cx="18288" cy="36576"/>
          </a:xfrm>
          <a:prstGeom prst="rect">
            <a:avLst/>
          </a:prstGeom>
          <a:solidFill>
            <a:srgbClr val="059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596896" y="2926080"/>
            <a:ext cx="18288" cy="36576"/>
          </a:xfrm>
          <a:prstGeom prst="rect">
            <a:avLst/>
          </a:prstGeom>
          <a:solidFill>
            <a:srgbClr val="059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615184" y="2926080"/>
            <a:ext cx="18288" cy="36576"/>
          </a:xfrm>
          <a:prstGeom prst="rect">
            <a:avLst/>
          </a:prstGeom>
          <a:solidFill>
            <a:srgbClr val="049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633472" y="2926080"/>
            <a:ext cx="18288" cy="36576"/>
          </a:xfrm>
          <a:prstGeom prst="rect">
            <a:avLst/>
          </a:prstGeom>
          <a:solidFill>
            <a:srgbClr val="049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2651760" y="2926080"/>
            <a:ext cx="18288" cy="36576"/>
          </a:xfrm>
          <a:prstGeom prst="rect">
            <a:avLst/>
          </a:prstGeom>
          <a:solidFill>
            <a:srgbClr val="04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2670048" y="2926080"/>
            <a:ext cx="18288" cy="36576"/>
          </a:xfrm>
          <a:prstGeom prst="rect">
            <a:avLst/>
          </a:prstGeom>
          <a:solidFill>
            <a:srgbClr val="049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2688336" y="2926080"/>
            <a:ext cx="18288" cy="36576"/>
          </a:xfrm>
          <a:prstGeom prst="rect">
            <a:avLst/>
          </a:prstGeom>
          <a:solidFill>
            <a:srgbClr val="04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706624" y="2926080"/>
            <a:ext cx="18288" cy="36576"/>
          </a:xfrm>
          <a:prstGeom prst="rect">
            <a:avLst/>
          </a:prstGeom>
          <a:solidFill>
            <a:srgbClr val="049A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724912" y="2926080"/>
            <a:ext cx="18288" cy="36576"/>
          </a:xfrm>
          <a:prstGeom prst="rect">
            <a:avLst/>
          </a:prstGeom>
          <a:solidFill>
            <a:srgbClr val="049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2743200" y="2926080"/>
            <a:ext cx="18288" cy="36576"/>
          </a:xfrm>
          <a:prstGeom prst="rect">
            <a:avLst/>
          </a:prstGeom>
          <a:solidFill>
            <a:srgbClr val="049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2761488" y="2926080"/>
            <a:ext cx="18288" cy="36576"/>
          </a:xfrm>
          <a:prstGeom prst="rect">
            <a:avLst/>
          </a:prstGeom>
          <a:solidFill>
            <a:srgbClr val="049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779776" y="2926080"/>
            <a:ext cx="18288" cy="36576"/>
          </a:xfrm>
          <a:prstGeom prst="rect">
            <a:avLst/>
          </a:prstGeom>
          <a:solidFill>
            <a:srgbClr val="049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798064" y="2926080"/>
            <a:ext cx="18288" cy="36576"/>
          </a:xfrm>
          <a:prstGeom prst="rect">
            <a:avLst/>
          </a:prstGeom>
          <a:solidFill>
            <a:srgbClr val="04A1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816352" y="2926080"/>
            <a:ext cx="18288" cy="36576"/>
          </a:xfrm>
          <a:prstGeom prst="rect">
            <a:avLst/>
          </a:prstGeom>
          <a:solidFill>
            <a:srgbClr val="03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834640" y="2926080"/>
            <a:ext cx="18288" cy="36576"/>
          </a:xfrm>
          <a:prstGeom prst="rect">
            <a:avLst/>
          </a:prstGeom>
          <a:solidFill>
            <a:srgbClr val="03A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852928" y="2926080"/>
            <a:ext cx="18288" cy="36576"/>
          </a:xfrm>
          <a:prstGeom prst="rect">
            <a:avLst/>
          </a:prstGeom>
          <a:solidFill>
            <a:srgbClr val="03A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871216" y="2926080"/>
            <a:ext cx="18288" cy="36576"/>
          </a:xfrm>
          <a:prstGeom prst="rect">
            <a:avLst/>
          </a:prstGeom>
          <a:solidFill>
            <a:srgbClr val="03A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889504" y="2926080"/>
            <a:ext cx="18288" cy="36576"/>
          </a:xfrm>
          <a:prstGeom prst="rect">
            <a:avLst/>
          </a:prstGeom>
          <a:solidFill>
            <a:srgbClr val="03A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907792" y="2926080"/>
            <a:ext cx="18288" cy="36576"/>
          </a:xfrm>
          <a:prstGeom prst="rect">
            <a:avLst/>
          </a:prstGeom>
          <a:solidFill>
            <a:srgbClr val="03A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2926080" y="2926080"/>
            <a:ext cx="18288" cy="36576"/>
          </a:xfrm>
          <a:prstGeom prst="rect">
            <a:avLst/>
          </a:prstGeom>
          <a:solidFill>
            <a:srgbClr val="03A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2944368" y="2926080"/>
            <a:ext cx="18288" cy="36576"/>
          </a:xfrm>
          <a:prstGeom prst="rect">
            <a:avLst/>
          </a:prstGeom>
          <a:solidFill>
            <a:srgbClr val="03A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2962656" y="2926080"/>
            <a:ext cx="18288" cy="36576"/>
          </a:xfrm>
          <a:prstGeom prst="rect">
            <a:avLst/>
          </a:prstGeom>
          <a:solidFill>
            <a:srgbClr val="03A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2980944" y="2926080"/>
            <a:ext cx="18288" cy="36576"/>
          </a:xfrm>
          <a:prstGeom prst="rect">
            <a:avLst/>
          </a:prstGeom>
          <a:solidFill>
            <a:srgbClr val="03A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2999232" y="2926080"/>
            <a:ext cx="18288" cy="36576"/>
          </a:xfrm>
          <a:prstGeom prst="rect">
            <a:avLst/>
          </a:prstGeom>
          <a:solidFill>
            <a:srgbClr val="03B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017520" y="2926080"/>
            <a:ext cx="18288" cy="36576"/>
          </a:xfrm>
          <a:prstGeom prst="rect">
            <a:avLst/>
          </a:prstGeom>
          <a:solidFill>
            <a:srgbClr val="03B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035808" y="2926080"/>
            <a:ext cx="18288" cy="36576"/>
          </a:xfrm>
          <a:prstGeom prst="rect">
            <a:avLst/>
          </a:prstGeom>
          <a:solidFill>
            <a:srgbClr val="02B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054096" y="2926080"/>
            <a:ext cx="18288" cy="36576"/>
          </a:xfrm>
          <a:prstGeom prst="rect">
            <a:avLst/>
          </a:prstGeom>
          <a:solidFill>
            <a:srgbClr val="02B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072384" y="2926080"/>
            <a:ext cx="18288" cy="36576"/>
          </a:xfrm>
          <a:prstGeom prst="rect">
            <a:avLst/>
          </a:prstGeom>
          <a:solidFill>
            <a:srgbClr val="02B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3090672" y="2926080"/>
            <a:ext cx="18288" cy="36576"/>
          </a:xfrm>
          <a:prstGeom prst="rect">
            <a:avLst/>
          </a:prstGeom>
          <a:solidFill>
            <a:srgbClr val="02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3108960" y="2926080"/>
            <a:ext cx="18288" cy="36576"/>
          </a:xfrm>
          <a:prstGeom prst="rect">
            <a:avLst/>
          </a:prstGeom>
          <a:solidFill>
            <a:srgbClr val="02B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3127248" y="2926080"/>
            <a:ext cx="18288" cy="36576"/>
          </a:xfrm>
          <a:prstGeom prst="rect">
            <a:avLst/>
          </a:prstGeom>
          <a:solidFill>
            <a:srgbClr val="02B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145536" y="2926080"/>
            <a:ext cx="18288" cy="36576"/>
          </a:xfrm>
          <a:prstGeom prst="rect">
            <a:avLst/>
          </a:prstGeom>
          <a:solidFill>
            <a:srgbClr val="02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3163824" y="2926080"/>
            <a:ext cx="18288" cy="36576"/>
          </a:xfrm>
          <a:prstGeom prst="rect">
            <a:avLst/>
          </a:prstGeom>
          <a:solidFill>
            <a:srgbClr val="02B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3182112" y="2926080"/>
            <a:ext cx="18288" cy="36576"/>
          </a:xfrm>
          <a:prstGeom prst="rect">
            <a:avLst/>
          </a:prstGeom>
          <a:solidFill>
            <a:srgbClr val="02B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3200400" y="2926080"/>
            <a:ext cx="18288" cy="36576"/>
          </a:xfrm>
          <a:prstGeom prst="rect">
            <a:avLst/>
          </a:prstGeom>
          <a:solidFill>
            <a:srgbClr val="02C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3218688" y="2926080"/>
            <a:ext cx="18288" cy="36576"/>
          </a:xfrm>
          <a:prstGeom prst="rect">
            <a:avLst/>
          </a:prstGeom>
          <a:solidFill>
            <a:srgbClr val="02C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3236976" y="2926080"/>
            <a:ext cx="18288" cy="36576"/>
          </a:xfrm>
          <a:prstGeom prst="rect">
            <a:avLst/>
          </a:prstGeom>
          <a:solidFill>
            <a:srgbClr val="01C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3255264" y="2926080"/>
            <a:ext cx="18288" cy="36576"/>
          </a:xfrm>
          <a:prstGeom prst="rect">
            <a:avLst/>
          </a:prstGeom>
          <a:solidFill>
            <a:srgbClr val="01C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3273552" y="2926080"/>
            <a:ext cx="18288" cy="36576"/>
          </a:xfrm>
          <a:prstGeom prst="rect">
            <a:avLst/>
          </a:prstGeom>
          <a:solidFill>
            <a:srgbClr val="01C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3291840" y="2926080"/>
            <a:ext cx="18288" cy="36576"/>
          </a:xfrm>
          <a:prstGeom prst="rect">
            <a:avLst/>
          </a:prstGeom>
          <a:solidFill>
            <a:srgbClr val="01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3310128" y="2926080"/>
            <a:ext cx="18288" cy="36576"/>
          </a:xfrm>
          <a:prstGeom prst="rect">
            <a:avLst/>
          </a:prstGeom>
          <a:solidFill>
            <a:srgbClr val="01C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3328416" y="2926080"/>
            <a:ext cx="18288" cy="36576"/>
          </a:xfrm>
          <a:prstGeom prst="rect">
            <a:avLst/>
          </a:prstGeom>
          <a:solidFill>
            <a:srgbClr val="01C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346704" y="2926080"/>
            <a:ext cx="18288" cy="36576"/>
          </a:xfrm>
          <a:prstGeom prst="rect">
            <a:avLst/>
          </a:prstGeom>
          <a:solidFill>
            <a:srgbClr val="01C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3364992" y="2926080"/>
            <a:ext cx="18288" cy="36576"/>
          </a:xfrm>
          <a:prstGeom prst="rect">
            <a:avLst/>
          </a:prstGeom>
          <a:solidFill>
            <a:srgbClr val="01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3383280" y="2926080"/>
            <a:ext cx="18288" cy="36576"/>
          </a:xfrm>
          <a:prstGeom prst="rect">
            <a:avLst/>
          </a:prstGeom>
          <a:solidFill>
            <a:srgbClr val="01C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3401568" y="2926080"/>
            <a:ext cx="18288" cy="36576"/>
          </a:xfrm>
          <a:prstGeom prst="rect">
            <a:avLst/>
          </a:prstGeom>
          <a:solidFill>
            <a:srgbClr val="01D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3419856" y="2926080"/>
            <a:ext cx="18288" cy="36576"/>
          </a:xfrm>
          <a:prstGeom prst="rect">
            <a:avLst/>
          </a:prstGeom>
          <a:solidFill>
            <a:srgbClr val="01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3438144" y="2926080"/>
            <a:ext cx="18288" cy="36576"/>
          </a:xfrm>
          <a:prstGeom prst="rect">
            <a:avLst/>
          </a:prstGeom>
          <a:solidFill>
            <a:srgbClr val="01D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3456432" y="2926080"/>
            <a:ext cx="18288" cy="36576"/>
          </a:xfrm>
          <a:prstGeom prst="rect">
            <a:avLst/>
          </a:prstGeom>
          <a:solidFill>
            <a:srgbClr val="00D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3474720" y="2926080"/>
            <a:ext cx="18288" cy="36576"/>
          </a:xfrm>
          <a:prstGeom prst="rect">
            <a:avLst/>
          </a:prstGeom>
          <a:solidFill>
            <a:srgbClr val="00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493008" y="2926080"/>
            <a:ext cx="18288" cy="36576"/>
          </a:xfrm>
          <a:prstGeom prst="rect">
            <a:avLst/>
          </a:prstGeom>
          <a:solidFill>
            <a:srgbClr val="00D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3511296" y="2926080"/>
            <a:ext cx="18288" cy="36576"/>
          </a:xfrm>
          <a:prstGeom prst="rect">
            <a:avLst/>
          </a:prstGeom>
          <a:solidFill>
            <a:srgbClr val="00D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3529584" y="2926080"/>
            <a:ext cx="18288" cy="36576"/>
          </a:xfrm>
          <a:prstGeom prst="rect">
            <a:avLst/>
          </a:prstGeom>
          <a:solidFill>
            <a:srgbClr val="00D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3547872" y="2926080"/>
            <a:ext cx="18288" cy="36576"/>
          </a:xfrm>
          <a:prstGeom prst="rect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3566160" y="2926080"/>
            <a:ext cx="18288" cy="36576"/>
          </a:xfrm>
          <a:prstGeom prst="rect">
            <a:avLst/>
          </a:prstGeom>
          <a:solidFill>
            <a:srgbClr val="00D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3584448" y="2926080"/>
            <a:ext cx="18288" cy="36576"/>
          </a:xfrm>
          <a:prstGeom prst="rect">
            <a:avLst/>
          </a:prstGeom>
          <a:solidFill>
            <a:srgbClr val="00D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3602736" y="2926080"/>
            <a:ext cx="18288" cy="36576"/>
          </a:xfrm>
          <a:prstGeom prst="rect">
            <a:avLst/>
          </a:prstGeom>
          <a:solidFill>
            <a:srgbClr val="00E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3621024" y="2926080"/>
            <a:ext cx="18288" cy="36576"/>
          </a:xfrm>
          <a:prstGeom prst="rect">
            <a:avLst/>
          </a:prstGeom>
          <a:solidFill>
            <a:srgbClr val="00E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3639312" y="2926080"/>
            <a:ext cx="18288" cy="36576"/>
          </a:xfrm>
          <a:prstGeom prst="rect">
            <a:avLst/>
          </a:prstGeom>
          <a:solidFill>
            <a:srgbClr val="00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914400" y="3200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C0"/>
                </a:solidFill>
                <a:latin typeface="Calibri"/>
              </a:defRPr>
            </a:pPr>
            <a:r>
              <a:t>Graduation Project  |  Computer Engineering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14400" y="4114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80"/>
                </a:solidFill>
                <a:latin typeface="Calibri"/>
              </a:defRPr>
            </a:pPr>
            <a:r>
              <a:t>A three-tier ground control system integrating drone hardware,</a:t>
            </a:r>
            <a:br/>
            <a:r>
              <a:t>AI-powered human detection, and real-time mobile monitoring</a:t>
            </a:r>
            <a:br/>
            <a:r>
              <a:t>for autonomous Search &amp; Rescue operations.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0" y="6217920"/>
            <a:ext cx="12191695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91440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80"/>
                </a:solidFill>
                <a:latin typeface="Calibri"/>
              </a:defRPr>
            </a:pPr>
            <a:r>
              <a:t>Mahmoud Dahy  |  Supervised by: Dr. 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" cy="6400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06080"/>
                </a:solidFill>
                <a:latin typeface="Calibri"/>
              </a:defRPr>
            </a:pPr>
            <a:r>
              <a:t>Presentation 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01    Problem Statement &amp; Motivation</a:t>
            </a:r>
          </a:p>
          <a:p>
            <a:pPr>
              <a:spcAft>
                <a:spcPts val="10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02    Project Objectives</a:t>
            </a:r>
          </a:p>
          <a:p>
            <a:pPr>
              <a:spcAft>
                <a:spcPts val="10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03    System Architecture Overview</a:t>
            </a:r>
          </a:p>
          <a:p>
            <a:pPr>
              <a:spcAft>
                <a:spcPts val="10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04    Hardware Components (Raspberry Pi Module)</a:t>
            </a:r>
          </a:p>
          <a:p>
            <a:pPr>
              <a:spcAft>
                <a:spcPts val="10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05    Backend Server (FastAPI &amp; AI Pipeline)</a:t>
            </a:r>
          </a:p>
          <a:p>
            <a:pPr>
              <a:spcAft>
                <a:spcPts val="10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06    AI Detection Engine (YOLO Integration)</a:t>
            </a:r>
          </a:p>
          <a:p>
            <a:pPr>
              <a:spcAft>
                <a:spcPts val="10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07    Mobile App – Ground Control Interface</a:t>
            </a:r>
          </a:p>
          <a:p>
            <a:pPr>
              <a:spcAft>
                <a:spcPts val="10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08    Key Features: Video, Map, Telemetry, Joystick</a:t>
            </a:r>
          </a:p>
          <a:p>
            <a:pPr>
              <a:spcAft>
                <a:spcPts val="10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09    Technology Stack</a:t>
            </a:r>
          </a:p>
          <a:p>
            <a:pPr>
              <a:spcAft>
                <a:spcPts val="10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10    Challenges &amp; Solutions</a:t>
            </a:r>
          </a:p>
          <a:p>
            <a:pPr>
              <a:spcAft>
                <a:spcPts val="10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11    Future Enhancements</a:t>
            </a:r>
          </a:p>
          <a:p>
            <a:pPr>
              <a:spcAft>
                <a:spcPts val="10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12   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80"/>
                </a:solidFill>
                <a:latin typeface="Calibri"/>
              </a:defRPr>
            </a:pPr>
            <a:r>
              <a:t>2/24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" cy="6400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06080"/>
                </a:solidFill>
                <a:latin typeface="Calibri"/>
              </a:defRPr>
            </a:pPr>
            <a:r>
              <a:t>The Challenge in Search &amp; Rescue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B0B0C0"/>
                </a:solidFill>
                <a:latin typeface="Calibri"/>
              </a:defRPr>
            </a:pPr>
            <a:r>
              <a:t>Critical delays in locating victims during natural disasters, missing person cases, and emergencies</a:t>
            </a:r>
          </a:p>
          <a:p>
            <a:pPr>
              <a:spcAft>
                <a:spcPts val="1000"/>
              </a:spcAft>
              <a:defRPr sz="1600">
                <a:solidFill>
                  <a:srgbClr val="B0B0C0"/>
                </a:solidFill>
                <a:latin typeface="Calibri"/>
              </a:defRPr>
            </a:pPr>
            <a:r>
              <a:t>Traditional SAR teams face limited visibility, dangerous terrain, and slow manual search patterns</a:t>
            </a:r>
          </a:p>
          <a:p>
            <a:pPr>
              <a:spcAft>
                <a:spcPts val="1000"/>
              </a:spcAft>
              <a:defRPr sz="1600">
                <a:solidFill>
                  <a:srgbClr val="B0B0C0"/>
                </a:solidFill>
                <a:latin typeface="Calibri"/>
              </a:defRPr>
            </a:pPr>
            <a:r>
              <a:t>Lack of real-time aerial intelligence and automated detection capabilities in the field</a:t>
            </a:r>
          </a:p>
          <a:p>
            <a:pPr>
              <a:spcAft>
                <a:spcPts val="1000"/>
              </a:spcAft>
              <a:defRPr sz="1600">
                <a:solidFill>
                  <a:srgbClr val="B0B0C0"/>
                </a:solidFill>
                <a:latin typeface="Calibri"/>
              </a:defRPr>
            </a:pPr>
            <a:r>
              <a:t>High cost &amp; complexity of professional drone systems with limited accessibility for first responders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572000"/>
            <a:ext cx="2926080" cy="18288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4572000"/>
            <a:ext cx="2926080" cy="36576"/>
          </a:xfrm>
          <a:prstGeom prst="rect">
            <a:avLst/>
          </a:prstGeom>
          <a:solidFill>
            <a:srgbClr val="F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47548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3355"/>
                </a:solidFill>
                <a:latin typeface="Calibri"/>
              </a:defRPr>
            </a:pPr>
            <a:r>
              <a:t>72%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53035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of SAR operations</a:t>
            </a:r>
            <a:br/>
            <a:r>
              <a:t>exceed critical</a:t>
            </a:r>
            <a:br/>
            <a:r>
              <a:t>time windows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4572000"/>
            <a:ext cx="2926080" cy="18288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0" y="4572000"/>
            <a:ext cx="292608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47548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5FF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53035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reduction in search</a:t>
            </a:r>
            <a:br/>
            <a:r>
              <a:t>area coverage</a:t>
            </a:r>
            <a:br/>
            <a:r>
              <a:t>with aerial 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4572000"/>
            <a:ext cx="2926080" cy="18288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4572000"/>
            <a:ext cx="2926080" cy="36576"/>
          </a:xfrm>
          <a:prstGeom prst="rect">
            <a:avLst/>
          </a:prstGeom>
          <a:solidFill>
            <a:srgbClr val="00E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47548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580"/>
                </a:solidFill>
                <a:latin typeface="Calibri"/>
              </a:defRPr>
            </a:pPr>
            <a:r>
              <a:t>3x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53035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faster victim</a:t>
            </a:r>
            <a:br/>
            <a:r>
              <a:t>localization with</a:t>
            </a:r>
            <a:br/>
            <a:r>
              <a:t>AI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80"/>
                </a:solidFill>
                <a:latin typeface="Calibri"/>
              </a:defRPr>
            </a:pPr>
            <a:r>
              <a:t>3/24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" cy="6400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06080"/>
                </a:solidFill>
                <a:latin typeface="Calibri"/>
              </a:defRPr>
            </a:pPr>
            <a:r>
              <a:t>What We Aim to Achieve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2011680"/>
          </a:xfrm>
          <a:prstGeom prst="rect">
            <a:avLst/>
          </a:prstGeom>
          <a:solidFill>
            <a:srgbClr val="16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29184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920240"/>
            <a:ext cx="548640" cy="5486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0D1A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874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Real-Time Aerial Surveillance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2402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Live video streaming from drone camera to mobile ground station with minimal latency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291840" cy="2011680"/>
          </a:xfrm>
          <a:prstGeom prst="rect">
            <a:avLst/>
          </a:prstGeom>
          <a:solidFill>
            <a:srgbClr val="16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329184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3440" y="1920240"/>
            <a:ext cx="548640" cy="54864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0D1A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1874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AI-Powered Human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2402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Automated identification of persons in distress using YOLO deep learning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3291840" cy="2011680"/>
          </a:xfrm>
          <a:prstGeom prst="rect">
            <a:avLst/>
          </a:prstGeom>
          <a:solidFill>
            <a:srgbClr val="16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45920"/>
            <a:ext cx="329184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40" y="192024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0D1A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1874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Live GPS Tracking &amp; Navigation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2402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Real-time drone position tracking on interactive maps with path history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023360"/>
            <a:ext cx="3291840" cy="2011680"/>
          </a:xfrm>
          <a:prstGeom prst="rect">
            <a:avLst/>
          </a:prstGeom>
          <a:solidFill>
            <a:srgbClr val="16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023360"/>
            <a:ext cx="3291840" cy="36576"/>
          </a:xfrm>
          <a:prstGeom prst="rect">
            <a:avLst/>
          </a:prstGeom>
          <a:solidFill>
            <a:srgbClr val="00E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" y="4297680"/>
            <a:ext cx="548640" cy="548640"/>
          </a:xfrm>
          <a:prstGeom prst="ellipse">
            <a:avLst/>
          </a:prstGeom>
          <a:solidFill>
            <a:srgbClr val="00E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0D1A"/>
                </a:solidFill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251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Comprehensive Telemetry 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6177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Battery, altitude, speed, temperature, and system health at a glance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4023360"/>
            <a:ext cx="3291840" cy="2011680"/>
          </a:xfrm>
          <a:prstGeom prst="rect">
            <a:avLst/>
          </a:prstGeom>
          <a:solidFill>
            <a:srgbClr val="16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4023360"/>
            <a:ext cx="329184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3440" y="4297680"/>
            <a:ext cx="548640" cy="5486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0D1A"/>
                </a:solidFill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4251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Remote Drone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46177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Full touch-based virtual joystick for directional drone commands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4023360"/>
            <a:ext cx="3291840" cy="2011680"/>
          </a:xfrm>
          <a:prstGeom prst="rect">
            <a:avLst/>
          </a:prstGeom>
          <a:solidFill>
            <a:srgbClr val="16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4023360"/>
            <a:ext cx="3291840" cy="36576"/>
          </a:xfrm>
          <a:prstGeom prst="rect">
            <a:avLst/>
          </a:prstGeom>
          <a:solidFill>
            <a:srgbClr val="F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0" y="4297680"/>
            <a:ext cx="548640" cy="548640"/>
          </a:xfrm>
          <a:prstGeom prst="ellipse">
            <a:avLst/>
          </a:prstGeom>
          <a:solidFill>
            <a:srgbClr val="F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0D1A"/>
                </a:solidFill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4251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Mission Management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46177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End-to-end mission lifecycle: planning, execution, incident reporting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80"/>
                </a:solidFill>
                <a:latin typeface="Calibri"/>
              </a:defRPr>
            </a:pPr>
            <a:r>
              <a:t>4/24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" cy="6400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06080"/>
                </a:solidFill>
                <a:latin typeface="Calibri"/>
              </a:defRPr>
            </a:pPr>
            <a:r>
              <a:t>Three-Tier Distributed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474720" cy="475488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747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920240"/>
            <a:ext cx="109728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D0D1A"/>
                </a:solidFill>
              </a:defRPr>
            </a:pPr>
            <a:r>
              <a:t>TIER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DRONE HARDWARE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834640"/>
            <a:ext cx="2926080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Raspberry Pi</a:t>
            </a:r>
            <a:br/>
            <a:r>
              <a:t>Camera Module</a:t>
            </a:r>
            <a:br/>
            <a:r>
              <a:t>GPS (NEO-6M)</a:t>
            </a:r>
            <a:br/>
            <a:br/>
            <a:r>
              <a:t>Captures video &amp;</a:t>
            </a:r>
            <a:br/>
            <a:r>
              <a:t>location data.</a:t>
            </a:r>
            <a:br/>
            <a:r>
              <a:t>Streams via TCP &amp;</a:t>
            </a:r>
            <a:br/>
            <a:r>
              <a:t>Firebase sync.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645920"/>
            <a:ext cx="3474720" cy="475488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3474720" cy="54864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46320" y="1920240"/>
            <a:ext cx="1097280" cy="32004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D0D1A"/>
                </a:solidFill>
              </a:defRPr>
            </a:pPr>
            <a:r>
              <a:t>TIER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LAPTOP SERVER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2834640"/>
            <a:ext cx="2926080" cy="18288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301752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FastAPI + Uvicorn</a:t>
            </a:r>
            <a:br/>
            <a:r>
              <a:t>YOLO AI Detection</a:t>
            </a:r>
            <a:br/>
            <a:r>
              <a:t>OpenCV Processing</a:t>
            </a:r>
            <a:br/>
            <a:r>
              <a:t>WebSocket Server</a:t>
            </a:r>
            <a:br/>
            <a:br/>
            <a:r>
              <a:t>Receives drone feed,</a:t>
            </a:r>
            <a:br/>
            <a:r>
              <a:t>runs AI inference,</a:t>
            </a:r>
            <a:br/>
            <a:r>
              <a:t>broadcasts to</a:t>
            </a:r>
            <a:br/>
            <a:r>
              <a:t>mobile clients.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1645920"/>
            <a:ext cx="3474720" cy="475488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0" y="164592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0" y="1920240"/>
            <a:ext cx="109728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D0D1A"/>
                </a:solidFill>
              </a:defRPr>
            </a:pPr>
            <a:r>
              <a:t>TIER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MOBILE APP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2834640"/>
            <a:ext cx="2926080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301752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Flutter Ground</a:t>
            </a:r>
            <a:br/>
            <a:r>
              <a:t>Control Interface</a:t>
            </a:r>
            <a:br/>
            <a:br/>
            <a:r>
              <a:t>Live video, AI overlay,</a:t>
            </a:r>
            <a:br/>
            <a:r>
              <a:t>GPS tracking,</a:t>
            </a:r>
            <a:br/>
            <a:r>
              <a:t>telemetry, joystick</a:t>
            </a:r>
            <a:br/>
            <a:r>
              <a:t>control, mission</a:t>
            </a:r>
            <a:br/>
            <a:r>
              <a:t>management.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E5FF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E5FF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80"/>
                </a:solidFill>
                <a:latin typeface="Calibri"/>
              </a:defRPr>
            </a:pPr>
            <a:r>
              <a:t>Drone → TCP Video → Laptop Server → WebSocket (Video + Detections) → Mobile 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80"/>
                </a:solidFill>
                <a:latin typeface="Calibri"/>
              </a:defRPr>
            </a:pPr>
            <a:r>
              <a:t>5/24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" cy="6400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Hardware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06080"/>
                </a:solidFill>
                <a:latin typeface="Calibri"/>
              </a:defRPr>
            </a:pPr>
            <a:r>
              <a:t>Raspberry Pi Onboard Drone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560320" cy="27432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56032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45920" y="1920240"/>
            <a:ext cx="731520" cy="73152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D0D1A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Raspberry 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Onboard computer processing</a:t>
            </a:r>
            <a:br/>
            <a:r>
              <a:t>drone data &amp; communications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6080"/>
                </a:solidFill>
                <a:latin typeface="Calibri"/>
              </a:defRPr>
            </a:pPr>
            <a:r>
              <a:t>(Pi 3/4)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1645920"/>
            <a:ext cx="2560320" cy="27432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80" y="1645920"/>
            <a:ext cx="256032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26280" y="1920240"/>
            <a:ext cx="731520" cy="73152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D0D1A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834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Camera Module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2004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Live video capture for</a:t>
            </a:r>
            <a:br/>
            <a:r>
              <a:t>aerial surveillance feed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931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6080"/>
                </a:solidFill>
                <a:latin typeface="Calibri"/>
              </a:defRPr>
            </a:pPr>
            <a:r>
              <a:t>(Pi Camera v2)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645920"/>
            <a:ext cx="2560320" cy="27432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1645920"/>
            <a:ext cx="25603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06640" y="19202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D0D1A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834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GPS Module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2004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Real-time positioning data</a:t>
            </a:r>
            <a:br/>
            <a:r>
              <a:t>(NEO-6M) via UART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931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6080"/>
                </a:solidFill>
                <a:latin typeface="Calibri"/>
              </a:defRPr>
            </a:pPr>
            <a:r>
              <a:t>(NEO-6M)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72600" y="1645920"/>
            <a:ext cx="2560320" cy="27432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72600" y="1645920"/>
            <a:ext cx="2560320" cy="36576"/>
          </a:xfrm>
          <a:prstGeom prst="rect">
            <a:avLst/>
          </a:prstGeom>
          <a:solidFill>
            <a:srgbClr val="00E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87000" y="1920240"/>
            <a:ext cx="731520" cy="731520"/>
          </a:xfrm>
          <a:prstGeom prst="ellipse">
            <a:avLst/>
          </a:prstGeom>
          <a:solidFill>
            <a:srgbClr val="00E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D0D1A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2834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Drone Frame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32004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Quadcopter platform with</a:t>
            </a:r>
            <a:br/>
            <a:r>
              <a:t>payload capacity for</a:t>
            </a:r>
            <a:br/>
            <a:r>
              <a:t>RPi + camera + GPS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3931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6080"/>
                </a:solidFill>
                <a:latin typeface="Calibri"/>
              </a:defRPr>
            </a:pPr>
            <a:r>
              <a:t>(Custom / DJI)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754880"/>
            <a:ext cx="10698480" cy="36576"/>
          </a:xfrm>
          <a:prstGeom prst="rect">
            <a:avLst/>
          </a:prstGeom>
          <a:solidFill>
            <a:srgbClr val="6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9377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080"/>
                </a:solidFill>
                <a:latin typeface="Calibri"/>
              </a:defRPr>
            </a:pPr>
            <a:r>
              <a:t>Data Flow:  GPS Module → Raspberry Pi → TCP Socket → Laptop Server</a:t>
            </a:r>
            <a:br/>
            <a:r>
              <a:t>             Camera → Raspberry Pi → TCP Video Stream → FastAPI Server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80"/>
                </a:solidFill>
                <a:latin typeface="Calibri"/>
              </a:defRPr>
            </a:pPr>
            <a:r>
              <a:t>6/24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" cy="6400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Backend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06080"/>
                </a:solidFill>
                <a:latin typeface="Calibri"/>
              </a:defRPr>
            </a:pPr>
            <a:r>
              <a:t>FastAPI Middleware &amp; AI 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011680" cy="25603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01168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5FF"/>
                </a:solidFill>
                <a:latin typeface="Calibri"/>
              </a:defRPr>
            </a:pPr>
            <a:r>
              <a:t>TCP Receiver</a:t>
            </a:r>
            <a:br/>
            <a:r>
              <a:t>(Port 9000)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1463040" cy="13716"/>
          </a:xfrm>
          <a:prstGeom prst="rect">
            <a:avLst/>
          </a:prstGeom>
          <a:solidFill>
            <a:srgbClr val="6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92608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Receives raw</a:t>
            </a:r>
            <a:br/>
            <a:r>
              <a:t>video frames</a:t>
            </a:r>
            <a:br/>
            <a:r>
              <a:t>from drone</a:t>
            </a:r>
            <a:br/>
            <a:r>
              <a:t>via TCP</a:t>
            </a:r>
            <a:br/>
            <a:r>
              <a:t>socket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E5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1828800"/>
            <a:ext cx="2011680" cy="25603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8920" y="1828800"/>
            <a:ext cx="201168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20116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6FF"/>
                </a:solidFill>
                <a:latin typeface="Calibri"/>
              </a:defRPr>
            </a:pPr>
            <a:r>
              <a:t>Frame</a:t>
            </a:r>
            <a:br/>
            <a:r>
              <a:t>Queue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2743200"/>
            <a:ext cx="1463040" cy="13716"/>
          </a:xfrm>
          <a:prstGeom prst="rect">
            <a:avLst/>
          </a:prstGeom>
          <a:solidFill>
            <a:srgbClr val="6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292608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Buffers frames</a:t>
            </a:r>
            <a:br/>
            <a:r>
              <a:t>for processing</a:t>
            </a:r>
            <a:br/>
            <a:r>
              <a:t>at controlled</a:t>
            </a:r>
            <a:br/>
            <a:r>
              <a:t>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E5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1828800"/>
            <a:ext cx="2011680" cy="25603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1828800"/>
            <a:ext cx="201168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20116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C3AED"/>
                </a:solidFill>
                <a:latin typeface="Calibri"/>
              </a:defRPr>
            </a:pPr>
            <a:r>
              <a:t>AI Pipeline</a:t>
            </a:r>
            <a:br/>
            <a:r>
              <a:t>(YOLO)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2743200"/>
            <a:ext cx="1463040" cy="13716"/>
          </a:xfrm>
          <a:prstGeom prst="rect">
            <a:avLst/>
          </a:prstGeom>
          <a:solidFill>
            <a:srgbClr val="6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7800" y="292608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Resize, detect,</a:t>
            </a:r>
            <a:br/>
            <a:r>
              <a:t>&amp; encode frames</a:t>
            </a:r>
            <a:br/>
            <a:r>
              <a:t>with bounding</a:t>
            </a:r>
            <a:br/>
            <a:r>
              <a:t>boxes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E5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59" y="1828800"/>
            <a:ext cx="2011680" cy="25603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52359" y="1828800"/>
            <a:ext cx="2011680" cy="36576"/>
          </a:xfrm>
          <a:prstGeom prst="rect">
            <a:avLst/>
          </a:prstGeom>
          <a:solidFill>
            <a:srgbClr val="00E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19" y="20116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580"/>
                </a:solidFill>
                <a:latin typeface="Calibri"/>
              </a:defRPr>
            </a:pPr>
            <a:r>
              <a:t>Output</a:t>
            </a:r>
            <a:br/>
            <a:r>
              <a:t>Queue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79" y="2743200"/>
            <a:ext cx="1463040" cy="13716"/>
          </a:xfrm>
          <a:prstGeom prst="rect">
            <a:avLst/>
          </a:prstGeom>
          <a:solidFill>
            <a:srgbClr val="6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19" y="292608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Queues</a:t>
            </a:r>
            <a:br/>
            <a:r>
              <a:t>processed frames</a:t>
            </a:r>
            <a:br/>
            <a:r>
              <a:t>for broadcast</a:t>
            </a:r>
            <a:br/>
            <a:r>
              <a:t>to clients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599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E5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1828800"/>
            <a:ext cx="2011680" cy="25603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84080" y="1828800"/>
            <a:ext cx="201168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21240" y="20116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8C00"/>
                </a:solidFill>
                <a:latin typeface="Calibri"/>
              </a:defRPr>
            </a:pPr>
            <a:r>
              <a:t>WebSocket</a:t>
            </a:r>
            <a:br/>
            <a:r>
              <a:t>Broadcaster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0" y="2743200"/>
            <a:ext cx="1463040" cy="13716"/>
          </a:xfrm>
          <a:prstGeom prst="rect">
            <a:avLst/>
          </a:prstGeom>
          <a:solidFill>
            <a:srgbClr val="6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21240" y="292608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Streams video &amp;</a:t>
            </a:r>
            <a:br/>
            <a:r>
              <a:t>detections to</a:t>
            </a:r>
            <a:br/>
            <a:r>
              <a:t>all connected</a:t>
            </a:r>
            <a:br/>
            <a:r>
              <a:t>mobile clients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846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Calibri"/>
              </a:defRPr>
            </a:pPr>
            <a:r>
              <a:t>/ws/video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120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80"/>
                </a:solidFill>
                <a:latin typeface="Calibri"/>
              </a:defRPr>
            </a:pPr>
            <a:r>
              <a:t>Binary (JPEG)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394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Processed video frames at ~15-30 FPS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846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Calibri"/>
              </a:defRPr>
            </a:pPr>
            <a:r>
              <a:t>/ws/detections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5120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80"/>
                </a:solidFill>
                <a:latin typeface="Calibri"/>
              </a:defRPr>
            </a:pPr>
            <a:r>
              <a:t>JSON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394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AI detection results: bounding boxes, confidence, thermal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846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Calibri"/>
              </a:defRPr>
            </a:pPr>
            <a:r>
              <a:t>/ws/commands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120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80"/>
                </a:solidFill>
                <a:latin typeface="Calibri"/>
              </a:defRPr>
            </a:pPr>
            <a:r>
              <a:t>JSON (bidirectional)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5394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Drone control commands: move, mission, land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80"/>
                </a:solidFill>
                <a:latin typeface="Calibri"/>
              </a:defRPr>
            </a:pPr>
            <a:r>
              <a:t>7/24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" cy="6400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AI Detection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06080"/>
                </a:solidFill>
                <a:latin typeface="Calibri"/>
              </a:defRPr>
            </a:pPr>
            <a:r>
              <a:t>YOLO-Based Human Detection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Detection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1.  Frame Capture — Extract frame from video stream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2.  Preprocessing — Resize to 640×640, normalize pixels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3.  YOLO Inference — Forward pass through CNN model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4.  Post-processing — NMS filtering, confidence thresholding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5.  Bounding Boxes — Draw detections with labels &amp; scores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6.  Encoding — JPEG encode for WebSocket transmission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0292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Calibri"/>
              </a:defRPr>
            </a:pPr>
            <a:r>
              <a:t>Detection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4688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Real-time inference at ~15-30 FPS</a:t>
            </a:r>
          </a:p>
          <a:p>
            <a:pPr>
              <a:spcAft>
                <a:spcPts val="6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Confidence score for each detection</a:t>
            </a:r>
          </a:p>
          <a:p>
            <a:pPr>
              <a:spcAft>
                <a:spcPts val="6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Thermal mode simulation via color filters</a:t>
            </a:r>
          </a:p>
          <a:p>
            <a:pPr>
              <a:spcAft>
                <a:spcPts val="6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HUD overlay with bounding boxes &amp; labels</a:t>
            </a:r>
          </a:p>
          <a:p>
            <a:pPr>
              <a:spcAft>
                <a:spcPts val="6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Human count tracking per frame</a:t>
            </a:r>
          </a:p>
          <a:p>
            <a:pPr>
              <a:spcAft>
                <a:spcPts val="6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Auto-generated incident reports on detection</a:t>
            </a:r>
          </a:p>
          <a:p>
            <a:pPr>
              <a:spcAft>
                <a:spcPts val="6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Fallback dummy detector for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80"/>
                </a:solidFill>
                <a:latin typeface="Calibri"/>
              </a:defRPr>
            </a:pPr>
            <a:r>
              <a:t>8/24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" cy="6400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Mobile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06080"/>
                </a:solidFill>
                <a:latin typeface="Calibri"/>
              </a:defRPr>
            </a:pPr>
            <a:r>
              <a:t>Flutter Ground Control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291840" cy="2011680"/>
          </a:xfrm>
          <a:prstGeom prst="rect">
            <a:avLst/>
          </a:prstGeom>
          <a:solidFill>
            <a:srgbClr val="16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29184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011680"/>
            <a:ext cx="548640" cy="5486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0D1A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737360" y="1965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Live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3317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Real-time MJPEG</a:t>
            </a:r>
            <a:br/>
            <a:r>
              <a:t>streaming with</a:t>
            </a:r>
            <a:br/>
            <a:r>
              <a:t>Normal, Thermal &amp;</a:t>
            </a:r>
            <a:br/>
            <a:r>
              <a:t>AI Overlay modes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3291840" cy="2011680"/>
          </a:xfrm>
          <a:prstGeom prst="rect">
            <a:avLst/>
          </a:prstGeom>
          <a:solidFill>
            <a:srgbClr val="16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329184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3440" y="2011680"/>
            <a:ext cx="548640" cy="54864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0D1A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394960" y="1965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GPS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3317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OpenStreetMap with</a:t>
            </a:r>
            <a:br/>
            <a:r>
              <a:t>drone position,</a:t>
            </a:r>
            <a:br/>
            <a:r>
              <a:t>path history &amp;</a:t>
            </a:r>
            <a:br/>
            <a:r>
              <a:t>user location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737360"/>
            <a:ext cx="3291840" cy="2011680"/>
          </a:xfrm>
          <a:prstGeom prst="rect">
            <a:avLst/>
          </a:prstGeom>
          <a:solidFill>
            <a:srgbClr val="16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737360"/>
            <a:ext cx="329184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40" y="20116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0D1A"/>
                </a:solidFill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9052560" y="1965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Telemetry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3317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Circular indicators</a:t>
            </a:r>
            <a:br/>
            <a:r>
              <a:t>for battery, altitude,</a:t>
            </a:r>
            <a:br/>
            <a:r>
              <a:t>speed, temperature</a:t>
            </a:r>
            <a:br/>
            <a:r>
              <a:t>&amp; human count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114800"/>
            <a:ext cx="3291840" cy="2011680"/>
          </a:xfrm>
          <a:prstGeom prst="rect">
            <a:avLst/>
          </a:prstGeom>
          <a:solidFill>
            <a:srgbClr val="16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114800"/>
            <a:ext cx="3291840" cy="36576"/>
          </a:xfrm>
          <a:prstGeom prst="rect">
            <a:avLst/>
          </a:prstGeom>
          <a:solidFill>
            <a:srgbClr val="00E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" y="4389120"/>
            <a:ext cx="548640" cy="548640"/>
          </a:xfrm>
          <a:prstGeom prst="ellipse">
            <a:avLst/>
          </a:prstGeom>
          <a:solidFill>
            <a:srgbClr val="00E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0D1A"/>
                </a:solidFill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1737360" y="4343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Drone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7091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Full-screen virtual</a:t>
            </a:r>
            <a:br/>
            <a:r>
              <a:t>joystick for movement,</a:t>
            </a:r>
            <a:br/>
            <a:r>
              <a:t>mission start/stop</a:t>
            </a:r>
            <a:br/>
            <a:r>
              <a:t>&amp; landing commands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4114800"/>
            <a:ext cx="3291840" cy="2011680"/>
          </a:xfrm>
          <a:prstGeom prst="rect">
            <a:avLst/>
          </a:prstGeom>
          <a:solidFill>
            <a:srgbClr val="16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4114800"/>
            <a:ext cx="329184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3440" y="4389120"/>
            <a:ext cx="548640" cy="5486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0D1A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5394960" y="4343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47091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Real-time incident</a:t>
            </a:r>
            <a:br/>
            <a:r>
              <a:t>reports: human</a:t>
            </a:r>
            <a:br/>
            <a:r>
              <a:t>detected, overheat,</a:t>
            </a:r>
            <a:br/>
            <a:r>
              <a:t>mission complete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4114800"/>
            <a:ext cx="3291840" cy="2011680"/>
          </a:xfrm>
          <a:prstGeom prst="rect">
            <a:avLst/>
          </a:prstGeom>
          <a:solidFill>
            <a:srgbClr val="16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4114800"/>
            <a:ext cx="3291840" cy="36576"/>
          </a:xfrm>
          <a:prstGeom prst="rect">
            <a:avLst/>
          </a:prstGeom>
          <a:solidFill>
            <a:srgbClr val="F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0" y="4389120"/>
            <a:ext cx="548640" cy="548640"/>
          </a:xfrm>
          <a:prstGeom prst="ellipse">
            <a:avLst/>
          </a:prstGeom>
          <a:solidFill>
            <a:srgbClr val="F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0D1A"/>
                </a:solidFill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9052560" y="4343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47091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Email/Password,</a:t>
            </a:r>
            <a:br/>
            <a:r>
              <a:t>Google OAuth &amp;</a:t>
            </a:r>
            <a:br/>
            <a:r>
              <a:t>OTP verification</a:t>
            </a:r>
            <a:br/>
            <a:r>
              <a:t>with Firebase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80"/>
                </a:solidFill>
                <a:latin typeface="Calibri"/>
              </a:defRPr>
            </a:pPr>
            <a:r>
              <a:t>9/24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" cy="6400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Authentication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06080"/>
                </a:solidFill>
                <a:latin typeface="Calibri"/>
              </a:defRPr>
            </a:pPr>
            <a:r>
              <a:t>Secure User Access with Firebase Auth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Authentication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B0B0C0"/>
                </a:solidFill>
                <a:latin typeface="Calibri"/>
              </a:defRPr>
            </a:pPr>
            <a:r>
              <a:t>📧  Email &amp; Password Registration / Login</a:t>
            </a:r>
          </a:p>
          <a:p>
            <a:pPr>
              <a:spcAft>
                <a:spcPts val="200"/>
              </a:spcAft>
              <a:defRPr sz="1300">
                <a:solidFill>
                  <a:srgbClr val="B0B0C0"/>
                </a:solidFill>
                <a:latin typeface="Calibri"/>
              </a:defRPr>
            </a:pPr>
            <a:r>
              <a:t>    — Secure hashed credentials via Firebase Auth</a:t>
            </a:r>
          </a:p>
          <a:p>
            <a:pPr>
              <a:spcAft>
                <a:spcPts val="200"/>
              </a:spcAft>
              <a:defRPr sz="1300">
                <a:solidFill>
                  <a:srgbClr val="B0B0C0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B0B0C0"/>
                </a:solidFill>
                <a:latin typeface="Calibri"/>
              </a:defRPr>
            </a:pPr>
            <a:r>
              <a:t>🌐  Google OAuth Integration</a:t>
            </a:r>
          </a:p>
          <a:p>
            <a:pPr>
              <a:spcAft>
                <a:spcPts val="200"/>
              </a:spcAft>
              <a:defRPr sz="1300">
                <a:solidFill>
                  <a:srgbClr val="B0B0C0"/>
                </a:solidFill>
                <a:latin typeface="Calibri"/>
              </a:defRPr>
            </a:pPr>
            <a:r>
              <a:t>    — One-tap sign-in with existing Google account</a:t>
            </a:r>
          </a:p>
          <a:p>
            <a:pPr>
              <a:spcAft>
                <a:spcPts val="200"/>
              </a:spcAft>
              <a:defRPr sz="1300">
                <a:solidFill>
                  <a:srgbClr val="B0B0C0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B0B0C0"/>
                </a:solidFill>
                <a:latin typeface="Calibri"/>
              </a:defRPr>
            </a:pPr>
            <a:r>
              <a:t>🍎  Apple Sign-In (Placeholder)</a:t>
            </a:r>
          </a:p>
          <a:p>
            <a:pPr>
              <a:spcAft>
                <a:spcPts val="200"/>
              </a:spcAft>
              <a:defRPr sz="1300">
                <a:solidFill>
                  <a:srgbClr val="B0B0C0"/>
                </a:solidFill>
                <a:latin typeface="Calibri"/>
              </a:defRPr>
            </a:pPr>
            <a:r>
              <a:t>    — Cross-platform support for iOS users</a:t>
            </a:r>
          </a:p>
          <a:p>
            <a:pPr>
              <a:spcAft>
                <a:spcPts val="200"/>
              </a:spcAft>
              <a:defRPr sz="1300">
                <a:solidFill>
                  <a:srgbClr val="B0B0C0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B0B0C0"/>
                </a:solidFill>
                <a:latin typeface="Calibri"/>
              </a:defRPr>
            </a:pPr>
            <a:r>
              <a:t>🔑  OTP Verification</a:t>
            </a:r>
          </a:p>
          <a:p>
            <a:pPr>
              <a:spcAft>
                <a:spcPts val="200"/>
              </a:spcAft>
              <a:defRPr sz="1300">
                <a:solidFill>
                  <a:srgbClr val="B0B0C0"/>
                </a:solidFill>
                <a:latin typeface="Calibri"/>
              </a:defRPr>
            </a:pPr>
            <a:r>
              <a:t>    — 4-digit code sent to email for verification</a:t>
            </a:r>
          </a:p>
          <a:p>
            <a:pPr>
              <a:spcAft>
                <a:spcPts val="200"/>
              </a:spcAft>
              <a:defRPr sz="1300">
                <a:solidFill>
                  <a:srgbClr val="B0B0C0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B0B0C0"/>
                </a:solidFill>
                <a:latin typeface="Calibri"/>
              </a:defRPr>
            </a:pPr>
            <a:r>
              <a:t>🔄  Password Reset Flow</a:t>
            </a:r>
          </a:p>
          <a:p>
            <a:pPr>
              <a:spcAft>
                <a:spcPts val="200"/>
              </a:spcAft>
              <a:defRPr sz="1300">
                <a:solidFill>
                  <a:srgbClr val="B0B0C0"/>
                </a:solidFill>
                <a:latin typeface="Calibri"/>
              </a:defRPr>
            </a:pPr>
            <a:r>
              <a:t>    — Forgot password → Email link → New password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737360"/>
            <a:ext cx="4846320" cy="45720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737360"/>
            <a:ext cx="484632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011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Screens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56032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  <a:latin typeface="Calibri"/>
              </a:defRPr>
            </a:pPr>
            <a:r>
              <a:t>→ Splash Screen (auto-auth check)</a:t>
            </a:r>
          </a:p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  <a:latin typeface="Calibri"/>
              </a:defRPr>
            </a:pPr>
            <a:r>
              <a:t>→ Onboarding (4-page carousel)</a:t>
            </a:r>
          </a:p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  <a:latin typeface="Calibri"/>
              </a:defRPr>
            </a:pPr>
            <a:r>
              <a:t>→ Sign Up / Sign In</a:t>
            </a:r>
          </a:p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  <a:latin typeface="Calibri"/>
              </a:defRPr>
            </a:pPr>
            <a:r>
              <a:t>→ OTP Verification</a:t>
            </a:r>
          </a:p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  <a:latin typeface="Calibri"/>
              </a:defRPr>
            </a:pPr>
            <a:r>
              <a:t>→ Forgot / New Password</a:t>
            </a:r>
          </a:p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  <a:latin typeface="Calibri"/>
              </a:defRPr>
            </a:pPr>
            <a:r>
              <a:t>→ Home (Drone Dashboard)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5029200"/>
            <a:ext cx="4846320" cy="18288"/>
          </a:xfrm>
          <a:prstGeom prst="rect">
            <a:avLst/>
          </a:prstGeom>
          <a:solidFill>
            <a:srgbClr val="6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521208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80"/>
                </a:solidFill>
                <a:latin typeface="Calibri"/>
              </a:defRPr>
            </a:pPr>
            <a:r>
              <a:t>Backend: Firebase Authentication + Cloud Firestore</a:t>
            </a:r>
            <a:br/>
            <a:r>
              <a:t>State: AuthCubit (BLoC pattern) with sealed states</a:t>
            </a:r>
            <a:br/>
            <a:r>
              <a:t>DI: GetIt service locator for auth 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80"/>
                </a:solidFill>
                <a:latin typeface="Calibri"/>
              </a:defRPr>
            </a:pPr>
            <a:r>
              <a:t>10/24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" cy="6400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Onboarding &amp; Splash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06080"/>
                </a:solidFill>
                <a:latin typeface="Calibri"/>
              </a:defRPr>
            </a:pPr>
            <a:r>
              <a:t>First-Time User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22860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6576" cy="2286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Animated Splash 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• Phoenix logo animation with fade-in + scale</a:t>
            </a:r>
            <a:br/>
            <a:r>
              <a:t>• SVG-based logo rendering</a:t>
            </a:r>
            <a:br/>
            <a:r>
              <a:t>• Automatic auth check on startup</a:t>
            </a:r>
            <a:br/>
            <a:r>
              <a:t>• Routes to Onboarding or Home accordingly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06240"/>
            <a:ext cx="5029200" cy="22860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206240"/>
            <a:ext cx="36576" cy="22860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2976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4-Page Onboarding Carousel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6344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• Page 1: Saving Lives — Mission statement</a:t>
            </a:r>
            <a:br/>
            <a:r>
              <a:t>• Page 2: Thermal Scanning — AI detection</a:t>
            </a:r>
            <a:br/>
            <a:r>
              <a:t>• Page 3: Stay Connected — Real-time data</a:t>
            </a:r>
            <a:br/>
            <a:r>
              <a:t>• Page 4: Every Second Counts — Call to action</a:t>
            </a:r>
            <a:br/>
            <a:r>
              <a:t>• Interactive PageView with dot indicators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645920"/>
            <a:ext cx="5029200" cy="18288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645920"/>
            <a:ext cx="50292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Implementation Details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1945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• BlocSelector for efficient rebuilds</a:t>
            </a:r>
            <a:br/>
            <a:r>
              <a:t>• Skip/Next/Start buttons with state management</a:t>
            </a:r>
            <a:br/>
            <a:r>
              <a:t>• SVG assets stored as embedded base64</a:t>
            </a:r>
            <a:br/>
            <a:r>
              <a:t>• Page snap physics for natural feel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840480"/>
            <a:ext cx="5029200" cy="26517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840480"/>
            <a:ext cx="5029200" cy="36576"/>
          </a:xfrm>
          <a:prstGeom prst="rect">
            <a:avLst/>
          </a:prstGeom>
          <a:solidFill>
            <a:srgbClr val="00E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3891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  <a:latin typeface="Calibri"/>
              </a:defRPr>
            </a:pPr>
            <a:r>
              <a:t>• Total screens: 10 (auth + onboarding + drone)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  <a:latin typeface="Calibri"/>
              </a:defRPr>
            </a:pPr>
            <a:r>
              <a:t>• Routing: GoRouter with declarative config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  <a:latin typeface="Calibri"/>
              </a:defRPr>
            </a:pPr>
            <a:r>
              <a:t>• State management: BLoC/Cubit pattern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  <a:latin typeface="Calibri"/>
              </a:defRPr>
            </a:pPr>
            <a:r>
              <a:t>• Screen adaptation: flutter_screenutil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  <a:latin typeface="Calibri"/>
              </a:defRPr>
            </a:pPr>
            <a:r>
              <a:t>• Theme: Professional dark-first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80"/>
                </a:solidFill>
                <a:latin typeface="Calibri"/>
              </a:defRPr>
            </a:pPr>
            <a:r>
              <a:t>11/24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" cy="6400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Live Video Streaming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06080"/>
                </a:solidFill>
                <a:latin typeface="Calibri"/>
              </a:defRPr>
            </a:pPr>
            <a:r>
              <a:t>MJPEG over WebSocket with Multi-Mode Display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Video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1828800" cy="8229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18288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Drone</a:t>
            </a:r>
            <a:br/>
            <a:r>
              <a:t>Camera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E5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94560"/>
            <a:ext cx="1828800" cy="8229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17520" y="2194560"/>
            <a:ext cx="18288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22860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TCP</a:t>
            </a:r>
            <a:br/>
            <a:r>
              <a:t>Socket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E5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2194560"/>
            <a:ext cx="1828800" cy="8229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03520" y="2194560"/>
            <a:ext cx="18288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22860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FastAPI</a:t>
            </a:r>
            <a:br/>
            <a:r>
              <a:t>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E5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2194560"/>
            <a:ext cx="1828800" cy="8229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0" y="2194560"/>
            <a:ext cx="18288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22860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WebSocket</a:t>
            </a:r>
            <a:br/>
            <a:r>
              <a:t>Broadcast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E5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0" y="2194560"/>
            <a:ext cx="1828800" cy="8229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75520" y="2194560"/>
            <a:ext cx="18288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0" y="22860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Flutter</a:t>
            </a:r>
            <a:br/>
            <a:r>
              <a:t>App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474720"/>
            <a:ext cx="3474720" cy="22860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3474720"/>
            <a:ext cx="347472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657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Calibri"/>
              </a:defRPr>
            </a:pPr>
            <a:r>
              <a:t>NORMAL 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1148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Standard RGB video</a:t>
            </a:r>
            <a:br/>
            <a:r>
              <a:t>feed from drone</a:t>
            </a:r>
            <a:br/>
            <a:r>
              <a:t>camera with no</a:t>
            </a:r>
            <a:br/>
            <a:r>
              <a:t>image processing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3474720"/>
            <a:ext cx="3474720" cy="22860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0" y="3474720"/>
            <a:ext cx="347472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0" y="3657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THERMAL MODE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41148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Simulated thermal</a:t>
            </a:r>
            <a:br/>
            <a:r>
              <a:t>imagery using 5×5</a:t>
            </a:r>
            <a:br/>
            <a:r>
              <a:t>color filter matrix</a:t>
            </a:r>
            <a:br/>
            <a:r>
              <a:t>for heat mapping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3474720"/>
            <a:ext cx="3474720" cy="22860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12480" y="3474720"/>
            <a:ext cx="3474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3657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AI OVERLAY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41148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YOLO detection</a:t>
            </a:r>
            <a:br/>
            <a:r>
              <a:t>bounding boxes +</a:t>
            </a:r>
            <a:br/>
            <a:r>
              <a:t>confidence scores</a:t>
            </a:r>
            <a:br/>
            <a:r>
              <a:t>overlaid on video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6035040"/>
            <a:ext cx="10698480" cy="18288"/>
          </a:xfrm>
          <a:prstGeom prst="rect">
            <a:avLst/>
          </a:prstGeom>
          <a:solidFill>
            <a:srgbClr val="6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80"/>
                </a:solidFill>
                <a:latin typeface="Calibri"/>
              </a:defRPr>
            </a:pPr>
            <a:r>
              <a:t>WebSocket Client: 3 concurrent channels (video/detection/command)  |  DroneWsBridge converts raw streams to domain events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80"/>
                </a:solidFill>
                <a:latin typeface="Calibri"/>
              </a:defRPr>
            </a:pPr>
            <a:r>
              <a:t>12/24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" cy="6400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AI Overlay &amp; HUD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06080"/>
                </a:solidFill>
                <a:latin typeface="Calibri"/>
              </a:defRPr>
            </a:pPr>
            <a:r>
              <a:t>Real-Time Detection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On-Screen Overlay Elements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Bounding Boxes — Colored rectangles around detected persons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Confidence Scores — Percentage label above each box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Human Count — Live counter in top corner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Grid Pattern — Custom GridPainter overlay for spatial reference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Gradient Overlay — Transparent gradient for readability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Status Bar — Connection status + telemetry strip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645920"/>
            <a:ext cx="4572000" cy="45720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645920"/>
            <a:ext cx="4572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Calibri"/>
              </a:defRPr>
            </a:pPr>
            <a:r>
              <a:t>AI Overlay Technical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37744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B0B0C0"/>
                </a:solidFill>
                <a:latin typeface="Calibri"/>
              </a:defRPr>
            </a:pPr>
            <a:r>
              <a:t>Detection Data (JSON from WebSocket):</a:t>
            </a:r>
          </a:p>
          <a:p>
            <a:pPr>
              <a:spcAft>
                <a:spcPts val="200"/>
              </a:spcAft>
              <a:defRPr sz="1000">
                <a:solidFill>
                  <a:srgbClr val="B0B0C0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B0B0C0"/>
                </a:solidFill>
                <a:latin typeface="Calibri"/>
              </a:defRPr>
            </a:pPr>
            <a:r>
              <a:t>  {</a:t>
            </a:r>
          </a:p>
          <a:p>
            <a:pPr>
              <a:spcAft>
                <a:spcPts val="200"/>
              </a:spcAft>
              <a:defRPr sz="1000">
                <a:solidFill>
                  <a:srgbClr val="B0B0C0"/>
                </a:solidFill>
                <a:latin typeface="Calibri"/>
              </a:defRPr>
            </a:pPr>
            <a:r>
              <a:t>    "detections": [</a:t>
            </a:r>
          </a:p>
          <a:p>
            <a:pPr>
              <a:spcAft>
                <a:spcPts val="200"/>
              </a:spcAft>
              <a:defRPr sz="1000">
                <a:solidFill>
                  <a:srgbClr val="B0B0C0"/>
                </a:solidFill>
                <a:latin typeface="Calibri"/>
              </a:defRPr>
            </a:pPr>
            <a:r>
              <a:t>      {</a:t>
            </a:r>
          </a:p>
          <a:p>
            <a:pPr>
              <a:spcAft>
                <a:spcPts val="200"/>
              </a:spcAft>
              <a:defRPr sz="1000">
                <a:solidFill>
                  <a:srgbClr val="B0B0C0"/>
                </a:solidFill>
                <a:latin typeface="Calibri"/>
              </a:defRPr>
            </a:pPr>
            <a:r>
              <a:t>        "label": "person",</a:t>
            </a:r>
          </a:p>
          <a:p>
            <a:pPr>
              <a:spcAft>
                <a:spcPts val="200"/>
              </a:spcAft>
              <a:defRPr sz="1000">
                <a:solidFill>
                  <a:srgbClr val="B0B0C0"/>
                </a:solidFill>
                <a:latin typeface="Calibri"/>
              </a:defRPr>
            </a:pPr>
            <a:r>
              <a:t>        "confidence": 0.92,</a:t>
            </a:r>
          </a:p>
          <a:p>
            <a:pPr>
              <a:spcAft>
                <a:spcPts val="200"/>
              </a:spcAft>
              <a:defRPr sz="1000">
                <a:solidFill>
                  <a:srgbClr val="B0B0C0"/>
                </a:solidFill>
                <a:latin typeface="Calibri"/>
              </a:defRPr>
            </a:pPr>
            <a:r>
              <a:t>        "x": 0.45, "y": 0.32,</a:t>
            </a:r>
          </a:p>
          <a:p>
            <a:pPr>
              <a:spcAft>
                <a:spcPts val="200"/>
              </a:spcAft>
              <a:defRPr sz="1000">
                <a:solidFill>
                  <a:srgbClr val="B0B0C0"/>
                </a:solidFill>
                <a:latin typeface="Calibri"/>
              </a:defRPr>
            </a:pPr>
            <a:r>
              <a:t>        "w": 0.12, "h": 0.28</a:t>
            </a:r>
          </a:p>
          <a:p>
            <a:pPr>
              <a:spcAft>
                <a:spcPts val="200"/>
              </a:spcAft>
              <a:defRPr sz="1000">
                <a:solidFill>
                  <a:srgbClr val="B0B0C0"/>
                </a:solidFill>
                <a:latin typeface="Calibri"/>
              </a:defRPr>
            </a:pPr>
            <a:r>
              <a:t>      }</a:t>
            </a:r>
          </a:p>
          <a:p>
            <a:pPr>
              <a:spcAft>
                <a:spcPts val="200"/>
              </a:spcAft>
              <a:defRPr sz="1000">
                <a:solidFill>
                  <a:srgbClr val="B0B0C0"/>
                </a:solidFill>
                <a:latin typeface="Calibri"/>
              </a:defRPr>
            </a:pPr>
            <a:r>
              <a:t>    ],</a:t>
            </a:r>
          </a:p>
          <a:p>
            <a:pPr>
              <a:spcAft>
                <a:spcPts val="200"/>
              </a:spcAft>
              <a:defRPr sz="1000">
                <a:solidFill>
                  <a:srgbClr val="B0B0C0"/>
                </a:solidFill>
                <a:latin typeface="Calibri"/>
              </a:defRPr>
            </a:pPr>
            <a:r>
              <a:t>    "human_count": 3</a:t>
            </a:r>
          </a:p>
          <a:p>
            <a:pPr>
              <a:spcAft>
                <a:spcPts val="200"/>
              </a:spcAft>
              <a:defRPr sz="1000">
                <a:solidFill>
                  <a:srgbClr val="B0B0C0"/>
                </a:solidFill>
                <a:latin typeface="Calibri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000">
                <a:solidFill>
                  <a:srgbClr val="B0B0C0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B0B0C0"/>
                </a:solidFill>
                <a:latin typeface="Calibri"/>
              </a:defRPr>
            </a:pPr>
            <a:r>
              <a:t>Rendering: Custom AiDetectionOverlay widget</a:t>
            </a:r>
          </a:p>
          <a:p>
            <a:pPr>
              <a:spcAft>
                <a:spcPts val="200"/>
              </a:spcAft>
              <a:defRPr sz="1000">
                <a:solidFill>
                  <a:srgbClr val="B0B0C0"/>
                </a:solidFill>
                <a:latin typeface="Calibri"/>
              </a:defRPr>
            </a:pPr>
            <a:r>
              <a:t>with CustomPainter for bounding boxes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80"/>
                </a:solidFill>
                <a:latin typeface="Calibri"/>
              </a:defRPr>
            </a:pPr>
            <a:r>
              <a:t>13/24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" cy="6400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GPS Tracking &amp;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06080"/>
                </a:solidFill>
                <a:latin typeface="Calibri"/>
              </a:defRPr>
            </a:pPr>
            <a:r>
              <a:t>Real-Time Drone Position on OpenStreetMap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Map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OpenStreetMap Integration via flutter_map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Real-time drone marker with red pin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User location marker with blue dot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Path history — polyline track of drone movement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Auto-follow: camera centers on drone position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Responsive tile loading with caching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645920"/>
            <a:ext cx="4846320" cy="21031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645920"/>
            <a:ext cx="484632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8288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9456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GPS Coordinates published to Firestore:</a:t>
            </a:r>
            <a:br/>
            <a:r>
              <a:t>  drone/location → {lat, lng, timestamp}</a:t>
            </a:r>
            <a:br/>
            <a:br/>
            <a:r>
              <a:t>DroneTrackingCubit subscribes to real-time</a:t>
            </a:r>
            <a:br/>
            <a:r>
              <a:t>Firestore stream with 10s disconnect timer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4023360"/>
            <a:ext cx="4846320" cy="21945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4023360"/>
            <a:ext cx="4846320" cy="36576"/>
          </a:xfrm>
          <a:prstGeom prst="rect">
            <a:avLst/>
          </a:prstGeom>
          <a:solidFill>
            <a:srgbClr val="00E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42062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Map Screen Components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57200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  <a:latin typeface="Calibri"/>
              </a:defRPr>
            </a:pPr>
            <a:r>
              <a:t>• MapScreenHeader — Greeting + connection status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  <a:latin typeface="Calibri"/>
              </a:defRPr>
            </a:pPr>
            <a:r>
              <a:t>• DroneMapView — Map controller + state handling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  <a:latin typeface="Calibri"/>
              </a:defRPr>
            </a:pPr>
            <a:r>
              <a:t>• DroneMapStatusBar — Battery/Temp/Signal row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  <a:latin typeface="Calibri"/>
              </a:defRPr>
            </a:pPr>
            <a:r>
              <a:t>• MissionStatusCard — Pre-completed missions count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  <a:latin typeface="Calibri"/>
              </a:defRPr>
            </a:pPr>
            <a:r>
              <a:t>• StartMissionButton — Gradient action button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80"/>
                </a:solidFill>
                <a:latin typeface="Calibri"/>
              </a:defRPr>
            </a:pPr>
            <a:r>
              <a:t>14/24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" cy="6400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Telemetry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06080"/>
                </a:solidFill>
                <a:latin typeface="Calibri"/>
              </a:defRPr>
            </a:pPr>
            <a:r>
              <a:t>Real-Time Drone Health &amp; Status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2103120" cy="25603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210312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011680"/>
            <a:ext cx="914400" cy="9144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" y="2103120"/>
            <a:ext cx="731520" cy="731520"/>
          </a:xfrm>
          <a:prstGeom prst="ellipse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5FF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BATTERY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74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0C0"/>
                </a:solidFill>
                <a:latin typeface="Calibri"/>
              </a:defRPr>
            </a:pPr>
            <a:r>
              <a:t>Remaining</a:t>
            </a:r>
            <a:br/>
            <a:r>
              <a:t>power level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1737360"/>
            <a:ext cx="2103120" cy="25603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1737360"/>
            <a:ext cx="210312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383280" y="2011680"/>
            <a:ext cx="914400" cy="91440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74720" y="2103120"/>
            <a:ext cx="731520" cy="731520"/>
          </a:xfrm>
          <a:prstGeom prst="ellipse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2194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108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HUMANS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474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0C0"/>
                </a:solidFill>
                <a:latin typeface="Calibri"/>
              </a:defRPr>
            </a:pPr>
            <a:r>
              <a:t>Detected</a:t>
            </a:r>
            <a:br/>
            <a:r>
              <a:t>persons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1737360"/>
            <a:ext cx="2103120" cy="25603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1737360"/>
            <a:ext cx="21031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5000" y="2011680"/>
            <a:ext cx="914400" cy="914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06440" y="2103120"/>
            <a:ext cx="731520" cy="731520"/>
          </a:xfrm>
          <a:prstGeom prst="ellipse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2194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C3AED"/>
                </a:solidFill>
                <a:latin typeface="Calibri"/>
              </a:defRPr>
            </a:pPr>
            <a:r>
              <a:t>42m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108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ALTITUDE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474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0C0"/>
                </a:solidFill>
                <a:latin typeface="Calibri"/>
              </a:defRPr>
            </a:pPr>
            <a:r>
              <a:t>Height above</a:t>
            </a:r>
            <a:br/>
            <a:r>
              <a:t>ground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52359" y="1737360"/>
            <a:ext cx="2103120" cy="25603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59" y="1737360"/>
            <a:ext cx="2103120" cy="36576"/>
          </a:xfrm>
          <a:prstGeom prst="rect">
            <a:avLst/>
          </a:prstGeom>
          <a:solidFill>
            <a:srgbClr val="00E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46719" y="2011680"/>
            <a:ext cx="914400" cy="914400"/>
          </a:xfrm>
          <a:prstGeom prst="ellipse">
            <a:avLst/>
          </a:prstGeom>
          <a:solidFill>
            <a:srgbClr val="00E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38159" y="2103120"/>
            <a:ext cx="731520" cy="731520"/>
          </a:xfrm>
          <a:prstGeom prst="ellipse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799" y="2194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580"/>
                </a:solidFill>
                <a:latin typeface="Calibri"/>
              </a:defRPr>
            </a:pPr>
            <a:r>
              <a:t>8.5 m/s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799" y="3108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799" y="3474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0C0"/>
                </a:solidFill>
                <a:latin typeface="Calibri"/>
              </a:defRPr>
            </a:pPr>
            <a:r>
              <a:t>Current</a:t>
            </a:r>
            <a:br/>
            <a:r>
              <a:t>travel speed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84080" y="1737360"/>
            <a:ext cx="2103120" cy="25603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84080" y="1737360"/>
            <a:ext cx="210312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378440" y="2011680"/>
            <a:ext cx="914400" cy="9144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69880" y="2103120"/>
            <a:ext cx="731520" cy="731520"/>
          </a:xfrm>
          <a:prstGeom prst="ellipse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0" y="2194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00"/>
                </a:solidFill>
                <a:latin typeface="Calibri"/>
              </a:defRPr>
            </a:pPr>
            <a:r>
              <a:t>38°C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3108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TEMP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3474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0C0"/>
                </a:solidFill>
                <a:latin typeface="Calibri"/>
              </a:defRPr>
            </a:pPr>
            <a:r>
              <a:t>System</a:t>
            </a:r>
            <a:br/>
            <a:r>
              <a:t>temperature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754880"/>
            <a:ext cx="11247120" cy="18288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4754880"/>
            <a:ext cx="1124712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937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Connection Status &amp; Reports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3035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• ConnectionStatusBar — Green/Red dot indicator</a:t>
            </a:r>
            <a:br/>
            <a:r>
              <a:t>• DroneStatusCard — Summary card with circular indicators + mini map</a:t>
            </a:r>
            <a:br/>
            <a:r>
              <a:t>• ReportsSection — Real-time incident feed with timestamps</a:t>
            </a:r>
            <a:br/>
            <a:r>
              <a:t>• Report types: Human Detected, System Overheated, Mission Complete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53035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80"/>
                </a:solidFill>
                <a:latin typeface="Calibri"/>
              </a:defRPr>
            </a:pPr>
            <a:r>
              <a:t>Data Source:</a:t>
            </a:r>
            <a:br/>
            <a:r>
              <a:t>Firestore real-time stream from drone/status</a:t>
            </a:r>
            <a:br/>
            <a:r>
              <a:t>DroneStatusCubit manages telemetry state</a:t>
            </a:r>
            <a:br/>
            <a:r>
              <a:t>Automatic disconnection detection (10s timer)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80"/>
                </a:solidFill>
                <a:latin typeface="Calibri"/>
              </a:defRPr>
            </a:pPr>
            <a:r>
              <a:t>15/24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" cy="6400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Virtual Joystick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06080"/>
                </a:solidFill>
                <a:latin typeface="Calibri"/>
              </a:defRPr>
            </a:pPr>
            <a:r>
              <a:t>Touch-Based Drone Control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Joystick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Full-screen immersive touch interface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Custom JoystickPainter with gradient thumb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Directional indicators around the thumb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Normalized output (x, y) for drone commands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Tap-to-toggle visibility of controls overlay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Gesture-based pan with smooth tracking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645920"/>
            <a:ext cx="4846320" cy="45720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645920"/>
            <a:ext cx="4846320" cy="36576"/>
          </a:xfrm>
          <a:prstGeom prst="rect">
            <a:avLst/>
          </a:prstGeom>
          <a:solidFill>
            <a:srgbClr val="00E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920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Command Mapping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37744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0B0C0"/>
                </a:solidFill>
                <a:latin typeface="Calibri"/>
              </a:defRPr>
            </a:pPr>
            <a:r>
              <a:t>WebSocket Command Format:</a:t>
            </a:r>
          </a:p>
          <a:p>
            <a:pPr>
              <a:spcAft>
                <a:spcPts val="300"/>
              </a:spcAft>
              <a:defRPr sz="1200">
                <a:solidFill>
                  <a:srgbClr val="B0B0C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B0B0C0"/>
                </a:solidFill>
                <a:latin typeface="Calibri"/>
              </a:defRPr>
            </a:pPr>
            <a:r>
              <a:t>  {"cmd": "move", "data": {"x": 0.5, "y": -0.3}}</a:t>
            </a:r>
          </a:p>
          <a:p>
            <a:pPr>
              <a:spcAft>
                <a:spcPts val="300"/>
              </a:spcAft>
              <a:defRPr sz="1200">
                <a:solidFill>
                  <a:srgbClr val="B0B0C0"/>
                </a:solidFill>
                <a:latin typeface="Calibri"/>
              </a:defRPr>
            </a:pPr>
            <a:r>
              <a:t>  {"cmd": "start_mission", "data": {}}</a:t>
            </a:r>
          </a:p>
          <a:p>
            <a:pPr>
              <a:spcAft>
                <a:spcPts val="300"/>
              </a:spcAft>
              <a:defRPr sz="1200">
                <a:solidFill>
                  <a:srgbClr val="B0B0C0"/>
                </a:solidFill>
                <a:latin typeface="Calibri"/>
              </a:defRPr>
            </a:pPr>
            <a:r>
              <a:t>  {"cmd": "stop_mission", "data": {}}</a:t>
            </a:r>
          </a:p>
          <a:p>
            <a:pPr>
              <a:spcAft>
                <a:spcPts val="300"/>
              </a:spcAft>
              <a:defRPr sz="1200">
                <a:solidFill>
                  <a:srgbClr val="B0B0C0"/>
                </a:solidFill>
                <a:latin typeface="Calibri"/>
              </a:defRPr>
            </a:pPr>
            <a:r>
              <a:t>  {"cmd": "land", "data": {}}</a:t>
            </a:r>
          </a:p>
          <a:p>
            <a:pPr>
              <a:spcAft>
                <a:spcPts val="300"/>
              </a:spcAft>
              <a:defRPr sz="1200">
                <a:solidFill>
                  <a:srgbClr val="B0B0C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B0B0C0"/>
                </a:solidFill>
                <a:latin typeface="Calibri"/>
              </a:defRPr>
            </a:pPr>
            <a:r>
              <a:t>Commands written to:</a:t>
            </a:r>
          </a:p>
          <a:p>
            <a:pPr>
              <a:spcAft>
                <a:spcPts val="300"/>
              </a:spcAft>
              <a:defRPr sz="1200">
                <a:solidFill>
                  <a:srgbClr val="B0B0C0"/>
                </a:solidFill>
                <a:latin typeface="Calibri"/>
              </a:defRPr>
            </a:pPr>
            <a:r>
              <a:t>  Firestore → drone/commands </a:t>
            </a:r>
          </a:p>
          <a:p>
            <a:pPr>
              <a:spcAft>
                <a:spcPts val="300"/>
              </a:spcAft>
              <a:defRPr sz="1200">
                <a:solidFill>
                  <a:srgbClr val="B0B0C0"/>
                </a:solidFill>
                <a:latin typeface="Calibri"/>
              </a:defRPr>
            </a:pPr>
            <a:r>
              <a:t>  WebSocket → /ws/commands </a:t>
            </a:r>
          </a:p>
          <a:p>
            <a:pPr>
              <a:spcAft>
                <a:spcPts val="300"/>
              </a:spcAft>
              <a:defRPr sz="1200">
                <a:solidFill>
                  <a:srgbClr val="B0B0C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B0B0C0"/>
                </a:solidFill>
                <a:latin typeface="Calibri"/>
              </a:defRPr>
            </a:pPr>
            <a:r>
              <a:t>Dual-path ensures reliability:</a:t>
            </a:r>
          </a:p>
          <a:p>
            <a:pPr>
              <a:spcAft>
                <a:spcPts val="300"/>
              </a:spcAft>
              <a:defRPr sz="1200">
                <a:solidFill>
                  <a:srgbClr val="B0B0C0"/>
                </a:solidFill>
                <a:latin typeface="Calibri"/>
              </a:defRPr>
            </a:pPr>
            <a:r>
              <a:t>  • Firestore for persistent commands</a:t>
            </a:r>
          </a:p>
          <a:p>
            <a:pPr>
              <a:spcAft>
                <a:spcPts val="300"/>
              </a:spcAft>
              <a:defRPr sz="1200">
                <a:solidFill>
                  <a:srgbClr val="B0B0C0"/>
                </a:solidFill>
                <a:latin typeface="Calibri"/>
              </a:defRPr>
            </a:pPr>
            <a:r>
              <a:t>  • WebSocket for low-latency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80"/>
                </a:solidFill>
                <a:latin typeface="Calibri"/>
              </a:defRPr>
            </a:pPr>
            <a:r>
              <a:t>16/24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" cy="6400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Mission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06080"/>
                </a:solidFill>
                <a:latin typeface="Calibri"/>
              </a:defRPr>
            </a:pPr>
            <a:r>
              <a:t>End-to-End Rescue Mission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2103120" cy="27432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210312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34440" y="1965960"/>
            <a:ext cx="548640" cy="5486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D0D1A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5FF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Define mission</a:t>
            </a:r>
            <a:br/>
            <a:r>
              <a:t>parameters &amp;</a:t>
            </a:r>
            <a:br/>
            <a:r>
              <a:t>search area</a:t>
            </a:r>
            <a:br/>
            <a:r>
              <a:t>coordinates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60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1737360"/>
            <a:ext cx="2103120" cy="27432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8920" y="1737360"/>
            <a:ext cx="210312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66160" y="1965960"/>
            <a:ext cx="548640" cy="54864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D0D1A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651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FF"/>
                </a:solidFill>
                <a:latin typeface="Calibri"/>
              </a:defRPr>
            </a:pPr>
            <a:r>
              <a:t>DEPLOY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0175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Launch drone &amp;</a:t>
            </a:r>
            <a:br/>
            <a:r>
              <a:t>establish</a:t>
            </a:r>
            <a:br/>
            <a:r>
              <a:t>autonomous</a:t>
            </a:r>
            <a:br/>
            <a:r>
              <a:t>flight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60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1737360"/>
            <a:ext cx="2103120" cy="27432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1737360"/>
            <a:ext cx="21031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97880" y="19659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D0D1A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651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Calibri"/>
              </a:defRPr>
            </a:pPr>
            <a:r>
              <a:t>MONITOR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0175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Real-time video</a:t>
            </a:r>
            <a:br/>
            <a:r>
              <a:t>+ AI detection</a:t>
            </a:r>
            <a:br/>
            <a:r>
              <a:t>+ telemetry</a:t>
            </a:r>
            <a:br/>
            <a:r>
              <a:t>streaming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60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59" y="1737360"/>
            <a:ext cx="2103120" cy="27432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52359" y="1737360"/>
            <a:ext cx="210312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599" y="1965960"/>
            <a:ext cx="548640" cy="5486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D0D1A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799" y="2651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Calibri"/>
              </a:defRPr>
            </a:pPr>
            <a:r>
              <a:t>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799" y="30175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Automated</a:t>
            </a:r>
            <a:br/>
            <a:r>
              <a:t>incident reports</a:t>
            </a:r>
            <a:br/>
            <a:r>
              <a:t>&amp; mission</a:t>
            </a:r>
            <a:br/>
            <a:r>
              <a:t>summary logs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39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60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1737360"/>
            <a:ext cx="2103120" cy="27432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84080" y="1737360"/>
            <a:ext cx="2103120" cy="36576"/>
          </a:xfrm>
          <a:prstGeom prst="rect">
            <a:avLst/>
          </a:prstGeom>
          <a:solidFill>
            <a:srgbClr val="00E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61320" y="1965960"/>
            <a:ext cx="548640" cy="548640"/>
          </a:xfrm>
          <a:prstGeom prst="ellipse">
            <a:avLst/>
          </a:prstGeom>
          <a:solidFill>
            <a:srgbClr val="00E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D0D1A"/>
                </a:solidFill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2651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580"/>
                </a:solidFill>
                <a:latin typeface="Calibri"/>
              </a:defRPr>
            </a:pPr>
            <a:r>
              <a:t>COMPLETE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30175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Return to base</a:t>
            </a:r>
            <a:br/>
            <a:r>
              <a:t>mission debrief</a:t>
            </a:r>
            <a:br/>
            <a:r>
              <a:t>&amp; data archive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846320"/>
            <a:ext cx="1124712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0292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3949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• PLAN MISSION button on home screen  •  Start Mission on map screen  •  Real-time mission status tracking  •  Automated incident reports</a:t>
            </a:r>
            <a:br/>
            <a:r>
              <a:t>• Mission history and pre-completed mission count  •  Stop/Land commands for emergency abort  •  Firebase Firestore for persistent mission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80"/>
                </a:solidFill>
                <a:latin typeface="Calibri"/>
              </a:defRPr>
            </a:pPr>
            <a:r>
              <a:t>17/24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" cy="6400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Reports &amp;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06080"/>
                </a:solidFill>
                <a:latin typeface="Calibri"/>
              </a:defRPr>
            </a:pPr>
            <a:r>
              <a:t>Real-Time Incident Notification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2651760" cy="22860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2651760" cy="36576"/>
          </a:xfrm>
          <a:prstGeom prst="rect">
            <a:avLst/>
          </a:prstGeom>
          <a:solidFill>
            <a:srgbClr val="F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3355"/>
                </a:solidFill>
                <a:latin typeface="Calibri"/>
              </a:defRPr>
            </a:pPr>
            <a:r>
              <a:t>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355"/>
                </a:solidFill>
                <a:latin typeface="Calibri"/>
              </a:defRPr>
            </a:pPr>
            <a:r>
              <a:t>Human Detected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AI detection triggered</a:t>
            </a:r>
            <a:br/>
            <a:r>
              <a:t>with confidence score</a:t>
            </a:r>
            <a:br/>
            <a:r>
              <a:t>and timestamp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737360"/>
            <a:ext cx="2651760" cy="22860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737360"/>
            <a:ext cx="265176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8C00"/>
                </a:solidFill>
                <a:latin typeface="Calibri"/>
              </a:defRPr>
            </a:pPr>
            <a:r>
              <a:t>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468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System Overheated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8346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Temperature threshold</a:t>
            </a:r>
            <a:br/>
            <a:r>
              <a:t>exceeded warning</a:t>
            </a:r>
            <a:br/>
            <a:r>
              <a:t>notification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737360"/>
            <a:ext cx="2651760" cy="22860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737360"/>
            <a:ext cx="2651760" cy="36576"/>
          </a:xfrm>
          <a:prstGeom prst="rect">
            <a:avLst/>
          </a:prstGeom>
          <a:solidFill>
            <a:srgbClr val="00E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E5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68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80"/>
                </a:solidFill>
                <a:latin typeface="Calibri"/>
              </a:defRPr>
            </a:pPr>
            <a:r>
              <a:t>Mission Complete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8346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Successful mission</a:t>
            </a:r>
            <a:br/>
            <a:r>
              <a:t>completion summary</a:t>
            </a:r>
            <a:br/>
            <a:r>
              <a:t>report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737360"/>
            <a:ext cx="2651760" cy="22860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737360"/>
            <a:ext cx="265176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E5FF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468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FF"/>
                </a:solidFill>
                <a:latin typeface="Calibri"/>
              </a:defRPr>
            </a:pPr>
            <a:r>
              <a:t>Connection Lost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8346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Drone disconnection</a:t>
            </a:r>
            <a:br/>
            <a:r>
              <a:t>alert with automatic</a:t>
            </a:r>
            <a:br/>
            <a:r>
              <a:t>reconnect timer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89120"/>
            <a:ext cx="11247120" cy="21945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389120"/>
            <a:ext cx="112471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Report System 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9377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• Reports stored in Firestore subcollection:</a:t>
            </a:r>
            <a:br/>
            <a:r>
              <a:t>  drone/reports/entries/{document}</a:t>
            </a:r>
            <a:br/>
            <a:r>
              <a:t>• Each report has: type, message, timestamp</a:t>
            </a:r>
            <a:br/>
            <a:r>
              <a:t>• ReportsSection widget with empty state</a:t>
            </a:r>
            <a:br/>
            <a:r>
              <a:t>• ReportTile with timeAgo formatting</a:t>
            </a:r>
            <a:br/>
            <a:r>
              <a:t>• Auto-generated from AI detections &amp; system events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9377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Report Types Implementation:</a:t>
            </a:r>
            <a:br/>
            <a:br/>
            <a:r>
              <a:t>  enum ReportType {</a:t>
            </a:r>
            <a:br/>
            <a:r>
              <a:t>    humanDetected,</a:t>
            </a:r>
            <a:br/>
            <a:r>
              <a:t>    systemOverheated,</a:t>
            </a:r>
            <a:br/>
            <a:r>
              <a:t>    missionComplete,</a:t>
            </a:r>
            <a:br/>
            <a:r>
              <a:t>    connectionLost</a:t>
            </a:r>
            <a:br/>
            <a:r>
              <a:t>  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80"/>
                </a:solidFill>
                <a:latin typeface="Calibri"/>
              </a:defRPr>
            </a:pPr>
            <a:r>
              <a:t>18/24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" cy="6400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UI/UX Design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06080"/>
                </a:solidFill>
                <a:latin typeface="Calibri"/>
              </a:defRPr>
            </a:pPr>
            <a:r>
              <a:t>Professional Dark Interface for Field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291840" cy="2011680"/>
          </a:xfrm>
          <a:prstGeom prst="rect">
            <a:avLst/>
          </a:prstGeom>
          <a:solidFill>
            <a:srgbClr val="16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29184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011680"/>
            <a:ext cx="548640" cy="5486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0D1A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737360" y="1965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Dark-First Theme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3317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Optimized for outdoor</a:t>
            </a:r>
            <a:br/>
            <a:r>
              <a:t>field use with reduced</a:t>
            </a:r>
            <a:br/>
            <a:r>
              <a:t>blue light and high</a:t>
            </a:r>
            <a:br/>
            <a:r>
              <a:t>contrast readability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3291840" cy="2011680"/>
          </a:xfrm>
          <a:prstGeom prst="rect">
            <a:avLst/>
          </a:prstGeom>
          <a:solidFill>
            <a:srgbClr val="16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329184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3440" y="2011680"/>
            <a:ext cx="548640" cy="54864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0D1A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394960" y="1965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Responsive Layout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3317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flutter_screenutil</a:t>
            </a:r>
            <a:br/>
            <a:r>
              <a:t>adapts to phones</a:t>
            </a:r>
            <a:br/>
            <a:r>
              <a:t>and tablets (base:</a:t>
            </a:r>
            <a:br/>
            <a:r>
              <a:t>393×852)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737360"/>
            <a:ext cx="3291840" cy="2011680"/>
          </a:xfrm>
          <a:prstGeom prst="rect">
            <a:avLst/>
          </a:prstGeom>
          <a:solidFill>
            <a:srgbClr val="16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737360"/>
            <a:ext cx="329184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40" y="20116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0D1A"/>
                </a:solidFill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9052560" y="1965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Smooth Animations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3317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Animated transitions</a:t>
            </a:r>
            <a:br/>
            <a:r>
              <a:t>for snackbars, page</a:t>
            </a:r>
            <a:br/>
            <a:r>
              <a:t>navigation, state</a:t>
            </a:r>
            <a:br/>
            <a:r>
              <a:t>changes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114800"/>
            <a:ext cx="3291840" cy="2011680"/>
          </a:xfrm>
          <a:prstGeom prst="rect">
            <a:avLst/>
          </a:prstGeom>
          <a:solidFill>
            <a:srgbClr val="16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114800"/>
            <a:ext cx="3291840" cy="36576"/>
          </a:xfrm>
          <a:prstGeom prst="rect">
            <a:avLst/>
          </a:prstGeom>
          <a:solidFill>
            <a:srgbClr val="00E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" y="4389120"/>
            <a:ext cx="548640" cy="548640"/>
          </a:xfrm>
          <a:prstGeom prst="ellipse">
            <a:avLst/>
          </a:prstGeom>
          <a:solidFill>
            <a:srgbClr val="00E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0D1A"/>
                </a:solidFill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1737360" y="4343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SVG Assets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7091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Custom SVG icons and</a:t>
            </a:r>
            <a:br/>
            <a:r>
              <a:t>logo with embedded</a:t>
            </a:r>
            <a:br/>
            <a:r>
              <a:t>base64 rendering</a:t>
            </a:r>
            <a:br/>
            <a:r>
              <a:t>via flutter_svg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4114800"/>
            <a:ext cx="3291840" cy="2011680"/>
          </a:xfrm>
          <a:prstGeom prst="rect">
            <a:avLst/>
          </a:prstGeom>
          <a:solidFill>
            <a:srgbClr val="16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4114800"/>
            <a:ext cx="329184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3440" y="4389120"/>
            <a:ext cx="548640" cy="5486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0D1A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5394960" y="4343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Centralized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47091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AppTheme + AppDimensions</a:t>
            </a:r>
            <a:br/>
            <a:r>
              <a:t>for consistent colors,</a:t>
            </a:r>
            <a:br/>
            <a:r>
              <a:t>gradients, spacing,</a:t>
            </a:r>
            <a:br/>
            <a:r>
              <a:t>and typography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4114800"/>
            <a:ext cx="3291840" cy="2011680"/>
          </a:xfrm>
          <a:prstGeom prst="rect">
            <a:avLst/>
          </a:prstGeom>
          <a:solidFill>
            <a:srgbClr val="16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4114800"/>
            <a:ext cx="3291840" cy="36576"/>
          </a:xfrm>
          <a:prstGeom prst="rect">
            <a:avLst/>
          </a:prstGeom>
          <a:solidFill>
            <a:srgbClr val="F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0" y="4389120"/>
            <a:ext cx="548640" cy="548640"/>
          </a:xfrm>
          <a:prstGeom prst="ellipse">
            <a:avLst/>
          </a:prstGeom>
          <a:solidFill>
            <a:srgbClr val="F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0D1A"/>
                </a:solidFill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9052560" y="4343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Custom Painters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47091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GridPainter for</a:t>
            </a:r>
            <a:br/>
            <a:r>
              <a:t>video overlay,</a:t>
            </a:r>
            <a:br/>
            <a:r>
              <a:t>JoystickPainter</a:t>
            </a:r>
            <a:br/>
            <a:r>
              <a:t>for controls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80"/>
                </a:solidFill>
                <a:latin typeface="Calibri"/>
              </a:defRPr>
            </a:pPr>
            <a:r>
              <a:t>19/24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" cy="6400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Architecture &amp; State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06080"/>
                </a:solidFill>
                <a:latin typeface="Calibri"/>
              </a:defRPr>
            </a:pPr>
            <a:r>
              <a:t>Clean Architecture with BLoC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474720" cy="32004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4747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FF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377440"/>
            <a:ext cx="2926080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Repository Implementations</a:t>
            </a:r>
            <a:br/>
            <a:r>
              <a:t>Firebase Auth &amp; Firestore</a:t>
            </a:r>
            <a:br/>
            <a:r>
              <a:t>WebSocket Client</a:t>
            </a:r>
            <a:br/>
            <a:r>
              <a:t>Dio HTTP Client</a:t>
            </a:r>
            <a:br/>
            <a:r>
              <a:t>SharedPreferences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737360"/>
            <a:ext cx="3474720" cy="32004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737360"/>
            <a:ext cx="3474720" cy="54864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011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Calibri"/>
              </a:defRPr>
            </a:pPr>
            <a:r>
              <a:t>DOMAIN LAYER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2377440"/>
            <a:ext cx="2926080" cy="18288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56032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Abstract Repositories</a:t>
            </a:r>
            <a:br/>
            <a:r>
              <a:t>Entity Models (Equatable)</a:t>
            </a:r>
            <a:br/>
            <a:r>
              <a:t>Failure Classes</a:t>
            </a:r>
            <a:br/>
            <a:r>
              <a:t>either&lt;Failure, T&gt;</a:t>
            </a:r>
            <a:br/>
            <a:r>
              <a:t>patterns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1737360"/>
            <a:ext cx="3474720" cy="32004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173736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2011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PRESENTATION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2377440"/>
            <a:ext cx="2926080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256032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Cubits / BLoCs</a:t>
            </a:r>
            <a:br/>
            <a:r>
              <a:t>Screens &amp; Widgets</a:t>
            </a:r>
            <a:br/>
            <a:r>
              <a:t>Custom Painters</a:t>
            </a:r>
            <a:br/>
            <a:r>
              <a:t>State: sealed classes</a:t>
            </a:r>
            <a:br/>
            <a:r>
              <a:t>with copyWith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212080"/>
            <a:ext cx="10698480" cy="13716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212080"/>
            <a:ext cx="1069848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39496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Cubits:  OnboardingCubit | AuthCubit | DroneTrackingCubit | DroneStatusCubit | VideoFeedCubit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76072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80"/>
                </a:solidFill>
                <a:latin typeface="Calibri"/>
              </a:defRPr>
            </a:pPr>
            <a:r>
              <a:t>DI: GetIt service locator  •  Routing: GoRouter (10 named routes)  •  Error handling: dartz Either type  •  ~70+ Dart files across the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80"/>
                </a:solidFill>
                <a:latin typeface="Calibri"/>
              </a:defRPr>
            </a:pPr>
            <a:r>
              <a:t>20/24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" cy="6400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06080"/>
                </a:solidFill>
                <a:latin typeface="Calibri"/>
              </a:defRPr>
            </a:pPr>
            <a:r>
              <a:t>Tools &amp; Technologies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2743200" cy="50292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27432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Calibri"/>
              </a:defRPr>
            </a:pPr>
            <a:r>
              <a:t>MOBILE 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2377440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• Flutter 3.12+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80"/>
                </a:solidFill>
                <a:latin typeface="Calibri"/>
              </a:defRPr>
            </a:pPr>
            <a:r>
              <a:t>Cross-platform UI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974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• Dart 3.12+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80"/>
                </a:solidFill>
                <a:latin typeface="Calibri"/>
              </a:defRPr>
            </a:pPr>
            <a:r>
              <a:t>Programming 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• BLoC/Cubit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80"/>
                </a:solidFill>
                <a:latin typeface="Calibri"/>
              </a:defRPr>
            </a:pPr>
            <a:r>
              <a:t>State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• GoRouter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8620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80"/>
                </a:solidFill>
                <a:latin typeface="Calibri"/>
              </a:defRPr>
            </a:pPr>
            <a:r>
              <a:t>Declarative 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062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• get_it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891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80"/>
                </a:solidFill>
                <a:latin typeface="Calibri"/>
              </a:defRPr>
            </a:pPr>
            <a:r>
              <a:t>Dependency injection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7091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• flutter_map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92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80"/>
                </a:solidFill>
                <a:latin typeface="Calibri"/>
              </a:defRPr>
            </a:pPr>
            <a:r>
              <a:t>OpenStreetMap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120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• web_socket_channel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94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80"/>
                </a:solidFill>
                <a:latin typeface="Calibri"/>
              </a:defRPr>
            </a:pPr>
            <a:r>
              <a:t>Real-time communication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7150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• flutter_screenutil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978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80"/>
                </a:solidFill>
                <a:latin typeface="Calibri"/>
              </a:defRPr>
            </a:pPr>
            <a:r>
              <a:t>Responsive design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1554480"/>
            <a:ext cx="2743200" cy="50292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91840" y="1554480"/>
            <a:ext cx="274320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1737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2057400"/>
            <a:ext cx="2377440" cy="18288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21945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• FastAPI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23774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80"/>
                </a:solidFill>
                <a:latin typeface="Calibri"/>
              </a:defRPr>
            </a:pPr>
            <a:r>
              <a:t>Python web framework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26974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• Uvicorn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28803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80"/>
                </a:solidFill>
                <a:latin typeface="Calibri"/>
              </a:defRPr>
            </a:pPr>
            <a:r>
              <a:t>ASGI server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32004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• OpenCV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33832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80"/>
                </a:solidFill>
                <a:latin typeface="Calibri"/>
              </a:defRPr>
            </a:pPr>
            <a:r>
              <a:t>Video processing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3703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• NumPy / Pillow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388620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80"/>
                </a:solidFill>
                <a:latin typeface="Calibri"/>
              </a:defRPr>
            </a:pPr>
            <a:r>
              <a:t>Image manipulation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42062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• YOLO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43891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80"/>
                </a:solidFill>
                <a:latin typeface="Calibri"/>
              </a:defRPr>
            </a:pPr>
            <a:r>
              <a:t>AI object detection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7091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• WebSockets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4892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80"/>
                </a:solidFill>
                <a:latin typeface="Calibri"/>
              </a:defRPr>
            </a:pPr>
            <a:r>
              <a:t>Real-time broadcast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52120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• Firebase Admin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5394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80"/>
                </a:solidFill>
                <a:latin typeface="Calibri"/>
              </a:defRPr>
            </a:pPr>
            <a:r>
              <a:t>Server-side Firebase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1554480"/>
            <a:ext cx="2743200" cy="50292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1554480"/>
            <a:ext cx="27432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1737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2057400"/>
            <a:ext cx="2377440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21945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• Firebase Auth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23774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80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26974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• Cloud Firestore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28803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80"/>
                </a:solidFill>
                <a:latin typeface="Calibri"/>
              </a:defRPr>
            </a:pPr>
            <a:r>
              <a:t>Real-time database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32004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• Firebase Core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33832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80"/>
                </a:solidFill>
                <a:latin typeface="Calibri"/>
              </a:defRPr>
            </a:pPr>
            <a:r>
              <a:t>Platform initialization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3703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• SharedPreferences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388620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80"/>
                </a:solidFill>
                <a:latin typeface="Calibri"/>
              </a:defRPr>
            </a:pPr>
            <a:r>
              <a:t>Local storage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42062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• Geolocator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43891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80"/>
                </a:solidFill>
                <a:latin typeface="Calibri"/>
              </a:defRPr>
            </a:pPr>
            <a:r>
              <a:t>Location services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47091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• google_sign_in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4892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80"/>
                </a:solidFill>
                <a:latin typeface="Calibri"/>
              </a:defRPr>
            </a:pPr>
            <a:r>
              <a:t>Google OAuth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52120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• dartz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0" y="5394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80"/>
                </a:solidFill>
                <a:latin typeface="Calibri"/>
              </a:defRPr>
            </a:pPr>
            <a:r>
              <a:t>Functional error handling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0" y="1554480"/>
            <a:ext cx="2743200" cy="50292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144000" y="1554480"/>
            <a:ext cx="2743200" cy="36576"/>
          </a:xfrm>
          <a:prstGeom prst="rect">
            <a:avLst/>
          </a:prstGeom>
          <a:solidFill>
            <a:srgbClr val="00E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26880" y="1737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80"/>
                </a:solidFill>
                <a:latin typeface="Calibri"/>
              </a:defRPr>
            </a:pPr>
            <a:r>
              <a:t>HARDWARE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26880" y="2057400"/>
            <a:ext cx="2377440" cy="18288"/>
          </a:xfrm>
          <a:prstGeom prst="rect">
            <a:avLst/>
          </a:prstGeom>
          <a:solidFill>
            <a:srgbClr val="00E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26880" y="21945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• Raspberry 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09760" y="23774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80"/>
                </a:solidFill>
                <a:latin typeface="Calibri"/>
              </a:defRPr>
            </a:pPr>
            <a:r>
              <a:t>Onboard computer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26880" y="26974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• Pi Camera v2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09760" y="28803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80"/>
                </a:solidFill>
                <a:latin typeface="Calibri"/>
              </a:defRPr>
            </a:pPr>
            <a:r>
              <a:t>Video capture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26880" y="32004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• NEO-6M GPS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09760" y="33832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80"/>
                </a:solidFill>
                <a:latin typeface="Calibri"/>
              </a:defRPr>
            </a:pPr>
            <a:r>
              <a:t>Position tracking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26880" y="3703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• TCP Socket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09760" y="388620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80"/>
                </a:solidFill>
                <a:latin typeface="Calibri"/>
              </a:defRPr>
            </a:pPr>
            <a:r>
              <a:t>Video transmission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26880" y="42062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• Pi GPIO/UART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09760" y="43891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80"/>
                </a:solidFill>
                <a:latin typeface="Calibri"/>
              </a:defRPr>
            </a:pPr>
            <a:r>
              <a:t>Hardware interface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80"/>
                </a:solidFill>
                <a:latin typeface="Calibri"/>
              </a:defRPr>
            </a:pPr>
            <a:r>
              <a:t>21/24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" cy="6400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06080"/>
                </a:solidFill>
                <a:latin typeface="Calibri"/>
              </a:defRPr>
            </a:pPr>
            <a:r>
              <a:t>Key Technical Hurdles Overcome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783080"/>
            <a:ext cx="365760" cy="36576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D0D1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Real-Time Video Latency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6459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Optimized MJPEG streaming</a:t>
            </a:r>
            <a:br/>
            <a:r>
              <a:t>over WebSocket with frame</a:t>
            </a:r>
            <a:br/>
            <a:r>
              <a:t>queue &amp; rate limiting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80"/>
                </a:solidFill>
                <a:latin typeface="Calibri"/>
              </a:defRPr>
            </a:pPr>
            <a:r>
              <a:t>TCP → Frame Queue → AI Pipeline → WS Broadcast</a:t>
            </a:r>
            <a:br/>
            <a:r>
              <a:t>achieved ~15-30 FPS with &lt;500ms latency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11247120" cy="9144"/>
          </a:xfrm>
          <a:prstGeom prst="rect">
            <a:avLst/>
          </a:prstGeom>
          <a:solidFill>
            <a:srgbClr val="6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2788920"/>
            <a:ext cx="365760" cy="3657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D0D1A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Disconnection 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6517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10-second grace timer before</a:t>
            </a:r>
            <a:br/>
            <a:r>
              <a:t>marking drone as disconnected</a:t>
            </a:r>
            <a:br/>
            <a:r>
              <a:t>prevents UI flickering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6517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80"/>
                </a:solidFill>
                <a:latin typeface="Calibri"/>
              </a:defRPr>
            </a:pPr>
            <a:r>
              <a:t>DroneTrackingCubit timer resets on each</a:t>
            </a:r>
            <a:br/>
            <a:r>
              <a:t>incoming location update from Firestore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20440"/>
            <a:ext cx="11247120" cy="9144"/>
          </a:xfrm>
          <a:prstGeom prst="rect">
            <a:avLst/>
          </a:prstGeom>
          <a:solidFill>
            <a:srgbClr val="6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00" y="379476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D0D1A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657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Cross-Platform UI Consistency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6576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flutter_screenutil for adaptive</a:t>
            </a:r>
            <a:br/>
            <a:r>
              <a:t>layout across phone &amp; tablet</a:t>
            </a:r>
            <a:br/>
            <a:r>
              <a:t>with dark-first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6576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80"/>
                </a:solidFill>
                <a:latin typeface="Calibri"/>
              </a:defRPr>
            </a:pPr>
            <a:r>
              <a:t>Base design size: 393×852. All dimensions</a:t>
            </a:r>
            <a:br/>
            <a:r>
              <a:t>use .w, .h, .r, .sp extensions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26280"/>
            <a:ext cx="11247120" cy="9144"/>
          </a:xfrm>
          <a:prstGeom prst="rect">
            <a:avLst/>
          </a:prstGeom>
          <a:solidFill>
            <a:srgbClr val="6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7200" y="4800600"/>
            <a:ext cx="365760" cy="365760"/>
          </a:xfrm>
          <a:prstGeom prst="ellipse">
            <a:avLst/>
          </a:prstGeom>
          <a:solidFill>
            <a:srgbClr val="00E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D0D1A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63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 Detection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6634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Custom pipeline with fallback</a:t>
            </a:r>
            <a:br/>
            <a:r>
              <a:t>dummy detector for testing</a:t>
            </a:r>
            <a:br/>
            <a:r>
              <a:t>without real drone hardware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6634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80"/>
                </a:solidFill>
                <a:latin typeface="Calibri"/>
              </a:defRPr>
            </a:pPr>
            <a:r>
              <a:t>Abstract detection interface allows swapping</a:t>
            </a:r>
            <a:br/>
            <a:r>
              <a:t>YOLO model or using simulated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532120"/>
            <a:ext cx="11247120" cy="9144"/>
          </a:xfrm>
          <a:prstGeom prst="rect">
            <a:avLst/>
          </a:prstGeom>
          <a:solidFill>
            <a:srgbClr val="6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7200" y="5806440"/>
            <a:ext cx="365760" cy="3657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D0D1A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6692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Firebase Real-Time Sync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6692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Multiple Firestore streams for</a:t>
            </a:r>
            <a:br/>
            <a:r>
              <a:t>location, status, reports &amp;</a:t>
            </a:r>
            <a:br/>
            <a:r>
              <a:t>commands with error handling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6692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80"/>
                </a:solidFill>
                <a:latin typeface="Calibri"/>
              </a:defRPr>
            </a:pPr>
            <a:r>
              <a:t>Each stream independently error-handled</a:t>
            </a:r>
            <a:br/>
            <a:r>
              <a:t>with Either pattern for clean state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80"/>
                </a:solidFill>
                <a:latin typeface="Calibri"/>
              </a:defRPr>
            </a:pPr>
            <a:r>
              <a:t>22/24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" cy="6400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06080"/>
                </a:solidFill>
                <a:latin typeface="Calibri"/>
              </a:defRPr>
            </a:pPr>
            <a:r>
              <a:t>Roadmap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2651760" cy="21945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265176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Calibri"/>
              </a:defRPr>
            </a:pPr>
            <a:r>
              <a:t>Real YOLO Model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Train custom YOLO model on</a:t>
            </a:r>
            <a:br/>
            <a:r>
              <a:t>SAR-specific dataset for higher</a:t>
            </a:r>
            <a:br/>
            <a:r>
              <a:t>accuracy in rescue scenarios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554480"/>
            <a:ext cx="2651760" cy="21945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554480"/>
            <a:ext cx="265176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Calibri"/>
              </a:defRPr>
            </a:pPr>
            <a:r>
              <a:t>Raspberry Pi Hardware Scripts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945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Complete onboard firmware for</a:t>
            </a:r>
            <a:br/>
            <a:r>
              <a:t>autonomous drone control &amp;</a:t>
            </a:r>
            <a:br/>
            <a:r>
              <a:t>data relay to laptop server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2651760" cy="21945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554480"/>
            <a:ext cx="265176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Multi-Drone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945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Simultaneous operation of</a:t>
            </a:r>
            <a:br/>
            <a:r>
              <a:t>multiple drones with</a:t>
            </a:r>
            <a:br/>
            <a:r>
              <a:t>individual control interfaces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554480"/>
            <a:ext cx="2651760" cy="21945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554480"/>
            <a:ext cx="2651760" cy="36576"/>
          </a:xfrm>
          <a:prstGeom prst="rect">
            <a:avLst/>
          </a:prstGeom>
          <a:solidFill>
            <a:srgbClr val="00E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80"/>
                </a:solidFill>
                <a:latin typeface="Calibri"/>
              </a:defRPr>
            </a:pPr>
            <a:r>
              <a:t>Offline 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1945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Local caching of video &amp;</a:t>
            </a:r>
            <a:br/>
            <a:r>
              <a:t>telemetry data for operation</a:t>
            </a:r>
            <a:br/>
            <a:r>
              <a:t>in remote areas without internet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114800"/>
            <a:ext cx="2651760" cy="21945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114800"/>
            <a:ext cx="265176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Advanced Mission Planning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548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GPS waypoint plotting &amp;</a:t>
            </a:r>
            <a:br/>
            <a:r>
              <a:t>autonomous path planning</a:t>
            </a:r>
            <a:br/>
            <a:r>
              <a:t>with obstacle avoidance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4114800"/>
            <a:ext cx="2651760" cy="21945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91840" y="4114800"/>
            <a:ext cx="2651760" cy="36576"/>
          </a:xfrm>
          <a:prstGeom prst="rect">
            <a:avLst/>
          </a:prstGeom>
          <a:solidFill>
            <a:srgbClr val="F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3355"/>
                </a:solidFill>
                <a:latin typeface="Calibri"/>
              </a:defRPr>
            </a:pPr>
            <a:r>
              <a:t>Push Notifications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7548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Alert first responders when</a:t>
            </a:r>
            <a:br/>
            <a:r>
              <a:t>human detection is triggered</a:t>
            </a:r>
            <a:br/>
            <a:r>
              <a:t>or system warnings occur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114800"/>
            <a:ext cx="2651760" cy="21945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114800"/>
            <a:ext cx="265176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Calibri"/>
              </a:defRPr>
            </a:pPr>
            <a:r>
              <a:t>Flight Recording &amp; Replay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7548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Record missions for post-flight</a:t>
            </a:r>
            <a:br/>
            <a:r>
              <a:t>analysis and training</a:t>
            </a:r>
            <a:br/>
            <a:r>
              <a:t>purposes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4114800"/>
            <a:ext cx="2651760" cy="21945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0" y="4114800"/>
            <a:ext cx="265176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Calibri"/>
              </a:defRPr>
            </a:pPr>
            <a:r>
              <a:t>Web 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7548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Browser-based monitoring</a:t>
            </a:r>
            <a:br/>
            <a:r>
              <a:t>interface for command</a:t>
            </a:r>
            <a:br/>
            <a:r>
              <a:t>center operations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80"/>
                </a:solidFill>
                <a:latin typeface="Calibri"/>
              </a:defRPr>
            </a:pPr>
            <a:r>
              <a:t>23/24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4572000" cy="4572000"/>
          </a:xfrm>
          <a:prstGeom prst="ellipse">
            <a:avLst/>
          </a:prstGeom>
          <a:solidFill>
            <a:srgbClr val="006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743200"/>
            <a:ext cx="18288" cy="36576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47488" y="2743200"/>
            <a:ext cx="18288" cy="36576"/>
          </a:xfrm>
          <a:prstGeom prst="rect">
            <a:avLst/>
          </a:prstGeom>
          <a:solidFill>
            <a:srgbClr val="0C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65776" y="2743200"/>
            <a:ext cx="18288" cy="36576"/>
          </a:xfrm>
          <a:prstGeom prst="rect">
            <a:avLst/>
          </a:prstGeom>
          <a:solidFill>
            <a:srgbClr val="0C1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84064" y="2743200"/>
            <a:ext cx="18288" cy="36576"/>
          </a:xfrm>
          <a:prstGeom prst="rect">
            <a:avLst/>
          </a:prstGeom>
          <a:solidFill>
            <a:srgbClr val="0C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02352" y="2743200"/>
            <a:ext cx="18288" cy="36576"/>
          </a:xfrm>
          <a:prstGeom prst="rect">
            <a:avLst/>
          </a:prstGeom>
          <a:solidFill>
            <a:srgbClr val="0C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0" y="2743200"/>
            <a:ext cx="18288" cy="36576"/>
          </a:xfrm>
          <a:prstGeom prst="rect">
            <a:avLst/>
          </a:prstGeom>
          <a:solidFill>
            <a:srgbClr val="0C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38928" y="2743200"/>
            <a:ext cx="18288" cy="36576"/>
          </a:xfrm>
          <a:prstGeom prst="rect">
            <a:avLst/>
          </a:prstGeom>
          <a:solidFill>
            <a:srgbClr val="0C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57216" y="2743200"/>
            <a:ext cx="18288" cy="36576"/>
          </a:xfrm>
          <a:prstGeom prst="rect">
            <a:avLst/>
          </a:prstGeom>
          <a:solidFill>
            <a:srgbClr val="0C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75504" y="2743200"/>
            <a:ext cx="18288" cy="36576"/>
          </a:xfrm>
          <a:prstGeom prst="rect">
            <a:avLst/>
          </a:prstGeom>
          <a:solidFill>
            <a:srgbClr val="0C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93792" y="2743200"/>
            <a:ext cx="18288" cy="36576"/>
          </a:xfrm>
          <a:prstGeom prst="rect">
            <a:avLst/>
          </a:prstGeom>
          <a:solidFill>
            <a:srgbClr val="0B1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12080" y="2743200"/>
            <a:ext cx="18288" cy="36576"/>
          </a:xfrm>
          <a:prstGeom prst="rect">
            <a:avLst/>
          </a:prstGeom>
          <a:solidFill>
            <a:srgbClr val="0B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30368" y="2743200"/>
            <a:ext cx="18288" cy="36576"/>
          </a:xfrm>
          <a:prstGeom prst="rect">
            <a:avLst/>
          </a:prstGeom>
          <a:solidFill>
            <a:srgbClr val="0B2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48656" y="2743200"/>
            <a:ext cx="18288" cy="36576"/>
          </a:xfrm>
          <a:prstGeom prst="rect">
            <a:avLst/>
          </a:prstGeom>
          <a:solidFill>
            <a:srgbClr val="0B2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66944" y="2743200"/>
            <a:ext cx="18288" cy="36576"/>
          </a:xfrm>
          <a:prstGeom prst="rect">
            <a:avLst/>
          </a:prstGeom>
          <a:solidFill>
            <a:srgbClr val="0B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85232" y="2743200"/>
            <a:ext cx="18288" cy="36576"/>
          </a:xfrm>
          <a:prstGeom prst="rect">
            <a:avLst/>
          </a:prstGeom>
          <a:solidFill>
            <a:srgbClr val="0B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03520" y="2743200"/>
            <a:ext cx="18288" cy="36576"/>
          </a:xfrm>
          <a:prstGeom prst="rect">
            <a:avLst/>
          </a:prstGeom>
          <a:solidFill>
            <a:srgbClr val="0B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21808" y="2743200"/>
            <a:ext cx="18288" cy="36576"/>
          </a:xfrm>
          <a:prstGeom prst="rect">
            <a:avLst/>
          </a:prstGeom>
          <a:solidFill>
            <a:srgbClr val="0B2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0096" y="2743200"/>
            <a:ext cx="18288" cy="36576"/>
          </a:xfrm>
          <a:prstGeom prst="rect">
            <a:avLst/>
          </a:prstGeom>
          <a:solidFill>
            <a:srgbClr val="0B2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58384" y="2743200"/>
            <a:ext cx="18288" cy="36576"/>
          </a:xfrm>
          <a:prstGeom prst="rect">
            <a:avLst/>
          </a:prstGeom>
          <a:solidFill>
            <a:srgbClr val="0A2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76672" y="2743200"/>
            <a:ext cx="18288" cy="36576"/>
          </a:xfrm>
          <a:prstGeom prst="rect">
            <a:avLst/>
          </a:prstGeom>
          <a:solidFill>
            <a:srgbClr val="0A3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94960" y="2743200"/>
            <a:ext cx="18288" cy="36576"/>
          </a:xfrm>
          <a:prstGeom prst="rect">
            <a:avLst/>
          </a:prstGeom>
          <a:solidFill>
            <a:srgbClr val="0A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13248" y="2743200"/>
            <a:ext cx="18288" cy="36576"/>
          </a:xfrm>
          <a:prstGeom prst="rect">
            <a:avLst/>
          </a:prstGeom>
          <a:solidFill>
            <a:srgbClr val="0A3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31536" y="2743200"/>
            <a:ext cx="18288" cy="36576"/>
          </a:xfrm>
          <a:prstGeom prst="rect">
            <a:avLst/>
          </a:prstGeom>
          <a:solidFill>
            <a:srgbClr val="0A3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49824" y="2743200"/>
            <a:ext cx="18288" cy="36576"/>
          </a:xfrm>
          <a:prstGeom prst="rect">
            <a:avLst/>
          </a:prstGeom>
          <a:solidFill>
            <a:srgbClr val="0A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68112" y="2743200"/>
            <a:ext cx="18288" cy="36576"/>
          </a:xfrm>
          <a:prstGeom prst="rect">
            <a:avLst/>
          </a:prstGeom>
          <a:solidFill>
            <a:srgbClr val="0A3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0" y="2743200"/>
            <a:ext cx="18288" cy="36576"/>
          </a:xfrm>
          <a:prstGeom prst="rect">
            <a:avLst/>
          </a:prstGeom>
          <a:solidFill>
            <a:srgbClr val="0A3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04688" y="2743200"/>
            <a:ext cx="18288" cy="36576"/>
          </a:xfrm>
          <a:prstGeom prst="rect">
            <a:avLst/>
          </a:prstGeom>
          <a:solidFill>
            <a:srgbClr val="0A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22976" y="2743200"/>
            <a:ext cx="18288" cy="36576"/>
          </a:xfrm>
          <a:prstGeom prst="rect">
            <a:avLst/>
          </a:prstGeom>
          <a:solidFill>
            <a:srgbClr val="09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41264" y="2743200"/>
            <a:ext cx="18288" cy="36576"/>
          </a:xfrm>
          <a:prstGeom prst="rect">
            <a:avLst/>
          </a:prstGeom>
          <a:solidFill>
            <a:srgbClr val="09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59552" y="2743200"/>
            <a:ext cx="18288" cy="36576"/>
          </a:xfrm>
          <a:prstGeom prst="rect">
            <a:avLst/>
          </a:prstGeom>
          <a:solidFill>
            <a:srgbClr val="094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77840" y="2743200"/>
            <a:ext cx="18288" cy="36576"/>
          </a:xfrm>
          <a:prstGeom prst="rect">
            <a:avLst/>
          </a:prstGeom>
          <a:solidFill>
            <a:srgbClr val="094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96128" y="2743200"/>
            <a:ext cx="18288" cy="36576"/>
          </a:xfrm>
          <a:prstGeom prst="rect">
            <a:avLst/>
          </a:prstGeom>
          <a:solidFill>
            <a:srgbClr val="09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14416" y="2743200"/>
            <a:ext cx="18288" cy="36576"/>
          </a:xfrm>
          <a:prstGeom prst="rect">
            <a:avLst/>
          </a:prstGeom>
          <a:solidFill>
            <a:srgbClr val="094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32704" y="2743200"/>
            <a:ext cx="18288" cy="36576"/>
          </a:xfrm>
          <a:prstGeom prst="rect">
            <a:avLst/>
          </a:prstGeom>
          <a:solidFill>
            <a:srgbClr val="094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50992" y="2743200"/>
            <a:ext cx="18288" cy="36576"/>
          </a:xfrm>
          <a:prstGeom prst="rect">
            <a:avLst/>
          </a:prstGeom>
          <a:solidFill>
            <a:srgbClr val="094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69280" y="2743200"/>
            <a:ext cx="18288" cy="36576"/>
          </a:xfrm>
          <a:prstGeom prst="rect">
            <a:avLst/>
          </a:prstGeom>
          <a:solidFill>
            <a:srgbClr val="09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87568" y="2743200"/>
            <a:ext cx="18288" cy="36576"/>
          </a:xfrm>
          <a:prstGeom prst="rect">
            <a:avLst/>
          </a:prstGeom>
          <a:solidFill>
            <a:srgbClr val="0850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705856" y="2743200"/>
            <a:ext cx="18288" cy="36576"/>
          </a:xfrm>
          <a:prstGeom prst="rect">
            <a:avLst/>
          </a:prstGeom>
          <a:solidFill>
            <a:srgbClr val="08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24144" y="2743200"/>
            <a:ext cx="18288" cy="36576"/>
          </a:xfrm>
          <a:prstGeom prst="rect">
            <a:avLst/>
          </a:prstGeom>
          <a:solidFill>
            <a:srgbClr val="08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742432" y="2743200"/>
            <a:ext cx="18288" cy="36576"/>
          </a:xfrm>
          <a:prstGeom prst="rect">
            <a:avLst/>
          </a:prstGeom>
          <a:solidFill>
            <a:srgbClr val="085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760720" y="2743200"/>
            <a:ext cx="18288" cy="36576"/>
          </a:xfrm>
          <a:prstGeom prst="rect">
            <a:avLst/>
          </a:prstGeom>
          <a:solidFill>
            <a:srgbClr val="085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779008" y="2743200"/>
            <a:ext cx="18288" cy="36576"/>
          </a:xfrm>
          <a:prstGeom prst="rect">
            <a:avLst/>
          </a:prstGeom>
          <a:solidFill>
            <a:srgbClr val="08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97296" y="2743200"/>
            <a:ext cx="18288" cy="36576"/>
          </a:xfrm>
          <a:prstGeom prst="rect">
            <a:avLst/>
          </a:prstGeom>
          <a:solidFill>
            <a:srgbClr val="085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815584" y="2743200"/>
            <a:ext cx="18288" cy="36576"/>
          </a:xfrm>
          <a:prstGeom prst="rect">
            <a:avLst/>
          </a:prstGeom>
          <a:solidFill>
            <a:srgbClr val="085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833872" y="2743200"/>
            <a:ext cx="18288" cy="36576"/>
          </a:xfrm>
          <a:prstGeom prst="rect">
            <a:avLst/>
          </a:prstGeom>
          <a:solidFill>
            <a:srgbClr val="085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852160" y="2743200"/>
            <a:ext cx="18288" cy="36576"/>
          </a:xfrm>
          <a:prstGeom prst="rect">
            <a:avLst/>
          </a:prstGeom>
          <a:solidFill>
            <a:srgbClr val="0761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870448" y="2743200"/>
            <a:ext cx="18288" cy="36576"/>
          </a:xfrm>
          <a:prstGeom prst="rect">
            <a:avLst/>
          </a:prstGeom>
          <a:solidFill>
            <a:srgbClr val="076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888736" y="2743200"/>
            <a:ext cx="18288" cy="36576"/>
          </a:xfrm>
          <a:prstGeom prst="rect">
            <a:avLst/>
          </a:prstGeom>
          <a:solidFill>
            <a:srgbClr val="076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907024" y="2743200"/>
            <a:ext cx="18288" cy="36576"/>
          </a:xfrm>
          <a:prstGeom prst="rect">
            <a:avLst/>
          </a:prstGeom>
          <a:solidFill>
            <a:srgbClr val="0767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925312" y="2743200"/>
            <a:ext cx="18288" cy="36576"/>
          </a:xfrm>
          <a:prstGeom prst="rect">
            <a:avLst/>
          </a:prstGeom>
          <a:solidFill>
            <a:srgbClr val="076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943600" y="2743200"/>
            <a:ext cx="18288" cy="36576"/>
          </a:xfrm>
          <a:prstGeom prst="rect">
            <a:avLst/>
          </a:prstGeom>
          <a:solidFill>
            <a:srgbClr val="076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961888" y="2743200"/>
            <a:ext cx="18288" cy="36576"/>
          </a:xfrm>
          <a:prstGeom prst="rect">
            <a:avLst/>
          </a:prstGeom>
          <a:solidFill>
            <a:srgbClr val="076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980176" y="2743200"/>
            <a:ext cx="18288" cy="36576"/>
          </a:xfrm>
          <a:prstGeom prst="rect">
            <a:avLst/>
          </a:prstGeom>
          <a:solidFill>
            <a:srgbClr val="07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998464" y="2743200"/>
            <a:ext cx="18288" cy="36576"/>
          </a:xfrm>
          <a:prstGeom prst="rect">
            <a:avLst/>
          </a:prstGeom>
          <a:solidFill>
            <a:srgbClr val="077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016752" y="2743200"/>
            <a:ext cx="18288" cy="36576"/>
          </a:xfrm>
          <a:prstGeom prst="rect">
            <a:avLst/>
          </a:prstGeom>
          <a:solidFill>
            <a:srgbClr val="067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035040" y="2743200"/>
            <a:ext cx="18288" cy="36576"/>
          </a:xfrm>
          <a:prstGeom prst="rect">
            <a:avLst/>
          </a:prstGeom>
          <a:solidFill>
            <a:srgbClr val="067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53328" y="2743200"/>
            <a:ext cx="18288" cy="36576"/>
          </a:xfrm>
          <a:prstGeom prst="rect">
            <a:avLst/>
          </a:prstGeom>
          <a:solidFill>
            <a:srgbClr val="067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71616" y="2743200"/>
            <a:ext cx="18288" cy="36576"/>
          </a:xfrm>
          <a:prstGeom prst="rect">
            <a:avLst/>
          </a:prstGeom>
          <a:solidFill>
            <a:srgbClr val="067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89904" y="2743200"/>
            <a:ext cx="18288" cy="36576"/>
          </a:xfrm>
          <a:prstGeom prst="rect">
            <a:avLst/>
          </a:prstGeom>
          <a:solidFill>
            <a:srgbClr val="067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08192" y="2743200"/>
            <a:ext cx="18288" cy="36576"/>
          </a:xfrm>
          <a:prstGeom prst="rect">
            <a:avLst/>
          </a:prstGeom>
          <a:solidFill>
            <a:srgbClr val="067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26480" y="2743200"/>
            <a:ext cx="18288" cy="36576"/>
          </a:xfrm>
          <a:prstGeom prst="rect">
            <a:avLst/>
          </a:prstGeom>
          <a:solidFill>
            <a:srgbClr val="06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44768" y="2743200"/>
            <a:ext cx="18288" cy="36576"/>
          </a:xfrm>
          <a:prstGeom prst="rect">
            <a:avLst/>
          </a:prstGeom>
          <a:solidFill>
            <a:srgbClr val="067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63056" y="2743200"/>
            <a:ext cx="18288" cy="36576"/>
          </a:xfrm>
          <a:prstGeom prst="rect">
            <a:avLst/>
          </a:prstGeom>
          <a:solidFill>
            <a:srgbClr val="058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81344" y="2743200"/>
            <a:ext cx="18288" cy="36576"/>
          </a:xfrm>
          <a:prstGeom prst="rect">
            <a:avLst/>
          </a:prstGeom>
          <a:solidFill>
            <a:srgbClr val="058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199632" y="2743200"/>
            <a:ext cx="18288" cy="36576"/>
          </a:xfrm>
          <a:prstGeom prst="rect">
            <a:avLst/>
          </a:prstGeom>
          <a:solidFill>
            <a:srgbClr val="058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217920" y="2743200"/>
            <a:ext cx="18288" cy="36576"/>
          </a:xfrm>
          <a:prstGeom prst="rect">
            <a:avLst/>
          </a:prstGeom>
          <a:solidFill>
            <a:srgbClr val="058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36208" y="2743200"/>
            <a:ext cx="18288" cy="36576"/>
          </a:xfrm>
          <a:prstGeom prst="rect">
            <a:avLst/>
          </a:prstGeom>
          <a:solidFill>
            <a:srgbClr val="058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54496" y="2743200"/>
            <a:ext cx="18288" cy="36576"/>
          </a:xfrm>
          <a:prstGeom prst="rect">
            <a:avLst/>
          </a:prstGeom>
          <a:solidFill>
            <a:srgbClr val="058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72784" y="2743200"/>
            <a:ext cx="18288" cy="36576"/>
          </a:xfrm>
          <a:prstGeom prst="rect">
            <a:avLst/>
          </a:prstGeom>
          <a:solidFill>
            <a:srgbClr val="058C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91072" y="2743200"/>
            <a:ext cx="18288" cy="36576"/>
          </a:xfrm>
          <a:prstGeom prst="rect">
            <a:avLst/>
          </a:prstGeom>
          <a:solidFill>
            <a:srgbClr val="05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09360" y="2743200"/>
            <a:ext cx="18288" cy="36576"/>
          </a:xfrm>
          <a:prstGeom prst="rect">
            <a:avLst/>
          </a:prstGeom>
          <a:solidFill>
            <a:srgbClr val="059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27648" y="2743200"/>
            <a:ext cx="18288" cy="36576"/>
          </a:xfrm>
          <a:prstGeom prst="rect">
            <a:avLst/>
          </a:prstGeom>
          <a:solidFill>
            <a:srgbClr val="049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345936" y="2743200"/>
            <a:ext cx="18288" cy="36576"/>
          </a:xfrm>
          <a:prstGeom prst="rect">
            <a:avLst/>
          </a:prstGeom>
          <a:solidFill>
            <a:srgbClr val="049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64224" y="2743200"/>
            <a:ext cx="18288" cy="36576"/>
          </a:xfrm>
          <a:prstGeom prst="rect">
            <a:avLst/>
          </a:prstGeom>
          <a:solidFill>
            <a:srgbClr val="049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382512" y="2743200"/>
            <a:ext cx="18288" cy="36576"/>
          </a:xfrm>
          <a:prstGeom prst="rect">
            <a:avLst/>
          </a:prstGeom>
          <a:solidFill>
            <a:srgbClr val="049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400800" y="2743200"/>
            <a:ext cx="18288" cy="36576"/>
          </a:xfrm>
          <a:prstGeom prst="rect">
            <a:avLst/>
          </a:prstGeom>
          <a:solidFill>
            <a:srgbClr val="049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419088" y="2743200"/>
            <a:ext cx="18288" cy="36576"/>
          </a:xfrm>
          <a:prstGeom prst="rect">
            <a:avLst/>
          </a:prstGeom>
          <a:solidFill>
            <a:srgbClr val="049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437376" y="2743200"/>
            <a:ext cx="18288" cy="36576"/>
          </a:xfrm>
          <a:prstGeom prst="rect">
            <a:avLst/>
          </a:prstGeom>
          <a:solidFill>
            <a:srgbClr val="049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455664" y="2743200"/>
            <a:ext cx="18288" cy="36576"/>
          </a:xfrm>
          <a:prstGeom prst="rect">
            <a:avLst/>
          </a:prstGeom>
          <a:solidFill>
            <a:srgbClr val="049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473952" y="2743200"/>
            <a:ext cx="18288" cy="36576"/>
          </a:xfrm>
          <a:prstGeom prst="rect">
            <a:avLst/>
          </a:prstGeom>
          <a:solidFill>
            <a:srgbClr val="04A1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492240" y="2743200"/>
            <a:ext cx="18288" cy="36576"/>
          </a:xfrm>
          <a:prstGeom prst="rect">
            <a:avLst/>
          </a:prstGeom>
          <a:solidFill>
            <a:srgbClr val="03A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510528" y="2743200"/>
            <a:ext cx="18288" cy="36576"/>
          </a:xfrm>
          <a:prstGeom prst="rect">
            <a:avLst/>
          </a:prstGeom>
          <a:solidFill>
            <a:srgbClr val="03A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528816" y="2743200"/>
            <a:ext cx="18288" cy="36576"/>
          </a:xfrm>
          <a:prstGeom prst="rect">
            <a:avLst/>
          </a:prstGeom>
          <a:solidFill>
            <a:srgbClr val="03A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547104" y="2743200"/>
            <a:ext cx="18288" cy="36576"/>
          </a:xfrm>
          <a:prstGeom prst="rect">
            <a:avLst/>
          </a:prstGeom>
          <a:solidFill>
            <a:srgbClr val="03A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565392" y="2743200"/>
            <a:ext cx="18288" cy="36576"/>
          </a:xfrm>
          <a:prstGeom prst="rect">
            <a:avLst/>
          </a:prstGeom>
          <a:solidFill>
            <a:srgbClr val="03A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583680" y="2743200"/>
            <a:ext cx="18288" cy="36576"/>
          </a:xfrm>
          <a:prstGeom prst="rect">
            <a:avLst/>
          </a:prstGeom>
          <a:solidFill>
            <a:srgbClr val="03A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601968" y="2743200"/>
            <a:ext cx="18288" cy="36576"/>
          </a:xfrm>
          <a:prstGeom prst="rect">
            <a:avLst/>
          </a:prstGeom>
          <a:solidFill>
            <a:srgbClr val="03A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620256" y="2743200"/>
            <a:ext cx="18288" cy="36576"/>
          </a:xfrm>
          <a:prstGeom prst="rect">
            <a:avLst/>
          </a:prstGeom>
          <a:solidFill>
            <a:srgbClr val="03B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638544" y="2743200"/>
            <a:ext cx="18288" cy="36576"/>
          </a:xfrm>
          <a:prstGeom prst="rect">
            <a:avLst/>
          </a:prstGeom>
          <a:solidFill>
            <a:srgbClr val="03B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656832" y="2743200"/>
            <a:ext cx="18288" cy="36576"/>
          </a:xfrm>
          <a:prstGeom prst="rect">
            <a:avLst/>
          </a:prstGeom>
          <a:solidFill>
            <a:srgbClr val="02B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675120" y="2743200"/>
            <a:ext cx="18288" cy="36576"/>
          </a:xfrm>
          <a:prstGeom prst="rect">
            <a:avLst/>
          </a:prstGeom>
          <a:solidFill>
            <a:srgbClr val="02B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693408" y="2743200"/>
            <a:ext cx="18288" cy="36576"/>
          </a:xfrm>
          <a:prstGeom prst="rect">
            <a:avLst/>
          </a:prstGeom>
          <a:solidFill>
            <a:srgbClr val="02B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711696" y="2743200"/>
            <a:ext cx="18288" cy="36576"/>
          </a:xfrm>
          <a:prstGeom prst="rect">
            <a:avLst/>
          </a:prstGeom>
          <a:solidFill>
            <a:srgbClr val="02B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729984" y="2743200"/>
            <a:ext cx="18288" cy="36576"/>
          </a:xfrm>
          <a:prstGeom prst="rect">
            <a:avLst/>
          </a:prstGeom>
          <a:solidFill>
            <a:srgbClr val="02B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748272" y="2743200"/>
            <a:ext cx="18288" cy="36576"/>
          </a:xfrm>
          <a:prstGeom prst="rect">
            <a:avLst/>
          </a:prstGeom>
          <a:solidFill>
            <a:srgbClr val="02B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766560" y="2743200"/>
            <a:ext cx="18288" cy="36576"/>
          </a:xfrm>
          <a:prstGeom prst="rect">
            <a:avLst/>
          </a:prstGeom>
          <a:solidFill>
            <a:srgbClr val="02B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784848" y="2743200"/>
            <a:ext cx="18288" cy="36576"/>
          </a:xfrm>
          <a:prstGeom prst="rect">
            <a:avLst/>
          </a:prstGeom>
          <a:solidFill>
            <a:srgbClr val="02C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803136" y="2743200"/>
            <a:ext cx="18288" cy="36576"/>
          </a:xfrm>
          <a:prstGeom prst="rect">
            <a:avLst/>
          </a:prstGeom>
          <a:solidFill>
            <a:srgbClr val="02C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821424" y="2743200"/>
            <a:ext cx="18288" cy="36576"/>
          </a:xfrm>
          <a:prstGeom prst="rect">
            <a:avLst/>
          </a:prstGeom>
          <a:solidFill>
            <a:srgbClr val="01C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839712" y="2743200"/>
            <a:ext cx="18288" cy="36576"/>
          </a:xfrm>
          <a:prstGeom prst="rect">
            <a:avLst/>
          </a:prstGeom>
          <a:solidFill>
            <a:srgbClr val="01C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858000" y="2743200"/>
            <a:ext cx="18288" cy="36576"/>
          </a:xfrm>
          <a:prstGeom prst="rect">
            <a:avLst/>
          </a:prstGeom>
          <a:solidFill>
            <a:srgbClr val="01C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876288" y="2743200"/>
            <a:ext cx="18288" cy="36576"/>
          </a:xfrm>
          <a:prstGeom prst="rect">
            <a:avLst/>
          </a:prstGeom>
          <a:solidFill>
            <a:srgbClr val="01CA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894576" y="2743200"/>
            <a:ext cx="18288" cy="36576"/>
          </a:xfrm>
          <a:prstGeom prst="rect">
            <a:avLst/>
          </a:prstGeom>
          <a:solidFill>
            <a:srgbClr val="01C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912864" y="2743200"/>
            <a:ext cx="18288" cy="36576"/>
          </a:xfrm>
          <a:prstGeom prst="rect">
            <a:avLst/>
          </a:prstGeom>
          <a:solidFill>
            <a:srgbClr val="01C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931152" y="2743200"/>
            <a:ext cx="18288" cy="36576"/>
          </a:xfrm>
          <a:prstGeom prst="rect">
            <a:avLst/>
          </a:prstGeom>
          <a:solidFill>
            <a:srgbClr val="01D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949440" y="2743200"/>
            <a:ext cx="18288" cy="36576"/>
          </a:xfrm>
          <a:prstGeom prst="rect">
            <a:avLst/>
          </a:prstGeom>
          <a:solidFill>
            <a:srgbClr val="01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967728" y="2743200"/>
            <a:ext cx="18288" cy="36576"/>
          </a:xfrm>
          <a:prstGeom prst="rect">
            <a:avLst/>
          </a:prstGeom>
          <a:solidFill>
            <a:srgbClr val="01D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986016" y="2743200"/>
            <a:ext cx="18288" cy="36576"/>
          </a:xfrm>
          <a:prstGeom prst="rect">
            <a:avLst/>
          </a:prstGeom>
          <a:solidFill>
            <a:srgbClr val="00D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004304" y="2743200"/>
            <a:ext cx="18288" cy="36576"/>
          </a:xfrm>
          <a:prstGeom prst="rect">
            <a:avLst/>
          </a:prstGeom>
          <a:solidFill>
            <a:srgbClr val="00D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022592" y="2743200"/>
            <a:ext cx="18288" cy="36576"/>
          </a:xfrm>
          <a:prstGeom prst="rect">
            <a:avLst/>
          </a:prstGeom>
          <a:solidFill>
            <a:srgbClr val="00D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7040880" y="2743200"/>
            <a:ext cx="18288" cy="36576"/>
          </a:xfrm>
          <a:prstGeom prst="rect">
            <a:avLst/>
          </a:prstGeom>
          <a:solidFill>
            <a:srgbClr val="00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059168" y="2743200"/>
            <a:ext cx="18288" cy="36576"/>
          </a:xfrm>
          <a:prstGeom prst="rect">
            <a:avLst/>
          </a:prstGeom>
          <a:solidFill>
            <a:srgbClr val="00D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7077456" y="2743200"/>
            <a:ext cx="18288" cy="36576"/>
          </a:xfrm>
          <a:prstGeom prst="rect">
            <a:avLst/>
          </a:prstGeom>
          <a:solidFill>
            <a:srgbClr val="00D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095744" y="2743200"/>
            <a:ext cx="18288" cy="36576"/>
          </a:xfrm>
          <a:prstGeom prst="rect">
            <a:avLst/>
          </a:prstGeom>
          <a:solidFill>
            <a:srgbClr val="00E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114032" y="2743200"/>
            <a:ext cx="18288" cy="36576"/>
          </a:xfrm>
          <a:prstGeom prst="rect">
            <a:avLst/>
          </a:prstGeom>
          <a:solidFill>
            <a:srgbClr val="00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E5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C0"/>
                </a:solidFill>
                <a:latin typeface="Calibri"/>
              </a:defRPr>
            </a:pPr>
            <a:r>
              <a:t>Phoenix — Drone Search &amp; Rescue System</a:t>
            </a:r>
            <a:br/>
            <a:r>
              <a:t>Project ResQer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0" y="6217920"/>
            <a:ext cx="12191695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14400" y="6309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80"/>
                </a:solidFill>
                <a:latin typeface="Calibri"/>
              </a:defRPr>
            </a:pPr>
            <a:r>
              <a:t>Mahmoud Dahy  |  github.com/mahmoud-dahy  |  Computer Engineering - Graduation Project 2025/2026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80"/>
                </a:solidFill>
                <a:latin typeface="Calibri"/>
              </a:defRPr>
            </a:pPr>
            <a:r>
              <a:t>24/24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