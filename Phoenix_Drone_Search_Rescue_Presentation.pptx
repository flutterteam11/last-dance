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EEF4FA"/>
                </a:solidFill>
                <a:latin typeface="Aptos"/>
              </a:rPr>
              <a:t>Phoenix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9572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2AC4FF"/>
                </a:solidFill>
                <a:latin typeface="Aptos"/>
              </a:rPr>
              <a:t>Drone Search &amp; Rescue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54680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A2B0C2"/>
                </a:solidFill>
                <a:latin typeface="Aptos"/>
              </a:rPr>
              <a:t>Real-time ground control station for AI-assisted drone missions.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60520"/>
            <a:ext cx="4297680" cy="73152"/>
          </a:xfrm>
          <a:prstGeom prst="rect">
            <a:avLst/>
          </a:prstGeom>
          <a:solidFill>
            <a:srgbClr val="FF5757"/>
          </a:solidFill>
          <a:ln>
            <a:solidFill>
              <a:srgbClr val="FF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2B0C2"/>
                </a:solidFill>
                <a:latin typeface="Aptos"/>
              </a:rPr>
              <a:t>Phoenix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EF4FA"/>
                </a:solidFill>
                <a:latin typeface="Aptos"/>
              </a:rPr>
              <a:t>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133856"/>
            <a:ext cx="1097280" cy="45720"/>
          </a:xfrm>
          <a:prstGeom prst="rect">
            <a:avLst/>
          </a:prstGeom>
          <a:solidFill>
            <a:srgbClr val="2AC4FF"/>
          </a:solidFill>
          <a:ln>
            <a:solidFill>
              <a:srgbClr val="2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A2B0C2"/>
                </a:solidFill>
              </a:defRPr>
            </a:pPr>
            <a:r>
              <a:t>في حالات الكوارث والبحث والإنقاذ، فرق الإنقاذ بتواجه 3 مشاكل أساسية: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صعوبة الوصول السريع للأماكن الخطرة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ضعف الرؤية الميدانية واتخاذ القرار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تأخير اكتشاف الضحايا أو نقاط الحرارة المهمة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2B0C2"/>
                </a:solidFill>
                <a:latin typeface="Aptos"/>
              </a:rPr>
              <a:t>Phoenix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EF4FA"/>
                </a:solidFill>
                <a:latin typeface="Aptos"/>
              </a:rPr>
              <a:t>Main Goal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133856"/>
            <a:ext cx="1097280" cy="45720"/>
          </a:xfrm>
          <a:prstGeom prst="rect">
            <a:avLst/>
          </a:prstGeom>
          <a:solidFill>
            <a:srgbClr val="2AC4FF"/>
          </a:solidFill>
          <a:ln>
            <a:solidFill>
              <a:srgbClr val="2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A2B0C2"/>
                </a:solidFill>
              </a:defRPr>
            </a:pPr>
            <a:r>
              <a:t>بناء نظام عملي يساعد فريق الإنقاذ على: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متابعة موقع الدرون Live على الخريطة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مشاهدة Video Feed لحظي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عرض AI detections فوق الفيديو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مراقبة Telemetry مثل البطارية والسرعة والارتفاع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إرسال أوامر للدرون من واجهة الموبايل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2B0C2"/>
                </a:solidFill>
                <a:latin typeface="Aptos"/>
              </a:rPr>
              <a:t>Phoenix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EF4FA"/>
                </a:solidFill>
                <a:latin typeface="Aptos"/>
              </a:rPr>
              <a:t>High-Level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133856"/>
            <a:ext cx="1097280" cy="45720"/>
          </a:xfrm>
          <a:prstGeom prst="rect">
            <a:avLst/>
          </a:prstGeom>
          <a:solidFill>
            <a:srgbClr val="2AC4FF"/>
          </a:solidFill>
          <a:ln>
            <a:solidFill>
              <a:srgbClr val="2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AC4FF"/>
                </a:solidFill>
                <a:latin typeface="Cascadia Mono"/>
              </a:defRPr>
            </a:pPr>
            <a:r>
              <a:t>Raspberry Pi Drone</a:t>
            </a:r>
            <a:br/>
            <a:r>
              <a:t>  | GPS + Telemetry -&gt; Firebase</a:t>
            </a:r>
            <a:br/>
            <a:r>
              <a:t>  | Video Frames    -&gt; TCP</a:t>
            </a:r>
            <a:br/>
            <a:r>
              <a:t>  v</a:t>
            </a:r>
            <a:br/>
            <a:r>
              <a:t>Laptop Server (FastAPI)</a:t>
            </a:r>
            <a:br/>
            <a:r>
              <a:t>  | AI Processing</a:t>
            </a:r>
            <a:br/>
            <a:r>
              <a:t>  | WebSocket Broadcast</a:t>
            </a:r>
            <a:br/>
            <a:r>
              <a:t>  v</a:t>
            </a:r>
            <a:br/>
            <a:r>
              <a:t>Flutter App</a:t>
            </a:r>
            <a:br/>
            <a:r>
              <a:t>  | Live Video + Map +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2B0C2"/>
                </a:solidFill>
                <a:latin typeface="Aptos"/>
              </a:rPr>
              <a:t>Phoenix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EF4FA"/>
                </a:solidFill>
                <a:latin typeface="Aptos"/>
              </a:rPr>
              <a:t>Hardware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133856"/>
            <a:ext cx="1097280" cy="45720"/>
          </a:xfrm>
          <a:prstGeom prst="rect">
            <a:avLst/>
          </a:prstGeom>
          <a:solidFill>
            <a:srgbClr val="2AC4FF"/>
          </a:solidFill>
          <a:ln>
            <a:solidFill>
              <a:srgbClr val="2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A2B0C2"/>
                </a:solidFill>
              </a:defRPr>
            </a:pPr>
            <a:r>
              <a:t>دور الـ Raspberry Pi على الدرون: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قراءة GPS location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إرسال Telemetry مثل battery, height, speed, temperature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التقاط video frames من الكاميرا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إرسال الفيديو للـ laptop server عبر TCP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2B0C2"/>
                </a:solidFill>
                <a:latin typeface="Aptos"/>
              </a:rPr>
              <a:t>Phoenix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EF4FA"/>
                </a:solidFill>
                <a:latin typeface="Aptos"/>
              </a:rPr>
              <a:t>Backend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133856"/>
            <a:ext cx="1097280" cy="45720"/>
          </a:xfrm>
          <a:prstGeom prst="rect">
            <a:avLst/>
          </a:prstGeom>
          <a:solidFill>
            <a:srgbClr val="2AC4FF"/>
          </a:solidFill>
          <a:ln>
            <a:solidFill>
              <a:srgbClr val="2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A2B0C2"/>
                </a:solidFill>
              </a:defRPr>
            </a:pPr>
            <a:r>
              <a:t>الـ laptop server مبني بـ FastAPI ويعمل كـ middleware: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يستقبل frames من الدرون عبر TCP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يشغل AI detection pipeline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يبث الفيديو للـ app عبر WebSocket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يبث detection JSON منفصل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يستقبل commands من الموبايل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2B0C2"/>
                </a:solidFill>
                <a:latin typeface="Aptos"/>
              </a:rPr>
              <a:t>Phoenix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EF4FA"/>
                </a:solidFill>
                <a:latin typeface="Aptos"/>
              </a:rPr>
              <a:t>Server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133856"/>
            <a:ext cx="1097280" cy="45720"/>
          </a:xfrm>
          <a:prstGeom prst="rect">
            <a:avLst/>
          </a:prstGeom>
          <a:solidFill>
            <a:srgbClr val="2AC4FF"/>
          </a:solidFill>
          <a:ln>
            <a:solidFill>
              <a:srgbClr val="2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AC4FF"/>
                </a:solidFill>
                <a:latin typeface="Cascadia Mono"/>
              </a:defRPr>
            </a:pPr>
            <a:r>
              <a:t>TCP Receiver</a:t>
            </a:r>
            <a:br/>
            <a:r>
              <a:t>  -&gt; Frame Queue</a:t>
            </a:r>
            <a:br/>
            <a:r>
              <a:t>  -&gt; Resize / Preprocess</a:t>
            </a:r>
            <a:br/>
            <a:r>
              <a:t>  -&gt; AI Detector</a:t>
            </a:r>
            <a:br/>
            <a:r>
              <a:t>  -&gt; Draw Bounding Boxes</a:t>
            </a:r>
            <a:br/>
            <a:r>
              <a:t>  -&gt; JPEG Encode</a:t>
            </a:r>
            <a:br/>
            <a:r>
              <a:t>  -&gt; WebSocket Broadcast</a:t>
            </a:r>
          </a:p>
          <a:p>
            <a:pPr>
              <a:spcAft>
                <a:spcPts val="800"/>
              </a:spcAft>
              <a:defRPr sz="2100">
                <a:solidFill>
                  <a:srgbClr val="A2B0C2"/>
                </a:solidFill>
              </a:defRPr>
            </a:pPr>
            <a:r>
              <a:t>النظام يستخدم queues لتقليل blocking وتحسين التعامل مع real-time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2B0C2"/>
                </a:solidFill>
                <a:latin typeface="Aptos"/>
              </a:rPr>
              <a:t>Phoenix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EF4FA"/>
                </a:solidFill>
                <a:latin typeface="Aptos"/>
              </a:rPr>
              <a:t>AI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133856"/>
            <a:ext cx="1097280" cy="45720"/>
          </a:xfrm>
          <a:prstGeom prst="rect">
            <a:avLst/>
          </a:prstGeom>
          <a:solidFill>
            <a:srgbClr val="2AC4FF"/>
          </a:solidFill>
          <a:ln>
            <a:solidFill>
              <a:srgbClr val="2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A2B0C2"/>
                </a:solidFill>
              </a:defRPr>
            </a:pPr>
            <a:r>
              <a:t>طبقة الـ AI مصممة لتدعم: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YOLO-based human detection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Bounding boxes + confidence score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Thermal analysis placeholder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Dummy detector fallback أثناء التطوير</a:t>
            </a:r>
          </a:p>
          <a:p>
            <a:pPr>
              <a:spcAft>
                <a:spcPts val="800"/>
              </a:spcAft>
              <a:defRPr sz="2100">
                <a:solidFill>
                  <a:srgbClr val="A2B0C2"/>
                </a:solidFill>
              </a:defRPr>
            </a:pPr>
            <a:r>
              <a:t>هذا يجعل النظام قابل للتشغيل حتى قبل تسليم موديل الـ AI النهائي.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2B0C2"/>
                </a:solidFill>
                <a:latin typeface="Aptos"/>
              </a:rPr>
              <a:t>Phoenix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EF4FA"/>
                </a:solidFill>
                <a:latin typeface="Aptos"/>
              </a:rPr>
              <a:t>Real-Time Channels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133856"/>
            <a:ext cx="1097280" cy="45720"/>
          </a:xfrm>
          <a:prstGeom prst="rect">
            <a:avLst/>
          </a:prstGeom>
          <a:solidFill>
            <a:srgbClr val="2AC4FF"/>
          </a:solidFill>
          <a:ln>
            <a:solidFill>
              <a:srgbClr val="2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A2B0C2"/>
                </a:solidFill>
              </a:defRPr>
            </a:pPr>
            <a:r>
              <a:t>استخدمنا WebSocket channels منفصلة: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/ws/video لإرسال JPEG frames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/ws/detections لإرسال detection JSON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/ws/commands لاستقبال أوامر التحكم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/health لمراقبة حالة السيرفر</a:t>
            </a:r>
          </a:p>
          <a:p>
            <a:pPr>
              <a:spcAft>
                <a:spcPts val="800"/>
              </a:spcAft>
              <a:defRPr sz="2100">
                <a:solidFill>
                  <a:srgbClr val="A2B0C2"/>
                </a:solidFill>
              </a:defRPr>
            </a:pPr>
            <a:r>
              <a:t>فصل القنوات يجعل debugging والتوسع أسهل.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2B0C2"/>
                </a:solidFill>
                <a:latin typeface="Aptos"/>
              </a:rPr>
              <a:t>Phoenix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EF4FA"/>
                </a:solidFill>
                <a:latin typeface="Aptos"/>
              </a:rPr>
              <a:t>Mobile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133856"/>
            <a:ext cx="1097280" cy="45720"/>
          </a:xfrm>
          <a:prstGeom prst="rect">
            <a:avLst/>
          </a:prstGeom>
          <a:solidFill>
            <a:srgbClr val="2AC4FF"/>
          </a:solidFill>
          <a:ln>
            <a:solidFill>
              <a:srgbClr val="2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A2B0C2"/>
                </a:solidFill>
              </a:defRPr>
            </a:pPr>
            <a:r>
              <a:t>تطبيق Flutter هو واجهة التحكم الأساسية: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Dashboard للمتابعة السريعة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Live video preview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Fullscreen video mode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Map tracking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Reports and alerts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Mission actions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Authentication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2B0C2"/>
                </a:solidFill>
                <a:latin typeface="Aptos"/>
              </a:rPr>
              <a:t>Phoenix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EF4FA"/>
                </a:solidFill>
                <a:latin typeface="Aptos"/>
              </a:rPr>
              <a:t>Flutter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133856"/>
            <a:ext cx="1097280" cy="45720"/>
          </a:xfrm>
          <a:prstGeom prst="rect">
            <a:avLst/>
          </a:prstGeom>
          <a:solidFill>
            <a:srgbClr val="2AC4FF"/>
          </a:solidFill>
          <a:ln>
            <a:solidFill>
              <a:srgbClr val="2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A2B0C2"/>
                </a:solidFill>
              </a:defRPr>
            </a:pPr>
            <a:r>
              <a:t>استخدمنا Feature-First Clean Architecture:</a:t>
            </a:r>
          </a:p>
          <a:p>
            <a:pPr>
              <a:defRPr sz="1500">
                <a:solidFill>
                  <a:srgbClr val="2AC4FF"/>
                </a:solidFill>
                <a:latin typeface="Cascadia Mono"/>
              </a:defRPr>
            </a:pPr>
            <a:r>
              <a:t>lib/</a:t>
            </a:r>
            <a:br/>
            <a:r>
              <a:t>  core/</a:t>
            </a:r>
            <a:br/>
            <a:r>
              <a:t>    di, router, theme, websocket, utils</a:t>
            </a:r>
            <a:br/>
            <a:r>
              <a:t>  features/</a:t>
            </a:r>
            <a:br/>
            <a:r>
              <a:t>    auth/</a:t>
            </a:r>
            <a:br/>
            <a:r>
              <a:t>    drone/</a:t>
            </a:r>
            <a:br/>
            <a:r>
              <a:t>    onboarding/</a:t>
            </a:r>
            <a:br/>
            <a:r>
              <a:t>    splash/</a:t>
            </a:r>
          </a:p>
          <a:p>
            <a:pPr>
              <a:spcAft>
                <a:spcPts val="800"/>
              </a:spcAft>
              <a:defRPr sz="2100">
                <a:solidFill>
                  <a:srgbClr val="A2B0C2"/>
                </a:solidFill>
              </a:defRPr>
            </a:pPr>
            <a:r>
              <a:t>كل feature مقسمة إلى data, domain, presentation.</a:t>
            </a:r>
          </a:p>
          <a:p>
            <a:pPr>
              <a:spcAft>
                <a:spcPts val="800"/>
              </a:spcAft>
              <a:defRPr sz="2100">
                <a:solidFill>
                  <a:srgbClr val="A2B0C2"/>
                </a:solidFill>
              </a:defRPr>
            </a:pPr>
            <a:r>
              <a:t>إدارة الحالة مبنية على BLoC / Cubit: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DroneTrackingCubit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DroneStatusCubit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VideoFeedCubit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AuthCubit</a:t>
            </a:r>
          </a:p>
          <a:p>
            <a:pPr>
              <a:spcAft>
                <a:spcPts val="800"/>
              </a:spcAft>
              <a:defRPr sz="2100">
                <a:solidFill>
                  <a:srgbClr val="A2B0C2"/>
                </a:solidFill>
              </a:defRPr>
            </a:pPr>
            <a:r>
              <a:t>هذا فصل الـ UI عن business logic وخلى التطبيق أسهل في الاختبار والتعديل.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2B0C2"/>
                </a:solidFill>
                <a:latin typeface="Aptos"/>
              </a:rPr>
              <a:t>Phoenix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EF4FA"/>
                </a:solidFill>
                <a:latin typeface="Aptos"/>
              </a:rPr>
              <a:t>Firebase Usage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133856"/>
            <a:ext cx="1097280" cy="45720"/>
          </a:xfrm>
          <a:prstGeom prst="rect">
            <a:avLst/>
          </a:prstGeom>
          <a:solidFill>
            <a:srgbClr val="2AC4FF"/>
          </a:solidFill>
          <a:ln>
            <a:solidFill>
              <a:srgbClr val="2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A2B0C2"/>
                </a:solidFill>
              </a:defRPr>
            </a:pPr>
            <a:r>
              <a:t>Firebase مستخدم في: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Authentication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Firestore live location stream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Drone status stream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Reports stream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User document management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Commands backup path</a:t>
            </a:r>
          </a:p>
          <a:p>
            <a:pPr>
              <a:spcAft>
                <a:spcPts val="800"/>
              </a:spcAft>
              <a:defRPr sz="2100">
                <a:solidFill>
                  <a:srgbClr val="A2B0C2"/>
                </a:solidFill>
              </a:defRPr>
            </a:pPr>
            <a:r>
              <a:t>الـ app يستقبل تحديثات Firestore مباشرة باستخدام snapshots.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2B0C2"/>
                </a:solidFill>
                <a:latin typeface="Aptos"/>
              </a:rPr>
              <a:t>Phoenix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EF4FA"/>
                </a:solidFill>
                <a:latin typeface="Aptos"/>
              </a:rPr>
              <a:t>Live Map Tracking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133856"/>
            <a:ext cx="1097280" cy="45720"/>
          </a:xfrm>
          <a:prstGeom prst="rect">
            <a:avLst/>
          </a:prstGeom>
          <a:solidFill>
            <a:srgbClr val="2AC4FF"/>
          </a:solidFill>
          <a:ln>
            <a:solidFill>
              <a:srgbClr val="2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A2B0C2"/>
                </a:solidFill>
              </a:defRPr>
            </a:pPr>
            <a:r>
              <a:t>الخريطة مبنية بـ: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flutter_map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OpenStreetMap tiles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latlong2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Path history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Disconnect timer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Last known location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2B0C2"/>
                </a:solidFill>
                <a:latin typeface="Aptos"/>
              </a:rPr>
              <a:t>Phoenix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EF4FA"/>
                </a:solidFill>
                <a:latin typeface="Aptos"/>
              </a:rPr>
              <a:t>Video &amp; Detection UI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133856"/>
            <a:ext cx="1097280" cy="45720"/>
          </a:xfrm>
          <a:prstGeom prst="rect">
            <a:avLst/>
          </a:prstGeom>
          <a:solidFill>
            <a:srgbClr val="2AC4FF"/>
          </a:solidFill>
          <a:ln>
            <a:solidFill>
              <a:srgbClr val="2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A2B0C2"/>
                </a:solidFill>
              </a:defRPr>
            </a:pPr>
            <a:r>
              <a:t>الـ video system يدعم: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Normal mode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Thermal mode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AI overlay mode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Fullscreen immersive mode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Real-time detection boxes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HUD-style rescue interface</a:t>
            </a:r>
          </a:p>
          <a:p>
            <a:pPr>
              <a:spcAft>
                <a:spcPts val="800"/>
              </a:spcAft>
              <a:defRPr sz="2100">
                <a:solidFill>
                  <a:srgbClr val="A2B0C2"/>
                </a:solidFill>
              </a:defRPr>
            </a:pPr>
            <a:r>
              <a:t>الـ frame يأتي كـ bytes من WebSocket ويتعرض داخل Flutter.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2B0C2"/>
                </a:solidFill>
                <a:latin typeface="Aptos"/>
              </a:rPr>
              <a:t>Phoenix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EF4FA"/>
                </a:solidFill>
                <a:latin typeface="Aptos"/>
              </a:rPr>
              <a:t>Drone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133856"/>
            <a:ext cx="1097280" cy="45720"/>
          </a:xfrm>
          <a:prstGeom prst="rect">
            <a:avLst/>
          </a:prstGeom>
          <a:solidFill>
            <a:srgbClr val="2AC4FF"/>
          </a:solidFill>
          <a:ln>
            <a:solidFill>
              <a:srgbClr val="2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A2B0C2"/>
                </a:solidFill>
              </a:defRPr>
            </a:pPr>
            <a:r>
              <a:t>واجهة التحكم تشمل: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Virtual joystick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Movement commands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Start mission command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Stop/neutral command عند ترك joystick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قابلية إضافة Land / Return commands</a:t>
            </a:r>
          </a:p>
          <a:p>
            <a:pPr>
              <a:spcAft>
                <a:spcPts val="800"/>
              </a:spcAft>
              <a:defRPr sz="2100">
                <a:solidFill>
                  <a:srgbClr val="A2B0C2"/>
                </a:solidFill>
              </a:defRPr>
            </a:pPr>
            <a:r>
              <a:t>الأوامر تُرسل من Flutter إلى server عبر WebSocket.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2B0C2"/>
                </a:solidFill>
                <a:latin typeface="Aptos"/>
              </a:rPr>
              <a:t>Phoenix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EF4FA"/>
                </a:solidFill>
                <a:latin typeface="Aptos"/>
              </a:rPr>
              <a:t>Reports &amp; Alerts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133856"/>
            <a:ext cx="1097280" cy="45720"/>
          </a:xfrm>
          <a:prstGeom prst="rect">
            <a:avLst/>
          </a:prstGeom>
          <a:solidFill>
            <a:srgbClr val="2AC4FF"/>
          </a:solidFill>
          <a:ln>
            <a:solidFill>
              <a:srgbClr val="2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A2B0C2"/>
                </a:solidFill>
              </a:defRPr>
            </a:pPr>
            <a:r>
              <a:t>النظام يعرض تقارير لحظية مثل: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Human detected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Heat signature detected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System overheated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Mission complete</a:t>
            </a:r>
          </a:p>
          <a:p>
            <a:pPr>
              <a:spcAft>
                <a:spcPts val="800"/>
              </a:spcAft>
              <a:defRPr sz="2100">
                <a:solidFill>
                  <a:srgbClr val="A2B0C2"/>
                </a:solidFill>
              </a:defRPr>
            </a:pPr>
            <a:r>
              <a:t>التقارير تساعد فريق الإنقاذ يراجع الأحداث بدون متابعة الفيديو طوال الوقت.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2B0C2"/>
                </a:solidFill>
                <a:latin typeface="Aptos"/>
              </a:rPr>
              <a:t>Phoenix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EF4FA"/>
                </a:solidFill>
                <a:latin typeface="Aptos"/>
              </a:rPr>
              <a:t>Authentication &amp; UX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133856"/>
            <a:ext cx="1097280" cy="45720"/>
          </a:xfrm>
          <a:prstGeom prst="rect">
            <a:avLst/>
          </a:prstGeom>
          <a:solidFill>
            <a:srgbClr val="2AC4FF"/>
          </a:solidFill>
          <a:ln>
            <a:solidFill>
              <a:srgbClr val="2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A2B0C2"/>
                </a:solidFill>
              </a:defRPr>
            </a:pPr>
            <a:r>
              <a:t>تجربة المستخدم تشمل: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Splash screen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Onboarding flow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Email/password sign up and sign in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Google sign in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Password reset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OTP/new password screens</a:t>
            </a:r>
          </a:p>
          <a:p>
            <a:pPr>
              <a:spcAft>
                <a:spcPts val="800"/>
              </a:spcAft>
              <a:defRPr sz="2100">
                <a:solidFill>
                  <a:srgbClr val="A2B0C2"/>
                </a:solidFill>
              </a:defRPr>
            </a:pPr>
            <a:r>
              <a:t>الواجهة Dark-first ومناسبة للاستخدام الميداني.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2B0C2"/>
                </a:solidFill>
                <a:latin typeface="Aptos"/>
              </a:rPr>
              <a:t>Phoenix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EF4FA"/>
                </a:solidFill>
                <a:latin typeface="Aptos"/>
              </a:rP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133856"/>
            <a:ext cx="1097280" cy="45720"/>
          </a:xfrm>
          <a:prstGeom prst="rect">
            <a:avLst/>
          </a:prstGeom>
          <a:solidFill>
            <a:srgbClr val="2AC4FF"/>
          </a:solidFill>
          <a:ln>
            <a:solidFill>
              <a:srgbClr val="2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EF4FA"/>
                </a:solidFill>
              </a:defRPr>
            </a:pPr>
            <a:r>
              <a:t>Key technologies and responsibilities are grouped by 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2B0C2"/>
                </a:solidFill>
                <a:latin typeface="Aptos"/>
              </a:rPr>
              <a:t>Phoenix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EF4FA"/>
                </a:solidFill>
                <a:latin typeface="Aptos"/>
              </a:rPr>
              <a:t>What Is Completed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133856"/>
            <a:ext cx="1097280" cy="45720"/>
          </a:xfrm>
          <a:prstGeom prst="rect">
            <a:avLst/>
          </a:prstGeom>
          <a:solidFill>
            <a:srgbClr val="2AC4FF"/>
          </a:solidFill>
          <a:ln>
            <a:solidFill>
              <a:srgbClr val="2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EF4FA"/>
                </a:solidFill>
              </a:defRPr>
            </a:pPr>
            <a:r>
              <a:t>Flutter app structure and UI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Auth flow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Firebase location/status/reports streams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Map tracking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FastAPI server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TCP video receiver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WebSocket video/detection/command channels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Flutter WebSocket client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AI overlay integration path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Virtual joystick command sending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2B0C2"/>
                </a:solidFill>
                <a:latin typeface="Aptos"/>
              </a:rPr>
              <a:t>Phoenix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EF4FA"/>
                </a:solidFill>
                <a:latin typeface="Aptos"/>
              </a:rPr>
              <a:t>Current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133856"/>
            <a:ext cx="1097280" cy="45720"/>
          </a:xfrm>
          <a:prstGeom prst="rect">
            <a:avLst/>
          </a:prstGeom>
          <a:solidFill>
            <a:srgbClr val="2AC4FF"/>
          </a:solidFill>
          <a:ln>
            <a:solidFill>
              <a:srgbClr val="2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EF4FA"/>
                </a:solidFill>
              </a:defRPr>
            </a:pPr>
            <a:r>
              <a:t>Real drone hardware integration depends on Raspberry Pi final scripts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Final AI model needs to replace the dummy fallback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PLAN MISSION button still needs final workflow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Full end-to-end test requires hardware, server, and phone on the same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2B0C2"/>
                </a:solidFill>
                <a:latin typeface="Aptos"/>
              </a:rPr>
              <a:t>Phoenix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EF4FA"/>
                </a:solidFill>
                <a:latin typeface="Aptos"/>
              </a:rPr>
              <a:t>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133856"/>
            <a:ext cx="1097280" cy="45720"/>
          </a:xfrm>
          <a:prstGeom prst="rect">
            <a:avLst/>
          </a:prstGeom>
          <a:solidFill>
            <a:srgbClr val="2AC4FF"/>
          </a:solidFill>
          <a:ln>
            <a:solidFill>
              <a:srgbClr val="2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EF4FA"/>
                </a:solidFill>
              </a:defRPr>
            </a:pPr>
            <a:r>
              <a:t>User signs in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App opens drone dashboard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Server receives video frames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App displays live feed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AI overlay shows detections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Map tracks drone GPS location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User opens fullscreen video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Joystick sends control commands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Integrate final YOLO model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Add real Raspberry Pi video sender script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Complete mission planning workflow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Add command acknowledgement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Add recording and mission history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Improve offline/reconnect handling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Add role-based access for rescue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2B0C2"/>
                </a:solidFill>
                <a:latin typeface="Aptos"/>
              </a:rPr>
              <a:t>Phoenix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EF4FA"/>
                </a:solidFill>
                <a:latin typeface="Aptos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133856"/>
            <a:ext cx="1097280" cy="45720"/>
          </a:xfrm>
          <a:prstGeom prst="rect">
            <a:avLst/>
          </a:prstGeom>
          <a:solidFill>
            <a:srgbClr val="2AC4FF"/>
          </a:solidFill>
          <a:ln>
            <a:solidFill>
              <a:srgbClr val="2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A2B0C2"/>
                </a:solidFill>
              </a:defRPr>
            </a:pPr>
            <a:r>
              <a:t>Phoenix يقدم prototype متكامل لنظام إنقاذ ذكي: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Real-time tracking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Live video streaming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AI-assisted detection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Field-friendly mobile interface</a:t>
            </a:r>
          </a:p>
          <a:p>
            <a:pPr>
              <a:defRPr sz="2200">
                <a:solidFill>
                  <a:srgbClr val="EEF4FA"/>
                </a:solidFill>
              </a:defRPr>
            </a:pPr>
            <a:r>
              <a:t>Scalable architecture ready for full hardware integration</a:t>
            </a:r>
          </a:p>
          <a:p>
            <a:pPr>
              <a:spcAft>
                <a:spcPts val="800"/>
              </a:spcAft>
              <a:defRPr sz="2100">
                <a:solidFill>
                  <a:srgbClr val="A2B0C2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2B0C2"/>
                </a:solidFill>
                <a:latin typeface="Aptos"/>
              </a:rPr>
              <a:t>Phoenix |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